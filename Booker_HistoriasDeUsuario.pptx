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E40A607-BA0A-4EDC-AC31-FC809AD8D179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285982-F0D8-4A16-BF50-3F070CE625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EFCCCF-D3A3-4446-A746-3F922D5830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83A889-75AD-4693-A3D5-E3C7ED4B48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3E9C6-A480-417B-94E3-02CB021200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BE7628-28DB-4415-8E3A-44EAC525BF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D8DC90-CB05-4ACD-A00F-5F94B199A9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BCB21-3977-45C8-B13B-6131BC1B46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730DE-9010-46E9-A7C1-A74D82D7E2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65760" y="3657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8EB4D8"/>
                </a:solidFill>
                <a:effectLst/>
                <a:uFillTx/>
                <a:latin typeface="Calibri"/>
              </a:rPr>
              <a:t>PROYECTO BOOKER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65760" y="914400"/>
            <a:ext cx="841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Historias de Usuario</a:t>
            </a:r>
            <a:endParaRPr lang="es-MX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65760" y="22402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¿Qué son y cómo las aplicamos en nuestro sistema?</a:t>
            </a:r>
            <a:endParaRPr lang="es-MX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365760" y="3017520"/>
            <a:ext cx="4114440" cy="36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32004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Jerónimo Salinas  ·  Miguel Castañeda  ·  Paulina Garzón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Gabriel Labrador  ·  Cristian Román  ·  Hartur Parra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65760" y="4480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132320" y="457200"/>
            <a:ext cx="2285640" cy="228564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498080" y="1005840"/>
            <a:ext cx="1554120" cy="1554120"/>
          </a:xfrm>
          <a:prstGeom prst="ellipse">
            <a:avLst/>
          </a:prstGeom>
          <a:solidFill>
            <a:srgbClr val="2E86C1">
              <a:alpha val="45000"/>
            </a:srgbClr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FFFFF"/>
                </a:solidFill>
                <a:effectLst/>
                <a:uFillTx/>
                <a:latin typeface="Calibri"/>
              </a:rPr>
              <a:t>CONTENIDO DE LA PRESENTACIÓN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274320" y="123444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274320" y="123444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274320" y="1463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68680" y="13258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¿Qué es una Historia de Usuario?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68680" y="18014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Jerónimo Salinas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274320" y="24231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274320" y="242316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27432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68680" y="251460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Estructura y formato estándar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868680" y="29901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Miguel Castañeda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274320" y="361188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274320" y="361188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274320" y="3840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868680" y="37033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Criterios de Aceptación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868680" y="417888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Paulina Garzón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4754880" y="123444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4754880" y="123444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4754880" y="1463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5349240" y="13258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Historias aplicadas en Booker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349240" y="18014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Gabriel Labrador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4754880" y="24231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754880" y="242316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475488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5349240" y="251460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Priorización de Historias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5349240" y="29901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Cristian Román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4754880" y="361188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4754880" y="3611880"/>
            <a:ext cx="502560" cy="1005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4754880" y="3840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5349240" y="37033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Conclusiones y próximos pasos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5349240" y="417888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Hartur Parra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  |  ¿Qué es una Historia de Usuario?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274320" y="1143000"/>
            <a:ext cx="8595000" cy="123408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274320" y="1143000"/>
            <a:ext cx="109440" cy="1234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48640" y="1234440"/>
            <a:ext cx="8137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Una historia de usuario es una descripción breve de una funcionalidad del sistema,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escrita desde la perspectiva del usuario que la va a usar.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274320" y="2606040"/>
            <a:ext cx="274284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274320" y="27432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👤</a:t>
            </a:r>
            <a:endParaRPr lang="es-MX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11480" y="33375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Centrada en el usuario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11480" y="382212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Siempre parte de quién la necesita, no de la tecnología.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3246120" y="2606040"/>
            <a:ext cx="274284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3246120" y="27432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s-MX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3383280" y="33375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Orientada al objetivo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3383280" y="382212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Explica para qué sirve, no solo qué hace el sistema.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6217920" y="2606040"/>
            <a:ext cx="274284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6217920" y="27432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</a:t>
            </a:r>
            <a:endParaRPr lang="es-MX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6355080" y="33375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Verificable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6355080" y="382212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Incluye criterios de aceptación medibles y concretos.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  |  Estructura y Formato Estándar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274320" y="1143000"/>
            <a:ext cx="8595000" cy="776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457200" y="12160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Como </a:t>
            </a:r>
            <a:r>
              <a:rPr lang="en-US" sz="1600" b="1" u="none" strike="noStrike">
                <a:solidFill>
                  <a:srgbClr val="F9E79F"/>
                </a:solidFill>
                <a:effectLst/>
                <a:uFillTx/>
                <a:latin typeface="Calibri"/>
              </a:rPr>
              <a:t>[tipo de usuario]</a:t>
            </a:r>
            <a:r>
              <a:rPr lang="en-US" sz="16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, quiero </a:t>
            </a:r>
            <a:r>
              <a:rPr lang="en-US" sz="1600" b="1" u="none" strike="noStrike">
                <a:solidFill>
                  <a:srgbClr val="ABEBC6"/>
                </a:solidFill>
                <a:effectLst/>
                <a:uFillTx/>
                <a:latin typeface="Calibri"/>
              </a:rPr>
              <a:t>[acción]</a:t>
            </a:r>
            <a:r>
              <a:rPr lang="en-US" sz="16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, para </a:t>
            </a:r>
            <a:r>
              <a:rPr lang="en-US" sz="1600" b="1" u="none" strike="noStrike">
                <a:solidFill>
                  <a:srgbClr val="F1948A"/>
                </a:solidFill>
                <a:effectLst/>
                <a:uFillTx/>
                <a:latin typeface="Calibri"/>
              </a:rPr>
              <a:t>[beneficio]</a:t>
            </a:r>
            <a:r>
              <a:rPr lang="en-US" sz="16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274320" y="2148840"/>
            <a:ext cx="1599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274320" y="2148840"/>
            <a:ext cx="1599840" cy="548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274320" y="2176200"/>
            <a:ext cx="159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365760" y="2834640"/>
            <a:ext cx="1416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Código único · Ej: HU-01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1993320" y="2148840"/>
            <a:ext cx="1599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1993320" y="2148840"/>
            <a:ext cx="1599840" cy="5482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1993320" y="2176200"/>
            <a:ext cx="159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Título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2084760" y="2834640"/>
            <a:ext cx="1416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Nombre corto que identifica la historia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3712320" y="2148840"/>
            <a:ext cx="1599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3712320" y="2148840"/>
            <a:ext cx="1599840" cy="548280"/>
          </a:xfrm>
          <a:prstGeom prst="rect">
            <a:avLst/>
          </a:prstGeom>
          <a:solidFill>
            <a:srgbClr val="6E2F5E"/>
          </a:solidFill>
          <a:ln w="12700">
            <a:solidFill>
              <a:srgbClr val="6E2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3712320" y="2176200"/>
            <a:ext cx="159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Descripción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3803760" y="2834640"/>
            <a:ext cx="1416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La frase en el formato estándar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>
            <a:off x="5431680" y="2148840"/>
            <a:ext cx="1599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5431680" y="2148840"/>
            <a:ext cx="1599840" cy="548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431680" y="2176200"/>
            <a:ext cx="159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Criterios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5523120" y="2834640"/>
            <a:ext cx="1416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Condiciones para considerar la historia terminada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7150680" y="2148840"/>
            <a:ext cx="1599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1"/>
          <p:cNvSpPr/>
          <p:nvPr/>
        </p:nvSpPr>
        <p:spPr>
          <a:xfrm>
            <a:off x="7150680" y="2148840"/>
            <a:ext cx="1599840" cy="5482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7150680" y="2176200"/>
            <a:ext cx="159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Prioridad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7242120" y="2834640"/>
            <a:ext cx="1416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Alta / Media / Baja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  |  Criterios de Aceptación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365760" y="109728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Son las condiciones mínimas que deben cumplirse para considerar una historia de usuario terminada.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274320" y="1645920"/>
            <a:ext cx="38401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274320" y="1645920"/>
            <a:ext cx="3840120" cy="5025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411480" y="17006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HU-01  |  Inicio de sesión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11480" y="224028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bibliotecario</a:t>
            </a:r>
            <a:r>
              <a:rPr lang="en-US" sz="12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2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iniciar sesión</a:t>
            </a:r>
            <a:r>
              <a:rPr lang="en-US" sz="12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 con usuario y contraseña, para </a:t>
            </a:r>
            <a:r>
              <a:rPr lang="en-US" sz="12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acceder al sistema según mi rol.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274320" y="3154680"/>
            <a:ext cx="3840120" cy="3636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411480" y="3246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Criterios de Aceptación: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411480" y="3584520"/>
            <a:ext cx="3565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 Valida usuario y contraseña correctos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 Muestra error si los datos son incorrectos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 Redirige al panel según el rol del usuario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 Bloquea acceso tras 3 intentos fallidos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4572000" y="1691640"/>
            <a:ext cx="429732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4663440" y="182880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🚫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5166360" y="17647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Sin criterios = historia incompleta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166360" y="2112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El equipo no sabe cuándo termina.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4572000" y="2715840"/>
            <a:ext cx="429732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4663440" y="285300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📏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5166360" y="27889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Deben ser medibles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5166360" y="31363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Evita términos vagos como 'rápido' o 'fácil'.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4572000" y="3740040"/>
            <a:ext cx="429732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4663440" y="387720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🤝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5166360" y="3813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Acordados con el cliente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5166360" y="41605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El cliente valida que cubren su necesidad.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  |  Historias Aplicadas en Booker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228600" y="114300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228600" y="1143000"/>
            <a:ext cx="685440" cy="1142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228600" y="150876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HU-01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1005840" y="134424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1A5276"/>
                </a:solidFill>
                <a:effectLst/>
                <a:uFillTx/>
                <a:latin typeface="Calibri"/>
              </a:rPr>
              <a:t>Bibliotecario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iniciar sesión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acceder según mi rol.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4709160" y="114300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4709160" y="1143000"/>
            <a:ext cx="685440" cy="11426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4709160" y="150876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HU-02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5486400" y="134424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145A32"/>
                </a:solidFill>
                <a:effectLst/>
                <a:uFillTx/>
                <a:latin typeface="Calibri"/>
              </a:rPr>
              <a:t>Bibliotecario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registrar un préstamo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controlar libros prestados.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228600" y="246888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228600" y="2468880"/>
            <a:ext cx="685440" cy="1142640"/>
          </a:xfrm>
          <a:prstGeom prst="rect">
            <a:avLst/>
          </a:prstGeom>
          <a:solidFill>
            <a:srgbClr val="6E2F5E"/>
          </a:solidFill>
          <a:ln w="12700">
            <a:solidFill>
              <a:srgbClr val="6E2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228600" y="283464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HU-03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1005840" y="267012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6E2F5E"/>
                </a:solidFill>
                <a:effectLst/>
                <a:uFillTx/>
                <a:latin typeface="Calibri"/>
              </a:rPr>
              <a:t>Estudiante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consultar disponibilidad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saber si puedo pedir el libro.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4709160" y="246888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4709160" y="2468880"/>
            <a:ext cx="685440" cy="114264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4709160" y="283464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HU-04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5486400" y="267012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7D6608"/>
                </a:solidFill>
                <a:effectLst/>
                <a:uFillTx/>
                <a:latin typeface="Calibri"/>
              </a:rPr>
              <a:t>Bibliotecario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registrar devolución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actualizar el inventario.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8"/>
          <p:cNvSpPr/>
          <p:nvPr/>
        </p:nvSpPr>
        <p:spPr>
          <a:xfrm>
            <a:off x="228600" y="379476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9"/>
          <p:cNvSpPr/>
          <p:nvPr/>
        </p:nvSpPr>
        <p:spPr>
          <a:xfrm>
            <a:off x="228600" y="3794760"/>
            <a:ext cx="685440" cy="11426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228600" y="416052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HU-05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1005840" y="399600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7B241C"/>
                </a:solidFill>
                <a:effectLst/>
                <a:uFillTx/>
                <a:latin typeface="Calibri"/>
              </a:rPr>
              <a:t>Administrador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generar reportes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revisar el uso de la biblioteca.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2"/>
          <p:cNvSpPr/>
          <p:nvPr/>
        </p:nvSpPr>
        <p:spPr>
          <a:xfrm>
            <a:off x="4709160" y="3794760"/>
            <a:ext cx="42058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3"/>
          <p:cNvSpPr/>
          <p:nvPr/>
        </p:nvSpPr>
        <p:spPr>
          <a:xfrm>
            <a:off x="4709160" y="3794760"/>
            <a:ext cx="685440" cy="1142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4709160" y="4160520"/>
            <a:ext cx="68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HU-06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5486400" y="399600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Como </a:t>
            </a:r>
            <a:r>
              <a:rPr lang="en-US" sz="1100" b="1" u="none" strike="noStrike">
                <a:solidFill>
                  <a:srgbClr val="1A5276"/>
                </a:solidFill>
                <a:effectLst/>
                <a:uFillTx/>
                <a:latin typeface="Calibri"/>
              </a:rPr>
              <a:t>Secretario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quiero </a:t>
            </a: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registrar un nuevo libro</a:t>
            </a: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, para </a:t>
            </a:r>
            <a:r>
              <a:rPr lang="en-US" sz="1100" b="1" u="none" strike="noStrike">
                <a:solidFill>
                  <a:srgbClr val="922B21"/>
                </a:solidFill>
                <a:effectLst/>
                <a:uFillTx/>
                <a:latin typeface="Calibri"/>
              </a:rPr>
              <a:t>mantener el catálogo actualizado.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6576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  |  Priorización de Historias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228600" y="1143000"/>
            <a:ext cx="639720" cy="411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274320" y="11887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868680" y="1143000"/>
            <a:ext cx="3291480" cy="411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914400" y="11887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Historia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4160520" y="1143000"/>
            <a:ext cx="1645560" cy="411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4206240" y="11887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Actor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5806440" y="1143000"/>
            <a:ext cx="1279800" cy="411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5852160" y="11887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Prioridad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7086600" y="1143000"/>
            <a:ext cx="1371240" cy="411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7132320" y="118872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Estado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228600" y="1554480"/>
            <a:ext cx="63972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274320" y="159120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HU-01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868680" y="1554480"/>
            <a:ext cx="329148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914400" y="15912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Inicio de sesión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4160520" y="1554480"/>
            <a:ext cx="164556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4206240" y="159120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Bibliotecario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5806440" y="1554480"/>
            <a:ext cx="127980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5852160" y="159120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Alta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7086600" y="1554480"/>
            <a:ext cx="137124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7132320" y="159120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228600" y="2057400"/>
            <a:ext cx="63972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274320" y="209412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HU-02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4"/>
          <p:cNvSpPr/>
          <p:nvPr/>
        </p:nvSpPr>
        <p:spPr>
          <a:xfrm>
            <a:off x="868680" y="2057400"/>
            <a:ext cx="329148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914400" y="20941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Registrar préstamo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6"/>
          <p:cNvSpPr/>
          <p:nvPr/>
        </p:nvSpPr>
        <p:spPr>
          <a:xfrm>
            <a:off x="4160520" y="2057400"/>
            <a:ext cx="164556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7"/>
          <p:cNvSpPr/>
          <p:nvPr/>
        </p:nvSpPr>
        <p:spPr>
          <a:xfrm>
            <a:off x="4206240" y="209412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Bibliotecario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8"/>
          <p:cNvSpPr/>
          <p:nvPr/>
        </p:nvSpPr>
        <p:spPr>
          <a:xfrm>
            <a:off x="5806440" y="2057400"/>
            <a:ext cx="127980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5852160" y="209412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Alta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0"/>
          <p:cNvSpPr/>
          <p:nvPr/>
        </p:nvSpPr>
        <p:spPr>
          <a:xfrm>
            <a:off x="7086600" y="2057400"/>
            <a:ext cx="137124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1"/>
          <p:cNvSpPr/>
          <p:nvPr/>
        </p:nvSpPr>
        <p:spPr>
          <a:xfrm>
            <a:off x="7132320" y="209412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2"/>
          <p:cNvSpPr/>
          <p:nvPr/>
        </p:nvSpPr>
        <p:spPr>
          <a:xfrm>
            <a:off x="228600" y="2560320"/>
            <a:ext cx="63972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274320" y="259704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HU-03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4"/>
          <p:cNvSpPr/>
          <p:nvPr/>
        </p:nvSpPr>
        <p:spPr>
          <a:xfrm>
            <a:off x="868680" y="2560320"/>
            <a:ext cx="329148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914400" y="2597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Consultar disponibilidad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6"/>
          <p:cNvSpPr/>
          <p:nvPr/>
        </p:nvSpPr>
        <p:spPr>
          <a:xfrm>
            <a:off x="4160520" y="2560320"/>
            <a:ext cx="164556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7"/>
          <p:cNvSpPr/>
          <p:nvPr/>
        </p:nvSpPr>
        <p:spPr>
          <a:xfrm>
            <a:off x="4206240" y="259704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Estudiante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8"/>
          <p:cNvSpPr/>
          <p:nvPr/>
        </p:nvSpPr>
        <p:spPr>
          <a:xfrm>
            <a:off x="5806440" y="2560320"/>
            <a:ext cx="127980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9"/>
          <p:cNvSpPr/>
          <p:nvPr/>
        </p:nvSpPr>
        <p:spPr>
          <a:xfrm>
            <a:off x="5852160" y="259704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Alta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0"/>
          <p:cNvSpPr/>
          <p:nvPr/>
        </p:nvSpPr>
        <p:spPr>
          <a:xfrm>
            <a:off x="7086600" y="2560320"/>
            <a:ext cx="137124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1"/>
          <p:cNvSpPr/>
          <p:nvPr/>
        </p:nvSpPr>
        <p:spPr>
          <a:xfrm>
            <a:off x="7132320" y="259704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2"/>
          <p:cNvSpPr/>
          <p:nvPr/>
        </p:nvSpPr>
        <p:spPr>
          <a:xfrm>
            <a:off x="228600" y="3063240"/>
            <a:ext cx="63972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3"/>
          <p:cNvSpPr/>
          <p:nvPr/>
        </p:nvSpPr>
        <p:spPr>
          <a:xfrm>
            <a:off x="274320" y="309996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HU-04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4"/>
          <p:cNvSpPr/>
          <p:nvPr/>
        </p:nvSpPr>
        <p:spPr>
          <a:xfrm>
            <a:off x="868680" y="3063240"/>
            <a:ext cx="329148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5"/>
          <p:cNvSpPr/>
          <p:nvPr/>
        </p:nvSpPr>
        <p:spPr>
          <a:xfrm>
            <a:off x="914400" y="309996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Registrar devolución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6"/>
          <p:cNvSpPr/>
          <p:nvPr/>
        </p:nvSpPr>
        <p:spPr>
          <a:xfrm>
            <a:off x="4160520" y="3063240"/>
            <a:ext cx="164556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7"/>
          <p:cNvSpPr/>
          <p:nvPr/>
        </p:nvSpPr>
        <p:spPr>
          <a:xfrm>
            <a:off x="4206240" y="309996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Bibliotecario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8"/>
          <p:cNvSpPr/>
          <p:nvPr/>
        </p:nvSpPr>
        <p:spPr>
          <a:xfrm>
            <a:off x="5806440" y="3063240"/>
            <a:ext cx="127980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9"/>
          <p:cNvSpPr/>
          <p:nvPr/>
        </p:nvSpPr>
        <p:spPr>
          <a:xfrm>
            <a:off x="5852160" y="309996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Alta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0"/>
          <p:cNvSpPr/>
          <p:nvPr/>
        </p:nvSpPr>
        <p:spPr>
          <a:xfrm>
            <a:off x="7086600" y="3063240"/>
            <a:ext cx="137124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1"/>
          <p:cNvSpPr/>
          <p:nvPr/>
        </p:nvSpPr>
        <p:spPr>
          <a:xfrm>
            <a:off x="7132320" y="30999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2"/>
          <p:cNvSpPr/>
          <p:nvPr/>
        </p:nvSpPr>
        <p:spPr>
          <a:xfrm>
            <a:off x="228600" y="3566160"/>
            <a:ext cx="63972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3"/>
          <p:cNvSpPr/>
          <p:nvPr/>
        </p:nvSpPr>
        <p:spPr>
          <a:xfrm>
            <a:off x="274320" y="360288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HU-05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4"/>
          <p:cNvSpPr/>
          <p:nvPr/>
        </p:nvSpPr>
        <p:spPr>
          <a:xfrm>
            <a:off x="868680" y="3566160"/>
            <a:ext cx="329148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5"/>
          <p:cNvSpPr/>
          <p:nvPr/>
        </p:nvSpPr>
        <p:spPr>
          <a:xfrm>
            <a:off x="914400" y="360288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Generar reportes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6"/>
          <p:cNvSpPr/>
          <p:nvPr/>
        </p:nvSpPr>
        <p:spPr>
          <a:xfrm>
            <a:off x="4160520" y="3566160"/>
            <a:ext cx="164556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7"/>
          <p:cNvSpPr/>
          <p:nvPr/>
        </p:nvSpPr>
        <p:spPr>
          <a:xfrm>
            <a:off x="4206240" y="36028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Administrador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8"/>
          <p:cNvSpPr/>
          <p:nvPr/>
        </p:nvSpPr>
        <p:spPr>
          <a:xfrm>
            <a:off x="5806440" y="3566160"/>
            <a:ext cx="127980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9"/>
          <p:cNvSpPr/>
          <p:nvPr/>
        </p:nvSpPr>
        <p:spPr>
          <a:xfrm>
            <a:off x="5852160" y="360288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4AC0D"/>
                </a:solidFill>
                <a:effectLst/>
                <a:uFillTx/>
                <a:latin typeface="Calibri"/>
              </a:rPr>
              <a:t>Media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0"/>
          <p:cNvSpPr/>
          <p:nvPr/>
        </p:nvSpPr>
        <p:spPr>
          <a:xfrm>
            <a:off x="7086600" y="3566160"/>
            <a:ext cx="1371240" cy="475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1"/>
          <p:cNvSpPr/>
          <p:nvPr/>
        </p:nvSpPr>
        <p:spPr>
          <a:xfrm>
            <a:off x="7132320" y="360288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62"/>
          <p:cNvSpPr/>
          <p:nvPr/>
        </p:nvSpPr>
        <p:spPr>
          <a:xfrm>
            <a:off x="228600" y="4069080"/>
            <a:ext cx="63972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3"/>
          <p:cNvSpPr/>
          <p:nvPr/>
        </p:nvSpPr>
        <p:spPr>
          <a:xfrm>
            <a:off x="274320" y="410580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HU-06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4"/>
          <p:cNvSpPr/>
          <p:nvPr/>
        </p:nvSpPr>
        <p:spPr>
          <a:xfrm>
            <a:off x="868680" y="4069080"/>
            <a:ext cx="329148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5"/>
          <p:cNvSpPr/>
          <p:nvPr/>
        </p:nvSpPr>
        <p:spPr>
          <a:xfrm>
            <a:off x="914400" y="41058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Registrar nuevo libro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6"/>
          <p:cNvSpPr/>
          <p:nvPr/>
        </p:nvSpPr>
        <p:spPr>
          <a:xfrm>
            <a:off x="4160520" y="4069080"/>
            <a:ext cx="164556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7"/>
          <p:cNvSpPr/>
          <p:nvPr/>
        </p:nvSpPr>
        <p:spPr>
          <a:xfrm>
            <a:off x="4206240" y="410580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Secretario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8"/>
          <p:cNvSpPr/>
          <p:nvPr/>
        </p:nvSpPr>
        <p:spPr>
          <a:xfrm>
            <a:off x="5806440" y="4069080"/>
            <a:ext cx="127980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9"/>
          <p:cNvSpPr/>
          <p:nvPr/>
        </p:nvSpPr>
        <p:spPr>
          <a:xfrm>
            <a:off x="5852160" y="410580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4AC0D"/>
                </a:solidFill>
                <a:effectLst/>
                <a:uFillTx/>
                <a:latin typeface="Calibri"/>
              </a:rPr>
              <a:t>Media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0"/>
          <p:cNvSpPr/>
          <p:nvPr/>
        </p:nvSpPr>
        <p:spPr>
          <a:xfrm>
            <a:off x="7086600" y="4069080"/>
            <a:ext cx="1371240" cy="475200"/>
          </a:xfrm>
          <a:prstGeom prst="rect">
            <a:avLst/>
          </a:prstGeom>
          <a:solidFill>
            <a:srgbClr val="EBF5FB"/>
          </a:solidFill>
          <a:ln w="6350">
            <a:solidFill>
              <a:srgbClr val="D5DB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1"/>
          <p:cNvSpPr/>
          <p:nvPr/>
        </p:nvSpPr>
        <p:spPr>
          <a:xfrm>
            <a:off x="7132320" y="410580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52F"/>
                </a:solidFill>
                <a:effectLst/>
                <a:uFillTx/>
                <a:latin typeface="Calibri"/>
              </a:rPr>
              <a:t>✔ Definida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36576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EB4D8"/>
                </a:solidFill>
                <a:effectLst/>
                <a:uFillTx/>
                <a:latin typeface="Calibri"/>
              </a:rPr>
              <a:t>06  |  Conclusiones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365760" y="7772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 Próximos Pasos</a:t>
            </a:r>
            <a:endParaRPr lang="es-MX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365760" y="1783080"/>
            <a:ext cx="347040" cy="347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365760" y="1810440"/>
            <a:ext cx="347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868680" y="180144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Las historias de usuario nos centran en el valor para el usuario, no solo en la tecnología.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365760" y="2560320"/>
            <a:ext cx="347040" cy="347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365760" y="2587680"/>
            <a:ext cx="347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868680" y="257868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Identificamos 6 historias clave que cubren los módulos principales de Booker.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365760" y="3337560"/>
            <a:ext cx="347040" cy="347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365760" y="3364920"/>
            <a:ext cx="347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868680" y="33559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Los criterios de aceptación guiarán las pruebas y la validación del sistema.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365760" y="4114800"/>
            <a:ext cx="347040" cy="347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365760" y="4142160"/>
            <a:ext cx="347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868680" y="413316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AF8"/>
                </a:solidFill>
                <a:effectLst/>
                <a:uFillTx/>
                <a:latin typeface="Calibri"/>
              </a:rPr>
              <a:t>El siguiente paso es trasladar cada historia a tareas técnicas y casos de uso.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365760" y="4663440"/>
            <a:ext cx="8412120" cy="36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365760" y="475488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Proyecto Booker  ·  2026  ·  Gestión de Biblioteca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LibreOffice_project/7d74455cffae7a589951233f185ae0303c082020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2026-05-18T15:19:14Z</dcterms:created>
  <dc:creator>PptxGenJS</dc:creator>
  <dc:description/>
  <dc:language>es-MX</dc:language>
  <cp:lastModifiedBy/>
  <dcterms:modified xsi:type="dcterms:W3CDTF">2026-05-18T10:30:09Z</dcterms:modified>
  <cp:revision>2</cp:revision>
  <dc:subject>PptxGenJS Presentation</dc:subject>
  <dc:title>Historias de Usuario - Booker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