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Arranquen con energía. Esta es la portada — denle un momento para que la audiencia la lea. Digan: 'BOOKER es el proyecto que desarrollamos para resolver un problema real: la desorganización en la gestión de bibliotecas.' Pausa dramática, luego avancen.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Cuenten la historia del problema. Pueden preguntar a la audiencia: '¿Alguno ha ido a una biblioteca y le han dicho que no saben si el libro está disponible?' Eso es exactamente lo que queríamos resolver. Los cuatro problemas son reales, sacados directamente del Acta de Constitución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muestran cómo el sistema responde directamente a cada uno de los problemas. El objetivo está en el Acta de Constitución. Los tres pilares son las funcionalidades core del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Muestren la interfaz en vivo si pueden. Si no, expliquen cada zona. El sidebar siempre visible en desktop. La navbar tiene búsqueda en tiempo real. El carrusel automatizado cada 6 segundos. Las tarjetas de libros tienen indicador de disponibilidad en verde/gris.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cada funcionalidad, si tienen la demo lista, ábranlala en vivo. La búsqueda inteligente y el carrito son las más impresionantes para mostrar. El panel de admin muestra el flujo de aprobación/rechazo de solicitudes.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modo admin se activa desde el menú lateral. Solo el personal autorizado puede acceder. El flujo de aprobación es uno de los puntos más fuertes: el admin ve qué usuario pide qué libro, y con un click cambia el estado del libro a Prestado en todo el sistema.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Destaquen que el proyecto tuvo roles bien definidos desde el inicio. La matriz muestra quién toma decisiones (alta influencia/alto interés) vs quién simplemente usa el sistema. Esto refleja las buenas prácticas de gestión de proyectos que aprendieron en SENA.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alcance bien definido fue clave para cumplir en 10 semanas. Lo que está 'fuera del alcance' no es un fallo — es una decisión estratégica de entregar algo funcional primero. Las versiones futuras pueden agregar reservas, notificaciones por email,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toasts desaparecen solos después de 4 segundos. Hay 4 tipos: éxito, aviso, favorito y compra. El Local Storage significa que el admin puede agregar libros, cerrar el navegador, volver al día siguiente y todo sigue ahí. Sin backend requerido en esta versión.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RF dicen QUÉ hace el sistema. Los RNF dicen CÓMO lo hace bien — rendimiento, seguridad, usabilidad. Ambos son necesarios para considerar el sistema completo. Mencionen que todos los RF-01 a RF-05 ya están implementados en la versión web actual.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cronograma fue cumplido. Destaquen que en solo 10 semanas lograron un sistema funcional completo. La fase de desarrollo fue la más intensa (3 semanas), pero la planificación previa lo hizo posible.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cierre. Si tienen la demo lista en el navegador, este es el momento de mostrarla en vivo. Digan: 'BOOKER nació de un problema real y se convirtió en una solución real. Gracias.' Y abran preguntas con confianza — ustedes construyeron esto, lo conocen.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5303520" y="-1645920"/>
            <a:ext cx="6400800" cy="6400800"/>
          </a:xfrm>
          <a:prstGeom prst="ellipse">
            <a:avLst/>
          </a:prstGeom>
          <a:solidFill>
            <a:srgbClr val="C9A96E">
              <a:alpha val="12000"/>
            </a:srgbClr>
          </a:solidFill>
          <a:ln/>
        </p:spPr>
      </p:sp>
      <p:sp>
        <p:nvSpPr>
          <p:cNvPr id="3" name="Shape 1"/>
          <p:cNvSpPr/>
          <p:nvPr/>
        </p:nvSpPr>
        <p:spPr>
          <a:xfrm>
            <a:off x="-1828800" y="2286000"/>
            <a:ext cx="4572000" cy="4572000"/>
          </a:xfrm>
          <a:prstGeom prst="ellipse">
            <a:avLst/>
          </a:prstGeom>
          <a:solidFill>
            <a:srgbClr val="2EC4B6">
              <a:alpha val="9000"/>
            </a:srgbClr>
          </a:solidFill>
          <a:ln/>
        </p:spPr>
      </p:sp>
      <p:sp>
        <p:nvSpPr>
          <p:cNvPr id="4" name="Shape 2"/>
          <p:cNvSpPr/>
          <p:nvPr/>
        </p:nvSpPr>
        <p:spPr>
          <a:xfrm>
            <a:off x="0" y="2423160"/>
            <a:ext cx="9144000" cy="41148"/>
          </a:xfrm>
          <a:prstGeom prst="rect">
            <a:avLst/>
          </a:prstGeom>
          <a:solidFill>
            <a:srgbClr val="C9A96E">
              <a:alpha val="45000"/>
            </a:srgbClr>
          </a:solidFill>
          <a:ln/>
        </p:spPr>
      </p:sp>
      <p:pic>
        <p:nvPicPr>
          <p:cNvPr id="5" name="Image 0" descr="preencoded.png">    </p:cNvPr>
          <p:cNvPicPr>
            <a:picLocks noChangeAspect="1"/>
          </p:cNvPicPr>
          <p:nvPr/>
        </p:nvPicPr>
        <p:blipFill>
          <a:blip r:embed="rId1"/>
          <a:stretch>
            <a:fillRect/>
          </a:stretch>
        </p:blipFill>
        <p:spPr>
          <a:xfrm>
            <a:off x="502920" y="960120"/>
            <a:ext cx="777240" cy="777240"/>
          </a:xfrm>
          <a:prstGeom prst="rect">
            <a:avLst/>
          </a:prstGeom>
        </p:spPr>
      </p:pic>
      <p:sp>
        <p:nvSpPr>
          <p:cNvPr id="6" name="Text 3"/>
          <p:cNvSpPr/>
          <p:nvPr/>
        </p:nvSpPr>
        <p:spPr>
          <a:xfrm>
            <a:off x="1417320" y="822960"/>
            <a:ext cx="6858000" cy="914400"/>
          </a:xfrm>
          <a:prstGeom prst="rect">
            <a:avLst/>
          </a:prstGeom>
          <a:noFill/>
          <a:ln/>
        </p:spPr>
        <p:txBody>
          <a:bodyPr wrap="square" lIns="0" tIns="0" rIns="0" bIns="0" rtlCol="0" anchor="ctr"/>
          <a:lstStyle/>
          <a:p>
            <a:pPr indent="0" marL="0">
              <a:buNone/>
            </a:pPr>
            <a:r>
              <a:rPr lang="en-US" sz="6000" b="1" spc="800" kern="0" dirty="0">
                <a:solidFill>
                  <a:srgbClr val="C9A96E"/>
                </a:solidFill>
                <a:latin typeface="Cambria" pitchFamily="34" charset="0"/>
                <a:ea typeface="Cambria" pitchFamily="34" charset="-122"/>
                <a:cs typeface="Cambria" pitchFamily="34" charset="-120"/>
              </a:rPr>
              <a:t>BOOKER</a:t>
            </a:r>
            <a:endParaRPr lang="en-US" sz="6000" dirty="0"/>
          </a:p>
        </p:txBody>
      </p:sp>
      <p:sp>
        <p:nvSpPr>
          <p:cNvPr id="7" name="Text 4"/>
          <p:cNvSpPr/>
          <p:nvPr/>
        </p:nvSpPr>
        <p:spPr>
          <a:xfrm>
            <a:off x="502920" y="1783080"/>
            <a:ext cx="7772400" cy="502920"/>
          </a:xfrm>
          <a:prstGeom prst="rect">
            <a:avLst/>
          </a:prstGeom>
          <a:noFill/>
          <a:ln/>
        </p:spPr>
        <p:txBody>
          <a:bodyPr wrap="square" lIns="0" tIns="0" rIns="0" bIns="0" rtlCol="0" anchor="ctr"/>
          <a:lstStyle/>
          <a:p>
            <a:pPr indent="0" marL="0">
              <a:buNone/>
            </a:pPr>
            <a:r>
              <a:rPr lang="en-US" sz="1600" dirty="0">
                <a:solidFill>
                  <a:srgbClr val="F5ECD7"/>
                </a:solidFill>
                <a:latin typeface="Calibri" pitchFamily="34" charset="0"/>
                <a:ea typeface="Calibri" pitchFamily="34" charset="-122"/>
                <a:cs typeface="Calibri" pitchFamily="34" charset="-120"/>
              </a:rPr>
              <a:t>Biblioteca Web — Sistema de Gestión Inteligente</a:t>
            </a:r>
            <a:endParaRPr lang="en-US" sz="1600" dirty="0"/>
          </a:p>
        </p:txBody>
      </p:sp>
      <p:sp>
        <p:nvSpPr>
          <p:cNvPr id="8" name="Text 5"/>
          <p:cNvSpPr/>
          <p:nvPr/>
        </p:nvSpPr>
        <p:spPr>
          <a:xfrm>
            <a:off x="502920" y="2743200"/>
            <a:ext cx="6400800" cy="640080"/>
          </a:xfrm>
          <a:prstGeom prst="rect">
            <a:avLst/>
          </a:prstGeom>
          <a:noFill/>
          <a:ln/>
        </p:spPr>
        <p:txBody>
          <a:bodyPr wrap="square" lIns="0" tIns="0" rIns="0" bIns="0" rtlCol="0" anchor="ctr"/>
          <a:lstStyle/>
          <a:p>
            <a:pPr indent="0" marL="0">
              <a:buNone/>
            </a:pPr>
            <a:r>
              <a:rPr lang="en-US" sz="1300" i="1" dirty="0">
                <a:solidFill>
                  <a:srgbClr val="8A8FA8"/>
                </a:solidFill>
                <a:latin typeface="Calibri" pitchFamily="34" charset="0"/>
                <a:ea typeface="Calibri" pitchFamily="34" charset="-122"/>
                <a:cs typeface="Calibri" pitchFamily="34" charset="-120"/>
              </a:rPr>
              <a:t>Del caos a la organización. Una solución real para una biblioteca real.</a:t>
            </a:r>
            <a:endParaRPr lang="en-US" sz="1300" dirty="0"/>
          </a:p>
        </p:txBody>
      </p:sp>
      <p:sp>
        <p:nvSpPr>
          <p:cNvPr id="9" name="Text 6"/>
          <p:cNvSpPr/>
          <p:nvPr/>
        </p:nvSpPr>
        <p:spPr>
          <a:xfrm>
            <a:off x="502920" y="4297680"/>
            <a:ext cx="8229600" cy="365760"/>
          </a:xfrm>
          <a:prstGeom prst="rect">
            <a:avLst/>
          </a:prstGeom>
          <a:noFill/>
          <a:ln/>
        </p:spPr>
        <p:txBody>
          <a:bodyPr wrap="square" lIns="0" tIns="0" rIns="0" bIns="0" rtlCol="0" anchor="ctr"/>
          <a:lstStyle/>
          <a:p>
            <a:pPr indent="0" marL="0">
              <a:buNone/>
            </a:pPr>
            <a:r>
              <a:rPr lang="en-US" sz="1100" dirty="0">
                <a:solidFill>
                  <a:srgbClr val="8A8FA8"/>
                </a:solidFill>
                <a:latin typeface="Calibri" pitchFamily="34" charset="0"/>
                <a:ea typeface="Calibri" pitchFamily="34" charset="-122"/>
                <a:cs typeface="Calibri" pitchFamily="34" charset="-120"/>
              </a:rPr>
              <a:t>SENA · ADSO · Ficha 3412760 · 2026</a:t>
            </a:r>
            <a:endParaRPr lang="en-US" sz="1100" dirty="0"/>
          </a:p>
        </p:txBody>
      </p:sp>
      <p:sp>
        <p:nvSpPr>
          <p:cNvPr id="10" name="Text 7"/>
          <p:cNvSpPr/>
          <p:nvPr/>
        </p:nvSpPr>
        <p:spPr>
          <a:xfrm>
            <a:off x="502920" y="4572000"/>
            <a:ext cx="8229600" cy="320040"/>
          </a:xfrm>
          <a:prstGeom prst="rect">
            <a:avLst/>
          </a:prstGeom>
          <a:noFill/>
          <a:ln/>
        </p:spPr>
        <p:txBody>
          <a:bodyPr wrap="square" lIns="0" tIns="0" rIns="0" bIns="0" rtlCol="0" anchor="ctr"/>
          <a:lstStyle/>
          <a:p>
            <a:pPr indent="0" marL="0">
              <a:buNone/>
            </a:pPr>
            <a:r>
              <a:rPr lang="en-US" sz="1000" dirty="0">
                <a:solidFill>
                  <a:srgbClr val="C9A96E"/>
                </a:solidFill>
                <a:latin typeface="Calibri" pitchFamily="34" charset="0"/>
                <a:ea typeface="Calibri" pitchFamily="34" charset="-122"/>
                <a:cs typeface="Calibri" pitchFamily="34" charset="-120"/>
              </a:rPr>
              <a:t>Jerónimo Salinas  ·  Miguel Castañeda  ·  Paulina Garzón  ·  Gabriel Labrador  ·  Cristian Román  ·  Hartur Parra</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lIns="0" tIns="0" rIns="0" bIns="0" rtlCol="0" anchor="ctr"/>
          <a:lstStyle/>
          <a:p>
            <a:pPr indent="0" marL="0">
              <a:buNone/>
            </a:pPr>
            <a:r>
              <a:rPr lang="en-US" sz="1000" spc="400" kern="0" dirty="0">
                <a:solidFill>
                  <a:srgbClr val="C9A96E"/>
                </a:solidFill>
                <a:latin typeface="Calibri" pitchFamily="34" charset="0"/>
                <a:ea typeface="Calibri" pitchFamily="34" charset="-122"/>
                <a:cs typeface="Calibri" pitchFamily="34" charset="-120"/>
              </a:rPr>
              <a:t>EL PROBLEMA</a:t>
            </a:r>
            <a:endParaRPr lang="en-US" sz="1000" dirty="0"/>
          </a:p>
        </p:txBody>
      </p:sp>
      <p:sp>
        <p:nvSpPr>
          <p:cNvPr id="3" name="Text 1"/>
          <p:cNvSpPr/>
          <p:nvPr/>
        </p:nvSpPr>
        <p:spPr>
          <a:xfrm>
            <a:off x="457200" y="566928"/>
            <a:ext cx="8229600" cy="64008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¿Cómo manejaba la biblioteca su información?</a:t>
            </a:r>
            <a:endParaRPr lang="en-US" sz="2600" dirty="0"/>
          </a:p>
        </p:txBody>
      </p:sp>
      <p:sp>
        <p:nvSpPr>
          <p:cNvPr id="4" name="Shape 2"/>
          <p:cNvSpPr/>
          <p:nvPr/>
        </p:nvSpPr>
        <p:spPr>
          <a:xfrm>
            <a:off x="320040" y="1417320"/>
            <a:ext cx="1965960" cy="2651760"/>
          </a:xfrm>
          <a:prstGeom prst="roundRect">
            <a:avLst>
              <a:gd name="adj" fmla="val 5581"/>
            </a:avLst>
          </a:prstGeom>
          <a:solidFill>
            <a:srgbClr val="1E2235"/>
          </a:solidFill>
          <a:ln w="19050">
            <a:solidFill>
              <a:srgbClr val="E84855"/>
            </a:solidFill>
            <a:prstDash val="solid"/>
          </a:ln>
          <a:effectLst>
            <a:outerShdw sx="100000" sy="100000" kx="0" ky="0" algn="bl" rotWithShape="0" blurRad="152400" dist="50800" dir="2700000">
              <a:srgbClr val="000000">
                <a:alpha val="35000"/>
              </a:srgbClr>
            </a:outerShdw>
          </a:effectLst>
        </p:spPr>
      </p:sp>
      <p:pic>
        <p:nvPicPr>
          <p:cNvPr id="5" name="Image 0" descr="preencoded.png">    </p:cNvPr>
          <p:cNvPicPr>
            <a:picLocks noChangeAspect="1"/>
          </p:cNvPicPr>
          <p:nvPr/>
        </p:nvPicPr>
        <p:blipFill>
          <a:blip r:embed="rId1"/>
          <a:stretch>
            <a:fillRect/>
          </a:stretch>
        </p:blipFill>
        <p:spPr>
          <a:xfrm>
            <a:off x="1005840" y="1600200"/>
            <a:ext cx="594360" cy="594360"/>
          </a:xfrm>
          <a:prstGeom prst="rect">
            <a:avLst/>
          </a:prstGeom>
        </p:spPr>
      </p:pic>
      <p:sp>
        <p:nvSpPr>
          <p:cNvPr id="6" name="Text 3"/>
          <p:cNvSpPr/>
          <p:nvPr/>
        </p:nvSpPr>
        <p:spPr>
          <a:xfrm>
            <a:off x="411480" y="2286000"/>
            <a:ext cx="1783080" cy="502920"/>
          </a:xfrm>
          <a:prstGeom prst="rect">
            <a:avLst/>
          </a:prstGeom>
          <a:noFill/>
          <a:ln/>
        </p:spPr>
        <p:txBody>
          <a:bodyPr wrap="square" lIns="0" tIns="0" rIns="0" bIns="0" rtlCol="0" anchor="ctr"/>
          <a:lstStyle/>
          <a:p>
            <a:pPr algn="ctr" indent="0" marL="0">
              <a:buNone/>
            </a:pPr>
            <a:r>
              <a:rPr lang="en-US" sz="1100" b="1" dirty="0">
                <a:solidFill>
                  <a:srgbClr val="F5ECD7"/>
                </a:solidFill>
                <a:latin typeface="Calibri" pitchFamily="34" charset="0"/>
                <a:ea typeface="Calibri" pitchFamily="34" charset="-122"/>
                <a:cs typeface="Calibri" pitchFamily="34" charset="-120"/>
              </a:rPr>
              <a:t>Inventario desorganizado</a:t>
            </a:r>
            <a:endParaRPr lang="en-US" sz="1100" dirty="0"/>
          </a:p>
        </p:txBody>
      </p:sp>
      <p:sp>
        <p:nvSpPr>
          <p:cNvPr id="7" name="Text 4"/>
          <p:cNvSpPr/>
          <p:nvPr/>
        </p:nvSpPr>
        <p:spPr>
          <a:xfrm>
            <a:off x="429768" y="2834640"/>
            <a:ext cx="1746504" cy="1005840"/>
          </a:xfrm>
          <a:prstGeom prst="rect">
            <a:avLst/>
          </a:prstGeom>
          <a:noFill/>
          <a:ln/>
        </p:spPr>
        <p:txBody>
          <a:bodyPr wrap="square" lIns="0" tIns="0" rIns="0" bIns="0" rtlCol="0" anchor="ctr"/>
          <a:lstStyle/>
          <a:p>
            <a:pPr algn="ctr" indent="0" marL="0">
              <a:buNone/>
            </a:pPr>
            <a:r>
              <a:rPr lang="en-US" sz="1000" dirty="0">
                <a:solidFill>
                  <a:srgbClr val="8A8FA8"/>
                </a:solidFill>
                <a:latin typeface="Calibri" pitchFamily="34" charset="0"/>
                <a:ea typeface="Calibri" pitchFamily="34" charset="-122"/>
                <a:cs typeface="Calibri" pitchFamily="34" charset="-120"/>
              </a:rPr>
              <a:t>Sin sistema, los libros se pierden o se desconoce su disponibilidad real.</a:t>
            </a:r>
            <a:endParaRPr lang="en-US" sz="1000" dirty="0"/>
          </a:p>
        </p:txBody>
      </p:sp>
      <p:sp>
        <p:nvSpPr>
          <p:cNvPr id="8" name="Shape 5"/>
          <p:cNvSpPr/>
          <p:nvPr/>
        </p:nvSpPr>
        <p:spPr>
          <a:xfrm>
            <a:off x="2468880" y="1417320"/>
            <a:ext cx="1965960" cy="2651760"/>
          </a:xfrm>
          <a:prstGeom prst="roundRect">
            <a:avLst>
              <a:gd name="adj" fmla="val 5581"/>
            </a:avLst>
          </a:prstGeom>
          <a:solidFill>
            <a:srgbClr val="1E2235"/>
          </a:solidFill>
          <a:ln w="19050">
            <a:solidFill>
              <a:srgbClr val="E84855"/>
            </a:solidFill>
            <a:prstDash val="solid"/>
          </a:ln>
          <a:effectLst>
            <a:outerShdw sx="100000" sy="100000" kx="0" ky="0" algn="bl" rotWithShape="0" blurRad="152400" dist="50800" dir="2700000">
              <a:srgbClr val="000000">
                <a:alpha val="35000"/>
              </a:srgbClr>
            </a:outerShdw>
          </a:effectLst>
        </p:spPr>
      </p:sp>
      <p:pic>
        <p:nvPicPr>
          <p:cNvPr id="9" name="Image 1" descr="preencoded.png">    </p:cNvPr>
          <p:cNvPicPr>
            <a:picLocks noChangeAspect="1"/>
          </p:cNvPicPr>
          <p:nvPr/>
        </p:nvPicPr>
        <p:blipFill>
          <a:blip r:embed="rId2"/>
          <a:stretch>
            <a:fillRect/>
          </a:stretch>
        </p:blipFill>
        <p:spPr>
          <a:xfrm>
            <a:off x="3154680" y="1600200"/>
            <a:ext cx="594360" cy="594360"/>
          </a:xfrm>
          <a:prstGeom prst="rect">
            <a:avLst/>
          </a:prstGeom>
        </p:spPr>
      </p:pic>
      <p:sp>
        <p:nvSpPr>
          <p:cNvPr id="10" name="Text 6"/>
          <p:cNvSpPr/>
          <p:nvPr/>
        </p:nvSpPr>
        <p:spPr>
          <a:xfrm>
            <a:off x="2560320" y="2286000"/>
            <a:ext cx="1783080" cy="502920"/>
          </a:xfrm>
          <a:prstGeom prst="rect">
            <a:avLst/>
          </a:prstGeom>
          <a:noFill/>
          <a:ln/>
        </p:spPr>
        <p:txBody>
          <a:bodyPr wrap="square" lIns="0" tIns="0" rIns="0" bIns="0" rtlCol="0" anchor="ctr"/>
          <a:lstStyle/>
          <a:p>
            <a:pPr algn="ctr" indent="0" marL="0">
              <a:buNone/>
            </a:pPr>
            <a:r>
              <a:rPr lang="en-US" sz="1100" b="1" dirty="0">
                <a:solidFill>
                  <a:srgbClr val="F5ECD7"/>
                </a:solidFill>
                <a:latin typeface="Calibri" pitchFamily="34" charset="0"/>
                <a:ea typeface="Calibri" pitchFamily="34" charset="-122"/>
                <a:cs typeface="Calibri" pitchFamily="34" charset="-120"/>
              </a:rPr>
              <a:t>Préstamos sin control</a:t>
            </a:r>
            <a:endParaRPr lang="en-US" sz="1100" dirty="0"/>
          </a:p>
        </p:txBody>
      </p:sp>
      <p:sp>
        <p:nvSpPr>
          <p:cNvPr id="11" name="Text 7"/>
          <p:cNvSpPr/>
          <p:nvPr/>
        </p:nvSpPr>
        <p:spPr>
          <a:xfrm>
            <a:off x="2578608" y="2834640"/>
            <a:ext cx="1746504" cy="1005840"/>
          </a:xfrm>
          <a:prstGeom prst="rect">
            <a:avLst/>
          </a:prstGeom>
          <a:noFill/>
          <a:ln/>
        </p:spPr>
        <p:txBody>
          <a:bodyPr wrap="square" lIns="0" tIns="0" rIns="0" bIns="0" rtlCol="0" anchor="ctr"/>
          <a:lstStyle/>
          <a:p>
            <a:pPr algn="ctr" indent="0" marL="0">
              <a:buNone/>
            </a:pPr>
            <a:r>
              <a:rPr lang="en-US" sz="1000" dirty="0">
                <a:solidFill>
                  <a:srgbClr val="8A8FA8"/>
                </a:solidFill>
                <a:latin typeface="Calibri" pitchFamily="34" charset="0"/>
                <a:ea typeface="Calibri" pitchFamily="34" charset="-122"/>
                <a:cs typeface="Calibri" pitchFamily="34" charset="-120"/>
              </a:rPr>
              <a:t>No había trazabilidad de quién tenía qué libro ni desde cuándo.</a:t>
            </a:r>
            <a:endParaRPr lang="en-US" sz="1000" dirty="0"/>
          </a:p>
        </p:txBody>
      </p:sp>
      <p:sp>
        <p:nvSpPr>
          <p:cNvPr id="12" name="Shape 8"/>
          <p:cNvSpPr/>
          <p:nvPr/>
        </p:nvSpPr>
        <p:spPr>
          <a:xfrm>
            <a:off x="4617720" y="1417320"/>
            <a:ext cx="1965960" cy="2651760"/>
          </a:xfrm>
          <a:prstGeom prst="roundRect">
            <a:avLst>
              <a:gd name="adj" fmla="val 5581"/>
            </a:avLst>
          </a:prstGeom>
          <a:solidFill>
            <a:srgbClr val="1E2235"/>
          </a:solidFill>
          <a:ln w="19050">
            <a:solidFill>
              <a:srgbClr val="E84855"/>
            </a:solidFill>
            <a:prstDash val="solid"/>
          </a:ln>
          <a:effectLst>
            <a:outerShdw sx="100000" sy="100000" kx="0" ky="0" algn="bl" rotWithShape="0" blurRad="152400" dist="50800" dir="2700000">
              <a:srgbClr val="000000">
                <a:alpha val="35000"/>
              </a:srgbClr>
            </a:outerShdw>
          </a:effectLst>
        </p:spPr>
      </p:sp>
      <p:pic>
        <p:nvPicPr>
          <p:cNvPr id="13" name="Image 2" descr="preencoded.png">    </p:cNvPr>
          <p:cNvPicPr>
            <a:picLocks noChangeAspect="1"/>
          </p:cNvPicPr>
          <p:nvPr/>
        </p:nvPicPr>
        <p:blipFill>
          <a:blip r:embed="rId3"/>
          <a:stretch>
            <a:fillRect/>
          </a:stretch>
        </p:blipFill>
        <p:spPr>
          <a:xfrm>
            <a:off x="5303520" y="1600200"/>
            <a:ext cx="594360" cy="594360"/>
          </a:xfrm>
          <a:prstGeom prst="rect">
            <a:avLst/>
          </a:prstGeom>
        </p:spPr>
      </p:pic>
      <p:sp>
        <p:nvSpPr>
          <p:cNvPr id="14" name="Text 9"/>
          <p:cNvSpPr/>
          <p:nvPr/>
        </p:nvSpPr>
        <p:spPr>
          <a:xfrm>
            <a:off x="4709160" y="2286000"/>
            <a:ext cx="1783080" cy="502920"/>
          </a:xfrm>
          <a:prstGeom prst="rect">
            <a:avLst/>
          </a:prstGeom>
          <a:noFill/>
          <a:ln/>
        </p:spPr>
        <p:txBody>
          <a:bodyPr wrap="square" lIns="0" tIns="0" rIns="0" bIns="0" rtlCol="0" anchor="ctr"/>
          <a:lstStyle/>
          <a:p>
            <a:pPr algn="ctr" indent="0" marL="0">
              <a:buNone/>
            </a:pPr>
            <a:r>
              <a:rPr lang="en-US" sz="1100" b="1" dirty="0">
                <a:solidFill>
                  <a:srgbClr val="F5ECD7"/>
                </a:solidFill>
                <a:latin typeface="Calibri" pitchFamily="34" charset="0"/>
                <a:ea typeface="Calibri" pitchFamily="34" charset="-122"/>
                <a:cs typeface="Calibri" pitchFamily="34" charset="-120"/>
              </a:rPr>
              <a:t>Comunicación deficiente</a:t>
            </a:r>
            <a:endParaRPr lang="en-US" sz="1100" dirty="0"/>
          </a:p>
        </p:txBody>
      </p:sp>
      <p:sp>
        <p:nvSpPr>
          <p:cNvPr id="15" name="Text 10"/>
          <p:cNvSpPr/>
          <p:nvPr/>
        </p:nvSpPr>
        <p:spPr>
          <a:xfrm>
            <a:off x="4727448" y="2834640"/>
            <a:ext cx="1746504" cy="1005840"/>
          </a:xfrm>
          <a:prstGeom prst="rect">
            <a:avLst/>
          </a:prstGeom>
          <a:noFill/>
          <a:ln/>
        </p:spPr>
        <p:txBody>
          <a:bodyPr wrap="square" lIns="0" tIns="0" rIns="0" bIns="0" rtlCol="0" anchor="ctr"/>
          <a:lstStyle/>
          <a:p>
            <a:pPr algn="ctr" indent="0" marL="0">
              <a:buNone/>
            </a:pPr>
            <a:r>
              <a:rPr lang="en-US" sz="1000" dirty="0">
                <a:solidFill>
                  <a:srgbClr val="8A8FA8"/>
                </a:solidFill>
                <a:latin typeface="Calibri" pitchFamily="34" charset="0"/>
                <a:ea typeface="Calibri" pitchFamily="34" charset="-122"/>
                <a:cs typeface="Calibri" pitchFamily="34" charset="-120"/>
              </a:rPr>
              <a:t>Los usuarios no podían consultar disponibilidad sin ir físicamente.</a:t>
            </a:r>
            <a:endParaRPr lang="en-US" sz="1000" dirty="0"/>
          </a:p>
        </p:txBody>
      </p:sp>
      <p:sp>
        <p:nvSpPr>
          <p:cNvPr id="16" name="Shape 11"/>
          <p:cNvSpPr/>
          <p:nvPr/>
        </p:nvSpPr>
        <p:spPr>
          <a:xfrm>
            <a:off x="6766560" y="1417320"/>
            <a:ext cx="1965960" cy="2651760"/>
          </a:xfrm>
          <a:prstGeom prst="roundRect">
            <a:avLst>
              <a:gd name="adj" fmla="val 5581"/>
            </a:avLst>
          </a:prstGeom>
          <a:solidFill>
            <a:srgbClr val="1E2235"/>
          </a:solidFill>
          <a:ln w="19050">
            <a:solidFill>
              <a:srgbClr val="E84855"/>
            </a:solidFill>
            <a:prstDash val="solid"/>
          </a:ln>
          <a:effectLst>
            <a:outerShdw sx="100000" sy="100000" kx="0" ky="0" algn="bl" rotWithShape="0" blurRad="152400" dist="50800" dir="2700000">
              <a:srgbClr val="000000">
                <a:alpha val="35000"/>
              </a:srgbClr>
            </a:outerShdw>
          </a:effectLst>
        </p:spPr>
      </p:sp>
      <p:pic>
        <p:nvPicPr>
          <p:cNvPr id="17" name="Image 3" descr="preencoded.png">    </p:cNvPr>
          <p:cNvPicPr>
            <a:picLocks noChangeAspect="1"/>
          </p:cNvPicPr>
          <p:nvPr/>
        </p:nvPicPr>
        <p:blipFill>
          <a:blip r:embed="rId4"/>
          <a:stretch>
            <a:fillRect/>
          </a:stretch>
        </p:blipFill>
        <p:spPr>
          <a:xfrm>
            <a:off x="7452360" y="1600200"/>
            <a:ext cx="594360" cy="594360"/>
          </a:xfrm>
          <a:prstGeom prst="rect">
            <a:avLst/>
          </a:prstGeom>
        </p:spPr>
      </p:pic>
      <p:sp>
        <p:nvSpPr>
          <p:cNvPr id="18" name="Text 12"/>
          <p:cNvSpPr/>
          <p:nvPr/>
        </p:nvSpPr>
        <p:spPr>
          <a:xfrm>
            <a:off x="6858000" y="2286000"/>
            <a:ext cx="1783080" cy="502920"/>
          </a:xfrm>
          <a:prstGeom prst="rect">
            <a:avLst/>
          </a:prstGeom>
          <a:noFill/>
          <a:ln/>
        </p:spPr>
        <p:txBody>
          <a:bodyPr wrap="square" lIns="0" tIns="0" rIns="0" bIns="0" rtlCol="0" anchor="ctr"/>
          <a:lstStyle/>
          <a:p>
            <a:pPr algn="ctr" indent="0" marL="0">
              <a:buNone/>
            </a:pPr>
            <a:r>
              <a:rPr lang="en-US" sz="1100" b="1" dirty="0">
                <a:solidFill>
                  <a:srgbClr val="F5ECD7"/>
                </a:solidFill>
                <a:latin typeface="Calibri" pitchFamily="34" charset="0"/>
                <a:ea typeface="Calibri" pitchFamily="34" charset="-122"/>
                <a:cs typeface="Calibri" pitchFamily="34" charset="-120"/>
              </a:rPr>
              <a:t>Errores humanos frecuentes</a:t>
            </a:r>
            <a:endParaRPr lang="en-US" sz="1100" dirty="0"/>
          </a:p>
        </p:txBody>
      </p:sp>
      <p:sp>
        <p:nvSpPr>
          <p:cNvPr id="19" name="Text 13"/>
          <p:cNvSpPr/>
          <p:nvPr/>
        </p:nvSpPr>
        <p:spPr>
          <a:xfrm>
            <a:off x="6876288" y="2834640"/>
            <a:ext cx="1746504" cy="1005840"/>
          </a:xfrm>
          <a:prstGeom prst="rect">
            <a:avLst/>
          </a:prstGeom>
          <a:noFill/>
          <a:ln/>
        </p:spPr>
        <p:txBody>
          <a:bodyPr wrap="square" lIns="0" tIns="0" rIns="0" bIns="0" rtlCol="0" anchor="ctr"/>
          <a:lstStyle/>
          <a:p>
            <a:pPr algn="ctr" indent="0" marL="0">
              <a:buNone/>
            </a:pPr>
            <a:r>
              <a:rPr lang="en-US" sz="1000" dirty="0">
                <a:solidFill>
                  <a:srgbClr val="8A8FA8"/>
                </a:solidFill>
                <a:latin typeface="Calibri" pitchFamily="34" charset="0"/>
                <a:ea typeface="Calibri" pitchFamily="34" charset="-122"/>
                <a:cs typeface="Calibri" pitchFamily="34" charset="-120"/>
              </a:rPr>
              <a:t>Procesos 100% manuales generaban confusión y retrasos en devoluciones.</a:t>
            </a:r>
            <a:endParaRPr lang="en-US" sz="1000" dirty="0"/>
          </a:p>
        </p:txBody>
      </p:sp>
      <p:sp>
        <p:nvSpPr>
          <p:cNvPr id="20" name="Text 14"/>
          <p:cNvSpPr/>
          <p:nvPr/>
        </p:nvSpPr>
        <p:spPr>
          <a:xfrm>
            <a:off x="457200" y="4297680"/>
            <a:ext cx="8229600" cy="502920"/>
          </a:xfrm>
          <a:prstGeom prst="rect">
            <a:avLst/>
          </a:prstGeom>
          <a:noFill/>
          <a:ln/>
        </p:spPr>
        <p:txBody>
          <a:bodyPr wrap="square" lIns="0" tIns="0" rIns="0" bIns="0" rtlCol="0" anchor="ctr"/>
          <a:lstStyle/>
          <a:p>
            <a:pPr algn="ctr" indent="0" marL="0">
              <a:buNone/>
            </a:pPr>
            <a:r>
              <a:rPr lang="en-US" sz="1400" i="1" dirty="0">
                <a:solidFill>
                  <a:srgbClr val="E8C98A"/>
                </a:solidFill>
                <a:latin typeface="Calibri" pitchFamily="34" charset="0"/>
                <a:ea typeface="Calibri" pitchFamily="34" charset="-122"/>
                <a:cs typeface="Calibri" pitchFamily="34" charset="-120"/>
              </a:rPr>
              <a:t>📌 Todo esto se hacía a mano. Era hora de cambiar eso.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A1D2E"/>
        </a:solidFill>
      </p:bgPr>
    </p:bg>
    <p:spTree>
      <p:nvGrpSpPr>
        <p:cNvPr id="1" name=""/>
        <p:cNvGrpSpPr/>
        <p:nvPr/>
      </p:nvGrpSpPr>
      <p:grpSpPr>
        <a:xfrm>
          <a:off x="0" y="0"/>
          <a:ext cx="0" cy="0"/>
          <a:chOff x="0" y="0"/>
          <a:chExt cx="0" cy="0"/>
        </a:xfrm>
      </p:grpSpPr>
      <p:sp>
        <p:nvSpPr>
          <p:cNvPr id="2" name="Text 0"/>
          <p:cNvSpPr/>
          <p:nvPr/>
        </p:nvSpPr>
        <p:spPr>
          <a:xfrm>
            <a:off x="457200" y="274320"/>
            <a:ext cx="8229600" cy="320040"/>
          </a:xfrm>
          <a:prstGeom prst="rect">
            <a:avLst/>
          </a:prstGeom>
          <a:noFill/>
          <a:ln/>
        </p:spPr>
        <p:txBody>
          <a:bodyPr wrap="square" lIns="0" tIns="0" rIns="0" bIns="0" rtlCol="0" anchor="ctr"/>
          <a:lstStyle/>
          <a:p>
            <a:pPr indent="0" marL="0">
              <a:buNone/>
            </a:pPr>
            <a:r>
              <a:rPr lang="en-US" sz="1000" spc="400" kern="0" dirty="0">
                <a:solidFill>
                  <a:srgbClr val="2EC4B6"/>
                </a:solidFill>
                <a:latin typeface="Calibri" pitchFamily="34" charset="0"/>
                <a:ea typeface="Calibri" pitchFamily="34" charset="-122"/>
                <a:cs typeface="Calibri" pitchFamily="34" charset="-120"/>
              </a:rPr>
              <a:t>LA SOLUCIÓN</a:t>
            </a:r>
            <a:endParaRPr lang="en-US" sz="1000" dirty="0"/>
          </a:p>
        </p:txBody>
      </p:sp>
      <p:sp>
        <p:nvSpPr>
          <p:cNvPr id="3" name="Text 1"/>
          <p:cNvSpPr/>
          <p:nvPr/>
        </p:nvSpPr>
        <p:spPr>
          <a:xfrm>
            <a:off x="457200" y="566928"/>
            <a:ext cx="8229600" cy="68580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BOOKER: un sistema web completo para gestionar la biblioteca</a:t>
            </a:r>
            <a:endParaRPr lang="en-US" sz="2400" dirty="0"/>
          </a:p>
        </p:txBody>
      </p:sp>
      <p:sp>
        <p:nvSpPr>
          <p:cNvPr id="4" name="Shape 2"/>
          <p:cNvSpPr/>
          <p:nvPr/>
        </p:nvSpPr>
        <p:spPr>
          <a:xfrm>
            <a:off x="457200" y="1417320"/>
            <a:ext cx="3840480" cy="3291840"/>
          </a:xfrm>
          <a:prstGeom prst="roundRect">
            <a:avLst>
              <a:gd name="adj" fmla="val 4167"/>
            </a:avLst>
          </a:prstGeom>
          <a:solidFill>
            <a:srgbClr val="101320"/>
          </a:solidFill>
          <a:ln w="25400">
            <a:solidFill>
              <a:srgbClr val="C9A96E"/>
            </a:solidFill>
            <a:prstDash val="solid"/>
          </a:ln>
          <a:effectLst>
            <a:outerShdw sx="100000" sy="100000" kx="0" ky="0" algn="bl" rotWithShape="0" blurRad="152400" dist="50800" dir="2700000">
              <a:srgbClr val="000000">
                <a:alpha val="35000"/>
              </a:srgbClr>
            </a:outerShdw>
          </a:effectLst>
        </p:spPr>
      </p:sp>
      <p:sp>
        <p:nvSpPr>
          <p:cNvPr id="5" name="Text 3"/>
          <p:cNvSpPr/>
          <p:nvPr/>
        </p:nvSpPr>
        <p:spPr>
          <a:xfrm>
            <a:off x="640080" y="1600200"/>
            <a:ext cx="3474720" cy="320040"/>
          </a:xfrm>
          <a:prstGeom prst="rect">
            <a:avLst/>
          </a:prstGeom>
          <a:noFill/>
          <a:ln/>
        </p:spPr>
        <p:txBody>
          <a:bodyPr wrap="square" lIns="0" tIns="0" rIns="0" bIns="0" rtlCol="0" anchor="ctr"/>
          <a:lstStyle/>
          <a:p>
            <a:pPr indent="0" marL="0">
              <a:buNone/>
            </a:pPr>
            <a:r>
              <a:rPr lang="en-US" sz="1000" spc="300" kern="0" dirty="0">
                <a:solidFill>
                  <a:srgbClr val="C9A96E"/>
                </a:solidFill>
                <a:latin typeface="Calibri" pitchFamily="34" charset="0"/>
                <a:ea typeface="Calibri" pitchFamily="34" charset="-122"/>
                <a:cs typeface="Calibri" pitchFamily="34" charset="-120"/>
              </a:rPr>
              <a:t>Objetivo General</a:t>
            </a:r>
            <a:endParaRPr lang="en-US" sz="1000" dirty="0"/>
          </a:p>
        </p:txBody>
      </p:sp>
      <p:sp>
        <p:nvSpPr>
          <p:cNvPr id="6" name="Text 4"/>
          <p:cNvSpPr/>
          <p:nvPr/>
        </p:nvSpPr>
        <p:spPr>
          <a:xfrm>
            <a:off x="640080" y="1965960"/>
            <a:ext cx="3474720" cy="2468880"/>
          </a:xfrm>
          <a:prstGeom prst="rect">
            <a:avLst/>
          </a:prstGeom>
          <a:noFill/>
          <a:ln/>
        </p:spPr>
        <p:txBody>
          <a:bodyPr wrap="square" lIns="0" tIns="0" rIns="0" bIns="0" rtlCol="0" anchor="ctr"/>
          <a:lstStyle/>
          <a:p>
            <a:pPr indent="0" marL="0">
              <a:buNone/>
            </a:pPr>
            <a:r>
              <a:rPr lang="en-US" sz="1300" dirty="0">
                <a:solidFill>
                  <a:srgbClr val="F5ECD7"/>
                </a:solidFill>
                <a:latin typeface="Calibri" pitchFamily="34" charset="0"/>
                <a:ea typeface="Calibri" pitchFamily="34" charset="-122"/>
                <a:cs typeface="Calibri" pitchFamily="34" charset="-120"/>
              </a:rPr>
              <a:t>Desarrollar un sistema web que permita registrar, organizar y controlar libros, usuarios y préstamos — mejorando la eficiencia en la administración de la biblioteca.</a:t>
            </a:r>
            <a:endParaRPr lang="en-US" sz="1300" dirty="0"/>
          </a:p>
        </p:txBody>
      </p:sp>
      <p:sp>
        <p:nvSpPr>
          <p:cNvPr id="7" name="Shape 5"/>
          <p:cNvSpPr/>
          <p:nvPr/>
        </p:nvSpPr>
        <p:spPr>
          <a:xfrm>
            <a:off x="4663440" y="1417320"/>
            <a:ext cx="3931920" cy="914400"/>
          </a:xfrm>
          <a:prstGeom prst="roundRect">
            <a:avLst>
              <a:gd name="adj" fmla="val 10000"/>
            </a:avLst>
          </a:prstGeom>
          <a:solidFill>
            <a:srgbClr val="1E2235"/>
          </a:solidFill>
          <a:ln/>
          <a:effectLst>
            <a:outerShdw sx="100000" sy="100000" kx="0" ky="0" algn="bl" rotWithShape="0" blurRad="152400" dist="50800" dir="2700000">
              <a:srgbClr val="000000">
                <a:alpha val="35000"/>
              </a:srgbClr>
            </a:outerShdw>
          </a:effectLst>
        </p:spPr>
      </p:sp>
      <p:pic>
        <p:nvPicPr>
          <p:cNvPr id="8" name="Image 0" descr="preencoded.png">    </p:cNvPr>
          <p:cNvPicPr>
            <a:picLocks noChangeAspect="1"/>
          </p:cNvPicPr>
          <p:nvPr/>
        </p:nvPicPr>
        <p:blipFill>
          <a:blip r:embed="rId1"/>
          <a:stretch>
            <a:fillRect/>
          </a:stretch>
        </p:blipFill>
        <p:spPr>
          <a:xfrm>
            <a:off x="4846320" y="1600200"/>
            <a:ext cx="502920" cy="502920"/>
          </a:xfrm>
          <a:prstGeom prst="rect">
            <a:avLst/>
          </a:prstGeom>
        </p:spPr>
      </p:pic>
      <p:sp>
        <p:nvSpPr>
          <p:cNvPr id="9" name="Text 6"/>
          <p:cNvSpPr/>
          <p:nvPr/>
        </p:nvSpPr>
        <p:spPr>
          <a:xfrm>
            <a:off x="5486400" y="1508760"/>
            <a:ext cx="29260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Catálogo digital</a:t>
            </a:r>
            <a:endParaRPr lang="en-US" sz="1300" dirty="0"/>
          </a:p>
        </p:txBody>
      </p:sp>
      <p:sp>
        <p:nvSpPr>
          <p:cNvPr id="10" name="Text 7"/>
          <p:cNvSpPr/>
          <p:nvPr/>
        </p:nvSpPr>
        <p:spPr>
          <a:xfrm>
            <a:off x="5486400" y="1856232"/>
            <a:ext cx="2926080" cy="347472"/>
          </a:xfrm>
          <a:prstGeom prst="rect">
            <a:avLst/>
          </a:prstGeom>
          <a:noFill/>
          <a:ln/>
        </p:spPr>
        <p:txBody>
          <a:bodyPr wrap="square" lIns="0" tIns="0" rIns="0" bIns="0" rtlCol="0" anchor="ctr"/>
          <a:lstStyle/>
          <a:p>
            <a:pPr indent="0" marL="0">
              <a:buNone/>
            </a:pPr>
            <a:r>
              <a:rPr lang="en-US" sz="1000" dirty="0">
                <a:solidFill>
                  <a:srgbClr val="8A8FA8"/>
                </a:solidFill>
                <a:latin typeface="Calibri" pitchFamily="34" charset="0"/>
                <a:ea typeface="Calibri" pitchFamily="34" charset="-122"/>
                <a:cs typeface="Calibri" pitchFamily="34" charset="-120"/>
              </a:rPr>
              <a:t>Registro, edición y eliminación de libros en tiempo real</a:t>
            </a:r>
            <a:endParaRPr lang="en-US" sz="1000" dirty="0"/>
          </a:p>
        </p:txBody>
      </p:sp>
      <p:sp>
        <p:nvSpPr>
          <p:cNvPr id="11" name="Shape 8"/>
          <p:cNvSpPr/>
          <p:nvPr/>
        </p:nvSpPr>
        <p:spPr>
          <a:xfrm>
            <a:off x="4663440" y="2532888"/>
            <a:ext cx="3931920" cy="914400"/>
          </a:xfrm>
          <a:prstGeom prst="roundRect">
            <a:avLst>
              <a:gd name="adj" fmla="val 10000"/>
            </a:avLst>
          </a:prstGeom>
          <a:solidFill>
            <a:srgbClr val="1E2235"/>
          </a:solidFill>
          <a:ln/>
          <a:effectLst>
            <a:outerShdw sx="100000" sy="100000" kx="0" ky="0" algn="bl" rotWithShape="0" blurRad="152400" dist="50800" dir="2700000">
              <a:srgbClr val="000000">
                <a:alpha val="35000"/>
              </a:srgbClr>
            </a:outerShdw>
          </a:effectLst>
        </p:spPr>
      </p:sp>
      <p:pic>
        <p:nvPicPr>
          <p:cNvPr id="12" name="Image 1" descr="preencoded.png">    </p:cNvPr>
          <p:cNvPicPr>
            <a:picLocks noChangeAspect="1"/>
          </p:cNvPicPr>
          <p:nvPr/>
        </p:nvPicPr>
        <p:blipFill>
          <a:blip r:embed="rId2"/>
          <a:stretch>
            <a:fillRect/>
          </a:stretch>
        </p:blipFill>
        <p:spPr>
          <a:xfrm>
            <a:off x="4846320" y="2715768"/>
            <a:ext cx="502920" cy="502920"/>
          </a:xfrm>
          <a:prstGeom prst="rect">
            <a:avLst/>
          </a:prstGeom>
        </p:spPr>
      </p:pic>
      <p:sp>
        <p:nvSpPr>
          <p:cNvPr id="13" name="Text 9"/>
          <p:cNvSpPr/>
          <p:nvPr/>
        </p:nvSpPr>
        <p:spPr>
          <a:xfrm>
            <a:off x="5486400" y="2624328"/>
            <a:ext cx="29260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Gestión de usuarios</a:t>
            </a:r>
            <a:endParaRPr lang="en-US" sz="1300" dirty="0"/>
          </a:p>
        </p:txBody>
      </p:sp>
      <p:sp>
        <p:nvSpPr>
          <p:cNvPr id="14" name="Text 10"/>
          <p:cNvSpPr/>
          <p:nvPr/>
        </p:nvSpPr>
        <p:spPr>
          <a:xfrm>
            <a:off x="5486400" y="2971800"/>
            <a:ext cx="2926080" cy="347472"/>
          </a:xfrm>
          <a:prstGeom prst="rect">
            <a:avLst/>
          </a:prstGeom>
          <a:noFill/>
          <a:ln/>
        </p:spPr>
        <p:txBody>
          <a:bodyPr wrap="square" lIns="0" tIns="0" rIns="0" bIns="0" rtlCol="0" anchor="ctr"/>
          <a:lstStyle/>
          <a:p>
            <a:pPr indent="0" marL="0">
              <a:buNone/>
            </a:pPr>
            <a:r>
              <a:rPr lang="en-US" sz="1000" dirty="0">
                <a:solidFill>
                  <a:srgbClr val="8A8FA8"/>
                </a:solidFill>
                <a:latin typeface="Calibri" pitchFamily="34" charset="0"/>
                <a:ea typeface="Calibri" pitchFamily="34" charset="-122"/>
                <a:cs typeface="Calibri" pitchFamily="34" charset="-120"/>
              </a:rPr>
              <a:t>Control de acceso, historial de préstamos por usuario</a:t>
            </a:r>
            <a:endParaRPr lang="en-US" sz="1000" dirty="0"/>
          </a:p>
        </p:txBody>
      </p:sp>
      <p:sp>
        <p:nvSpPr>
          <p:cNvPr id="15" name="Shape 11"/>
          <p:cNvSpPr/>
          <p:nvPr/>
        </p:nvSpPr>
        <p:spPr>
          <a:xfrm>
            <a:off x="4663440" y="3648456"/>
            <a:ext cx="3931920" cy="914400"/>
          </a:xfrm>
          <a:prstGeom prst="roundRect">
            <a:avLst>
              <a:gd name="adj" fmla="val 10000"/>
            </a:avLst>
          </a:prstGeom>
          <a:solidFill>
            <a:srgbClr val="1E2235"/>
          </a:solidFill>
          <a:ln/>
          <a:effectLst>
            <a:outerShdw sx="100000" sy="100000" kx="0" ky="0" algn="bl" rotWithShape="0" blurRad="152400" dist="50800" dir="2700000">
              <a:srgbClr val="000000">
                <a:alpha val="35000"/>
              </a:srgbClr>
            </a:outerShdw>
          </a:effectLst>
        </p:spPr>
      </p:sp>
      <p:pic>
        <p:nvPicPr>
          <p:cNvPr id="16" name="Image 2" descr="preencoded.png">    </p:cNvPr>
          <p:cNvPicPr>
            <a:picLocks noChangeAspect="1"/>
          </p:cNvPicPr>
          <p:nvPr/>
        </p:nvPicPr>
        <p:blipFill>
          <a:blip r:embed="rId3"/>
          <a:stretch>
            <a:fillRect/>
          </a:stretch>
        </p:blipFill>
        <p:spPr>
          <a:xfrm>
            <a:off x="4846320" y="3831336"/>
            <a:ext cx="502920" cy="502920"/>
          </a:xfrm>
          <a:prstGeom prst="rect">
            <a:avLst/>
          </a:prstGeom>
        </p:spPr>
      </p:pic>
      <p:sp>
        <p:nvSpPr>
          <p:cNvPr id="17" name="Text 12"/>
          <p:cNvSpPr/>
          <p:nvPr/>
        </p:nvSpPr>
        <p:spPr>
          <a:xfrm>
            <a:off x="5486400" y="3739896"/>
            <a:ext cx="292608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Control de préstamos</a:t>
            </a:r>
            <a:endParaRPr lang="en-US" sz="1300" dirty="0"/>
          </a:p>
        </p:txBody>
      </p:sp>
      <p:sp>
        <p:nvSpPr>
          <p:cNvPr id="18" name="Text 13"/>
          <p:cNvSpPr/>
          <p:nvPr/>
        </p:nvSpPr>
        <p:spPr>
          <a:xfrm>
            <a:off x="5486400" y="4087368"/>
            <a:ext cx="2926080" cy="347472"/>
          </a:xfrm>
          <a:prstGeom prst="rect">
            <a:avLst/>
          </a:prstGeom>
          <a:noFill/>
          <a:ln/>
        </p:spPr>
        <p:txBody>
          <a:bodyPr wrap="square" lIns="0" tIns="0" rIns="0" bIns="0" rtlCol="0" anchor="ctr"/>
          <a:lstStyle/>
          <a:p>
            <a:pPr indent="0" marL="0">
              <a:buNone/>
            </a:pPr>
            <a:r>
              <a:rPr lang="en-US" sz="1000" dirty="0">
                <a:solidFill>
                  <a:srgbClr val="8A8FA8"/>
                </a:solidFill>
                <a:latin typeface="Calibri" pitchFamily="34" charset="0"/>
                <a:ea typeface="Calibri" pitchFamily="34" charset="-122"/>
                <a:cs typeface="Calibri" pitchFamily="34" charset="-120"/>
              </a:rPr>
              <a:t>Registro, devoluciones y bandeja de solicitudes pendientes</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256032"/>
            <a:ext cx="8229600" cy="292608"/>
          </a:xfrm>
          <a:prstGeom prst="rect">
            <a:avLst/>
          </a:prstGeom>
          <a:noFill/>
          <a:ln/>
        </p:spPr>
        <p:txBody>
          <a:bodyPr wrap="square" lIns="0" tIns="0" rIns="0" bIns="0" rtlCol="0" anchor="ctr"/>
          <a:lstStyle/>
          <a:p>
            <a:pPr indent="0" marL="0">
              <a:buNone/>
            </a:pPr>
            <a:r>
              <a:rPr lang="en-US" sz="1000" spc="400" kern="0" dirty="0">
                <a:solidFill>
                  <a:srgbClr val="C9A96E"/>
                </a:solidFill>
                <a:latin typeface="Calibri" pitchFamily="34" charset="0"/>
                <a:ea typeface="Calibri" pitchFamily="34" charset="-122"/>
                <a:cs typeface="Calibri" pitchFamily="34" charset="-120"/>
              </a:rPr>
              <a:t>INTERFAZ GENERAL</a:t>
            </a:r>
            <a:endParaRPr lang="en-US" sz="1000" dirty="0"/>
          </a:p>
        </p:txBody>
      </p:sp>
      <p:sp>
        <p:nvSpPr>
          <p:cNvPr id="3" name="Text 1"/>
          <p:cNvSpPr/>
          <p:nvPr/>
        </p:nvSpPr>
        <p:spPr>
          <a:xfrm>
            <a:off x="457200" y="530352"/>
            <a:ext cx="8229600" cy="53035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Diseño pensado en el usuario: 4 zonas estratégicas</a:t>
            </a:r>
            <a:endParaRPr lang="en-US" sz="2200" dirty="0"/>
          </a:p>
        </p:txBody>
      </p:sp>
      <p:sp>
        <p:nvSpPr>
          <p:cNvPr id="4" name="Shape 2"/>
          <p:cNvSpPr/>
          <p:nvPr/>
        </p:nvSpPr>
        <p:spPr>
          <a:xfrm>
            <a:off x="411480" y="1097280"/>
            <a:ext cx="8321040" cy="3749040"/>
          </a:xfrm>
          <a:prstGeom prst="roundRect">
            <a:avLst>
              <a:gd name="adj" fmla="val 4390"/>
            </a:avLst>
          </a:prstGeom>
          <a:solidFill>
            <a:srgbClr val="0A0D16"/>
          </a:solidFill>
          <a:ln w="19050">
            <a:solidFill>
              <a:srgbClr val="C9A96E"/>
            </a:solidFill>
            <a:prstDash val="solid"/>
          </a:ln>
          <a:effectLst>
            <a:outerShdw sx="100000" sy="100000" kx="0" ky="0" algn="bl" rotWithShape="0" blurRad="152400" dist="50800" dir="2700000">
              <a:srgbClr val="000000">
                <a:alpha val="35000"/>
              </a:srgbClr>
            </a:outerShdw>
          </a:effectLst>
        </p:spPr>
      </p:sp>
      <p:sp>
        <p:nvSpPr>
          <p:cNvPr id="5" name="Shape 3"/>
          <p:cNvSpPr/>
          <p:nvPr/>
        </p:nvSpPr>
        <p:spPr>
          <a:xfrm>
            <a:off x="411480" y="1097280"/>
            <a:ext cx="1554480" cy="3749040"/>
          </a:xfrm>
          <a:prstGeom prst="rect">
            <a:avLst/>
          </a:prstGeom>
          <a:solidFill>
            <a:srgbClr val="111827"/>
          </a:solidFill>
          <a:ln/>
        </p:spPr>
      </p:sp>
      <p:sp>
        <p:nvSpPr>
          <p:cNvPr id="6" name="Text 4"/>
          <p:cNvSpPr/>
          <p:nvPr/>
        </p:nvSpPr>
        <p:spPr>
          <a:xfrm>
            <a:off x="502920" y="1207008"/>
            <a:ext cx="1371600" cy="274320"/>
          </a:xfrm>
          <a:prstGeom prst="rect">
            <a:avLst/>
          </a:prstGeom>
          <a:noFill/>
          <a:ln/>
        </p:spPr>
        <p:txBody>
          <a:bodyPr wrap="square" lIns="0" tIns="0" rIns="0" bIns="0" rtlCol="0" anchor="ctr"/>
          <a:lstStyle/>
          <a:p>
            <a:pPr indent="0" marL="0">
              <a:buNone/>
            </a:pPr>
            <a:r>
              <a:rPr lang="en-US" sz="900" b="1" dirty="0">
                <a:solidFill>
                  <a:srgbClr val="C9A96E"/>
                </a:solidFill>
                <a:latin typeface="Cambria" pitchFamily="34" charset="0"/>
                <a:ea typeface="Cambria" pitchFamily="34" charset="-122"/>
                <a:cs typeface="Cambria" pitchFamily="34" charset="-120"/>
              </a:rPr>
              <a:t>BOOKER</a:t>
            </a:r>
            <a:endParaRPr lang="en-US" sz="900" dirty="0"/>
          </a:p>
        </p:txBody>
      </p:sp>
      <p:sp>
        <p:nvSpPr>
          <p:cNvPr id="7" name="Shape 5"/>
          <p:cNvSpPr/>
          <p:nvPr/>
        </p:nvSpPr>
        <p:spPr>
          <a:xfrm>
            <a:off x="411480" y="1572768"/>
            <a:ext cx="1554480" cy="320040"/>
          </a:xfrm>
          <a:prstGeom prst="rect">
            <a:avLst/>
          </a:prstGeom>
          <a:solidFill>
            <a:srgbClr val="C9A96E">
              <a:alpha val="25000"/>
            </a:srgbClr>
          </a:solidFill>
          <a:ln/>
        </p:spPr>
      </p:sp>
      <p:sp>
        <p:nvSpPr>
          <p:cNvPr id="8" name="Text 6"/>
          <p:cNvSpPr/>
          <p:nvPr/>
        </p:nvSpPr>
        <p:spPr>
          <a:xfrm>
            <a:off x="512064" y="1581912"/>
            <a:ext cx="1371600" cy="256032"/>
          </a:xfrm>
          <a:prstGeom prst="rect">
            <a:avLst/>
          </a:prstGeom>
          <a:noFill/>
          <a:ln/>
        </p:spPr>
        <p:txBody>
          <a:bodyPr wrap="square" lIns="0" tIns="0" rIns="0" bIns="0" rtlCol="0" anchor="ctr"/>
          <a:lstStyle/>
          <a:p>
            <a:pPr indent="0" marL="0">
              <a:buNone/>
            </a:pPr>
            <a:r>
              <a:rPr lang="en-US" sz="800" dirty="0">
                <a:solidFill>
                  <a:srgbClr val="E8C98A"/>
                </a:solidFill>
                <a:latin typeface="Calibri" pitchFamily="34" charset="0"/>
                <a:ea typeface="Calibri" pitchFamily="34" charset="-122"/>
                <a:cs typeface="Calibri" pitchFamily="34" charset="-120"/>
              </a:rPr>
              <a:t>📚 Catálogo</a:t>
            </a:r>
            <a:endParaRPr lang="en-US" sz="800" dirty="0"/>
          </a:p>
        </p:txBody>
      </p:sp>
      <p:sp>
        <p:nvSpPr>
          <p:cNvPr id="9" name="Text 7"/>
          <p:cNvSpPr/>
          <p:nvPr/>
        </p:nvSpPr>
        <p:spPr>
          <a:xfrm>
            <a:off x="512064" y="1965960"/>
            <a:ext cx="1371600" cy="256032"/>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 Destacados</a:t>
            </a:r>
            <a:endParaRPr lang="en-US" sz="800" dirty="0"/>
          </a:p>
        </p:txBody>
      </p:sp>
      <p:sp>
        <p:nvSpPr>
          <p:cNvPr id="10" name="Text 8"/>
          <p:cNvSpPr/>
          <p:nvPr/>
        </p:nvSpPr>
        <p:spPr>
          <a:xfrm>
            <a:off x="512064" y="2350008"/>
            <a:ext cx="1371600" cy="256032"/>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 Novedades</a:t>
            </a:r>
            <a:endParaRPr lang="en-US" sz="800" dirty="0"/>
          </a:p>
        </p:txBody>
      </p:sp>
      <p:sp>
        <p:nvSpPr>
          <p:cNvPr id="11" name="Text 9"/>
          <p:cNvSpPr/>
          <p:nvPr/>
        </p:nvSpPr>
        <p:spPr>
          <a:xfrm>
            <a:off x="512064" y="2734056"/>
            <a:ext cx="1371600" cy="256032"/>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 Favoritos</a:t>
            </a:r>
            <a:endParaRPr lang="en-US" sz="800" dirty="0"/>
          </a:p>
        </p:txBody>
      </p:sp>
      <p:sp>
        <p:nvSpPr>
          <p:cNvPr id="12" name="Text 10"/>
          <p:cNvSpPr/>
          <p:nvPr/>
        </p:nvSpPr>
        <p:spPr>
          <a:xfrm>
            <a:off x="512064" y="3118104"/>
            <a:ext cx="1371600" cy="256032"/>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 Contacto</a:t>
            </a:r>
            <a:endParaRPr lang="en-US" sz="800" dirty="0"/>
          </a:p>
        </p:txBody>
      </p:sp>
      <p:sp>
        <p:nvSpPr>
          <p:cNvPr id="13" name="Text 11"/>
          <p:cNvSpPr/>
          <p:nvPr/>
        </p:nvSpPr>
        <p:spPr>
          <a:xfrm>
            <a:off x="512064" y="3502152"/>
            <a:ext cx="1371600" cy="256032"/>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 Admin ADM</a:t>
            </a:r>
            <a:endParaRPr lang="en-US" sz="800" dirty="0"/>
          </a:p>
        </p:txBody>
      </p:sp>
      <p:sp>
        <p:nvSpPr>
          <p:cNvPr id="14" name="Shape 12"/>
          <p:cNvSpPr/>
          <p:nvPr/>
        </p:nvSpPr>
        <p:spPr>
          <a:xfrm>
            <a:off x="1965960" y="1097280"/>
            <a:ext cx="6766560" cy="438912"/>
          </a:xfrm>
          <a:prstGeom prst="rect">
            <a:avLst/>
          </a:prstGeom>
          <a:solidFill>
            <a:srgbClr val="141726"/>
          </a:solidFill>
          <a:ln/>
        </p:spPr>
      </p:sp>
      <p:sp>
        <p:nvSpPr>
          <p:cNvPr id="15" name="Text 13"/>
          <p:cNvSpPr/>
          <p:nvPr/>
        </p:nvSpPr>
        <p:spPr>
          <a:xfrm>
            <a:off x="2029968" y="1161288"/>
            <a:ext cx="6583680" cy="274320"/>
          </a:xfrm>
          <a:prstGeom prst="rect">
            <a:avLst/>
          </a:prstGeom>
          <a:noFill/>
          <a:ln/>
        </p:spPr>
        <p:txBody>
          <a:bodyPr wrap="square" lIns="0" tIns="0" rIns="0" bIns="0" rtlCol="0" anchor="ctr"/>
          <a:lstStyle/>
          <a:p>
            <a:pPr indent="0" marL="0">
              <a:buNone/>
            </a:pPr>
            <a:r>
              <a:rPr lang="en-US" sz="800" dirty="0">
                <a:solidFill>
                  <a:srgbClr val="F5ECD7"/>
                </a:solidFill>
                <a:latin typeface="Calibri" pitchFamily="34" charset="0"/>
                <a:ea typeface="Calibri" pitchFamily="34" charset="-122"/>
                <a:cs typeface="Calibri" pitchFamily="34" charset="-120"/>
              </a:rPr>
              <a:t>☰  BOOKER  |  Biblioteca       🔍 Buscar libros...                👤  🛒 0</a:t>
            </a:r>
            <a:endParaRPr lang="en-US" sz="800" dirty="0"/>
          </a:p>
        </p:txBody>
      </p:sp>
      <p:sp>
        <p:nvSpPr>
          <p:cNvPr id="16" name="Shape 14"/>
          <p:cNvSpPr/>
          <p:nvPr/>
        </p:nvSpPr>
        <p:spPr>
          <a:xfrm>
            <a:off x="1965960" y="1536192"/>
            <a:ext cx="6766560" cy="1234440"/>
          </a:xfrm>
          <a:prstGeom prst="rect">
            <a:avLst/>
          </a:prstGeom>
          <a:solidFill>
            <a:srgbClr val="1A2744"/>
          </a:solidFill>
          <a:ln/>
        </p:spPr>
      </p:sp>
      <p:sp>
        <p:nvSpPr>
          <p:cNvPr id="17" name="Text 15"/>
          <p:cNvSpPr/>
          <p:nvPr/>
        </p:nvSpPr>
        <p:spPr>
          <a:xfrm>
            <a:off x="2103120" y="1600200"/>
            <a:ext cx="1097280" cy="228600"/>
          </a:xfrm>
          <a:prstGeom prst="rect">
            <a:avLst/>
          </a:prstGeom>
          <a:noFill/>
          <a:ln/>
        </p:spPr>
        <p:txBody>
          <a:bodyPr wrap="square" lIns="0" tIns="0" rIns="0" bIns="0" rtlCol="0" anchor="ctr"/>
          <a:lstStyle/>
          <a:p>
            <a:pPr indent="0" marL="0">
              <a:buNone/>
            </a:pPr>
            <a:r>
              <a:rPr lang="en-US" sz="700" dirty="0">
                <a:solidFill>
                  <a:srgbClr val="C9A96E"/>
                </a:solidFill>
                <a:latin typeface="Calibri" pitchFamily="34" charset="0"/>
                <a:ea typeface="Calibri" pitchFamily="34" charset="-122"/>
                <a:cs typeface="Calibri" pitchFamily="34" charset="-120"/>
              </a:rPr>
              <a:t>✦ NOVEDAD</a:t>
            </a:r>
            <a:endParaRPr lang="en-US" sz="700" dirty="0"/>
          </a:p>
        </p:txBody>
      </p:sp>
      <p:sp>
        <p:nvSpPr>
          <p:cNvPr id="18" name="Text 16"/>
          <p:cNvSpPr/>
          <p:nvPr/>
        </p:nvSpPr>
        <p:spPr>
          <a:xfrm>
            <a:off x="2103120" y="1828800"/>
            <a:ext cx="3657600" cy="36576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Explora Nuevos Mundos</a:t>
            </a:r>
            <a:endParaRPr lang="en-US" sz="1400" dirty="0"/>
          </a:p>
        </p:txBody>
      </p:sp>
      <p:sp>
        <p:nvSpPr>
          <p:cNvPr id="19" name="Text 17"/>
          <p:cNvSpPr/>
          <p:nvPr/>
        </p:nvSpPr>
        <p:spPr>
          <a:xfrm>
            <a:off x="2103120" y="2176272"/>
            <a:ext cx="3200400" cy="256032"/>
          </a:xfrm>
          <a:prstGeom prst="rect">
            <a:avLst/>
          </a:prstGeom>
          <a:noFill/>
          <a:ln/>
        </p:spPr>
        <p:txBody>
          <a:bodyPr wrap="square" lIns="0" tIns="0" rIns="0" bIns="0" rtlCol="0" anchor="ctr"/>
          <a:lstStyle/>
          <a:p>
            <a:pPr indent="0" marL="0">
              <a:buNone/>
            </a:pPr>
            <a:r>
              <a:rPr lang="en-US" sz="800" dirty="0">
                <a:solidFill>
                  <a:srgbClr val="F5ECD7"/>
                </a:solidFill>
                <a:latin typeface="Calibri" pitchFamily="34" charset="0"/>
                <a:ea typeface="Calibri" pitchFamily="34" charset="-122"/>
                <a:cs typeface="Calibri" pitchFamily="34" charset="-120"/>
              </a:rPr>
              <a:t>Descubre historias increíbles...</a:t>
            </a:r>
            <a:endParaRPr lang="en-US" sz="800" dirty="0"/>
          </a:p>
        </p:txBody>
      </p:sp>
      <p:sp>
        <p:nvSpPr>
          <p:cNvPr id="20" name="Shape 18"/>
          <p:cNvSpPr/>
          <p:nvPr/>
        </p:nvSpPr>
        <p:spPr>
          <a:xfrm>
            <a:off x="4937760" y="2578608"/>
            <a:ext cx="128016" cy="128016"/>
          </a:xfrm>
          <a:prstGeom prst="ellipse">
            <a:avLst/>
          </a:prstGeom>
          <a:solidFill>
            <a:srgbClr val="C9A96E"/>
          </a:solidFill>
          <a:ln/>
        </p:spPr>
      </p:sp>
      <p:sp>
        <p:nvSpPr>
          <p:cNvPr id="21" name="Shape 19"/>
          <p:cNvSpPr/>
          <p:nvPr/>
        </p:nvSpPr>
        <p:spPr>
          <a:xfrm>
            <a:off x="5193792" y="2578608"/>
            <a:ext cx="128016" cy="128016"/>
          </a:xfrm>
          <a:prstGeom prst="ellipse">
            <a:avLst/>
          </a:prstGeom>
          <a:solidFill>
            <a:srgbClr val="8A8FA8"/>
          </a:solidFill>
          <a:ln/>
        </p:spPr>
      </p:sp>
      <p:sp>
        <p:nvSpPr>
          <p:cNvPr id="22" name="Shape 20"/>
          <p:cNvSpPr/>
          <p:nvPr/>
        </p:nvSpPr>
        <p:spPr>
          <a:xfrm>
            <a:off x="5449824" y="2578608"/>
            <a:ext cx="128016" cy="128016"/>
          </a:xfrm>
          <a:prstGeom prst="ellipse">
            <a:avLst/>
          </a:prstGeom>
          <a:solidFill>
            <a:srgbClr val="8A8FA8"/>
          </a:solidFill>
          <a:ln/>
        </p:spPr>
      </p:sp>
      <p:sp>
        <p:nvSpPr>
          <p:cNvPr id="23" name="Text 21"/>
          <p:cNvSpPr/>
          <p:nvPr/>
        </p:nvSpPr>
        <p:spPr>
          <a:xfrm>
            <a:off x="2029968" y="2834640"/>
            <a:ext cx="3657600" cy="274320"/>
          </a:xfrm>
          <a:prstGeom prst="rect">
            <a:avLst/>
          </a:prstGeom>
          <a:noFill/>
          <a:ln/>
        </p:spPr>
        <p:txBody>
          <a:bodyPr wrap="square" lIns="0" tIns="0" rIns="0" bIns="0"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Libros Destacados</a:t>
            </a:r>
            <a:endParaRPr lang="en-US" sz="1000" dirty="0"/>
          </a:p>
        </p:txBody>
      </p:sp>
      <p:sp>
        <p:nvSpPr>
          <p:cNvPr id="24" name="Shape 22"/>
          <p:cNvSpPr/>
          <p:nvPr/>
        </p:nvSpPr>
        <p:spPr>
          <a:xfrm>
            <a:off x="1993392" y="3154680"/>
            <a:ext cx="2011680" cy="1554480"/>
          </a:xfrm>
          <a:prstGeom prst="roundRect">
            <a:avLst>
              <a:gd name="adj" fmla="val 5882"/>
            </a:avLst>
          </a:prstGeom>
          <a:solidFill>
            <a:srgbClr val="1E2235"/>
          </a:solidFill>
          <a:ln/>
        </p:spPr>
      </p:sp>
      <p:sp>
        <p:nvSpPr>
          <p:cNvPr id="25" name="Shape 23"/>
          <p:cNvSpPr/>
          <p:nvPr/>
        </p:nvSpPr>
        <p:spPr>
          <a:xfrm>
            <a:off x="1993392" y="3154680"/>
            <a:ext cx="2011680" cy="822960"/>
          </a:xfrm>
          <a:prstGeom prst="rect">
            <a:avLst/>
          </a:prstGeom>
          <a:solidFill>
            <a:srgbClr val="2A3A5C"/>
          </a:solidFill>
          <a:ln/>
        </p:spPr>
      </p:sp>
      <p:sp>
        <p:nvSpPr>
          <p:cNvPr id="26" name="Text 24"/>
          <p:cNvSpPr/>
          <p:nvPr/>
        </p:nvSpPr>
        <p:spPr>
          <a:xfrm>
            <a:off x="2048256" y="4005072"/>
            <a:ext cx="1901952" cy="25603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El Principito</a:t>
            </a:r>
            <a:endParaRPr lang="en-US" sz="800" dirty="0"/>
          </a:p>
        </p:txBody>
      </p:sp>
      <p:sp>
        <p:nvSpPr>
          <p:cNvPr id="27" name="Text 25"/>
          <p:cNvSpPr/>
          <p:nvPr/>
        </p:nvSpPr>
        <p:spPr>
          <a:xfrm>
            <a:off x="2048256" y="4279392"/>
            <a:ext cx="1901952" cy="201168"/>
          </a:xfrm>
          <a:prstGeom prst="rect">
            <a:avLst/>
          </a:prstGeom>
          <a:noFill/>
          <a:ln/>
        </p:spPr>
        <p:txBody>
          <a:bodyPr wrap="square" lIns="0" tIns="0" rIns="0" bIns="0" rtlCol="0" anchor="ctr"/>
          <a:lstStyle/>
          <a:p>
            <a:pPr indent="0" marL="0">
              <a:buNone/>
            </a:pPr>
            <a:r>
              <a:rPr lang="en-US" sz="700" dirty="0">
                <a:solidFill>
                  <a:srgbClr val="2EC4B6"/>
                </a:solidFill>
                <a:latin typeface="Calibri" pitchFamily="34" charset="0"/>
                <a:ea typeface="Calibri" pitchFamily="34" charset="-122"/>
                <a:cs typeface="Calibri" pitchFamily="34" charset="-120"/>
              </a:rPr>
              <a:t>✓ Disponible</a:t>
            </a:r>
            <a:endParaRPr lang="en-US" sz="700" dirty="0"/>
          </a:p>
        </p:txBody>
      </p:sp>
      <p:sp>
        <p:nvSpPr>
          <p:cNvPr id="28" name="Shape 26"/>
          <p:cNvSpPr/>
          <p:nvPr/>
        </p:nvSpPr>
        <p:spPr>
          <a:xfrm>
            <a:off x="4142232" y="3154680"/>
            <a:ext cx="2011680" cy="1554480"/>
          </a:xfrm>
          <a:prstGeom prst="roundRect">
            <a:avLst>
              <a:gd name="adj" fmla="val 5882"/>
            </a:avLst>
          </a:prstGeom>
          <a:solidFill>
            <a:srgbClr val="1E2235"/>
          </a:solidFill>
          <a:ln/>
        </p:spPr>
      </p:sp>
      <p:sp>
        <p:nvSpPr>
          <p:cNvPr id="29" name="Shape 27"/>
          <p:cNvSpPr/>
          <p:nvPr/>
        </p:nvSpPr>
        <p:spPr>
          <a:xfrm>
            <a:off x="4142232" y="3154680"/>
            <a:ext cx="2011680" cy="822960"/>
          </a:xfrm>
          <a:prstGeom prst="rect">
            <a:avLst/>
          </a:prstGeom>
          <a:solidFill>
            <a:srgbClr val="3A2A2C"/>
          </a:solidFill>
          <a:ln/>
        </p:spPr>
      </p:sp>
      <p:sp>
        <p:nvSpPr>
          <p:cNvPr id="30" name="Text 28"/>
          <p:cNvSpPr/>
          <p:nvPr/>
        </p:nvSpPr>
        <p:spPr>
          <a:xfrm>
            <a:off x="4197096" y="4005072"/>
            <a:ext cx="1901952" cy="25603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Cien Años de Soledad</a:t>
            </a:r>
            <a:endParaRPr lang="en-US" sz="800" dirty="0"/>
          </a:p>
        </p:txBody>
      </p:sp>
      <p:sp>
        <p:nvSpPr>
          <p:cNvPr id="31" name="Text 29"/>
          <p:cNvSpPr/>
          <p:nvPr/>
        </p:nvSpPr>
        <p:spPr>
          <a:xfrm>
            <a:off x="4197096" y="4279392"/>
            <a:ext cx="1901952" cy="201168"/>
          </a:xfrm>
          <a:prstGeom prst="rect">
            <a:avLst/>
          </a:prstGeom>
          <a:noFill/>
          <a:ln/>
        </p:spPr>
        <p:txBody>
          <a:bodyPr wrap="square" lIns="0" tIns="0" rIns="0" bIns="0" rtlCol="0" anchor="ctr"/>
          <a:lstStyle/>
          <a:p>
            <a:pPr indent="0" marL="0">
              <a:buNone/>
            </a:pPr>
            <a:r>
              <a:rPr lang="en-US" sz="700" dirty="0">
                <a:solidFill>
                  <a:srgbClr val="2EC4B6"/>
                </a:solidFill>
                <a:latin typeface="Calibri" pitchFamily="34" charset="0"/>
                <a:ea typeface="Calibri" pitchFamily="34" charset="-122"/>
                <a:cs typeface="Calibri" pitchFamily="34" charset="-120"/>
              </a:rPr>
              <a:t>✓ Disponible</a:t>
            </a:r>
            <a:endParaRPr lang="en-US" sz="700" dirty="0"/>
          </a:p>
        </p:txBody>
      </p:sp>
      <p:sp>
        <p:nvSpPr>
          <p:cNvPr id="32" name="Shape 30"/>
          <p:cNvSpPr/>
          <p:nvPr/>
        </p:nvSpPr>
        <p:spPr>
          <a:xfrm>
            <a:off x="6291072" y="3154680"/>
            <a:ext cx="2011680" cy="1554480"/>
          </a:xfrm>
          <a:prstGeom prst="roundRect">
            <a:avLst>
              <a:gd name="adj" fmla="val 5882"/>
            </a:avLst>
          </a:prstGeom>
          <a:solidFill>
            <a:srgbClr val="1E2235"/>
          </a:solidFill>
          <a:ln/>
        </p:spPr>
      </p:sp>
      <p:sp>
        <p:nvSpPr>
          <p:cNvPr id="33" name="Shape 31"/>
          <p:cNvSpPr/>
          <p:nvPr/>
        </p:nvSpPr>
        <p:spPr>
          <a:xfrm>
            <a:off x="6291072" y="3154680"/>
            <a:ext cx="2011680" cy="822960"/>
          </a:xfrm>
          <a:prstGeom prst="rect">
            <a:avLst/>
          </a:prstGeom>
          <a:solidFill>
            <a:srgbClr val="2A3A3C"/>
          </a:solidFill>
          <a:ln/>
        </p:spPr>
      </p:sp>
      <p:sp>
        <p:nvSpPr>
          <p:cNvPr id="34" name="Text 32"/>
          <p:cNvSpPr/>
          <p:nvPr/>
        </p:nvSpPr>
        <p:spPr>
          <a:xfrm>
            <a:off x="6345936" y="4005072"/>
            <a:ext cx="1901952" cy="256032"/>
          </a:xfrm>
          <a:prstGeom prst="rect">
            <a:avLst/>
          </a:prstGeom>
          <a:noFill/>
          <a:ln/>
        </p:spPr>
        <p:txBody>
          <a:bodyPr wrap="square" lIns="0" tIns="0" rIns="0" bIns="0" rtlCol="0" anchor="ctr"/>
          <a:lstStyle/>
          <a:p>
            <a:pPr indent="0" marL="0">
              <a:buNone/>
            </a:pPr>
            <a:r>
              <a:rPr lang="en-US" sz="800" b="1" dirty="0">
                <a:solidFill>
                  <a:srgbClr val="FFFFFF"/>
                </a:solidFill>
                <a:latin typeface="Calibri" pitchFamily="34" charset="0"/>
                <a:ea typeface="Calibri" pitchFamily="34" charset="-122"/>
                <a:cs typeface="Calibri" pitchFamily="34" charset="-120"/>
              </a:rPr>
              <a:t>Don Quijote</a:t>
            </a:r>
            <a:endParaRPr lang="en-US" sz="800" dirty="0"/>
          </a:p>
        </p:txBody>
      </p:sp>
      <p:sp>
        <p:nvSpPr>
          <p:cNvPr id="35" name="Text 33"/>
          <p:cNvSpPr/>
          <p:nvPr/>
        </p:nvSpPr>
        <p:spPr>
          <a:xfrm>
            <a:off x="6345936" y="4279392"/>
            <a:ext cx="1901952" cy="201168"/>
          </a:xfrm>
          <a:prstGeom prst="rect">
            <a:avLst/>
          </a:prstGeom>
          <a:noFill/>
          <a:ln/>
        </p:spPr>
        <p:txBody>
          <a:bodyPr wrap="square" lIns="0" tIns="0" rIns="0" bIns="0" rtlCol="0" anchor="ctr"/>
          <a:lstStyle/>
          <a:p>
            <a:pPr indent="0" marL="0">
              <a:buNone/>
            </a:pPr>
            <a:r>
              <a:rPr lang="en-US" sz="700" dirty="0">
                <a:solidFill>
                  <a:srgbClr val="2EC4B6"/>
                </a:solidFill>
                <a:latin typeface="Calibri" pitchFamily="34" charset="0"/>
                <a:ea typeface="Calibri" pitchFamily="34" charset="-122"/>
                <a:cs typeface="Calibri" pitchFamily="34" charset="-120"/>
              </a:rPr>
              <a:t>✓ Disponible</a:t>
            </a:r>
            <a:endParaRPr lang="en-US" sz="700" dirty="0"/>
          </a:p>
        </p:txBody>
      </p:sp>
      <p:sp>
        <p:nvSpPr>
          <p:cNvPr id="36" name="Shape 34"/>
          <p:cNvSpPr/>
          <p:nvPr/>
        </p:nvSpPr>
        <p:spPr>
          <a:xfrm>
            <a:off x="1618488" y="2148840"/>
            <a:ext cx="237744" cy="237744"/>
          </a:xfrm>
          <a:prstGeom prst="ellipse">
            <a:avLst/>
          </a:prstGeom>
          <a:solidFill>
            <a:srgbClr val="C9A96E"/>
          </a:solidFill>
          <a:ln/>
        </p:spPr>
      </p:sp>
      <p:sp>
        <p:nvSpPr>
          <p:cNvPr id="37" name="Text 35"/>
          <p:cNvSpPr/>
          <p:nvPr/>
        </p:nvSpPr>
        <p:spPr>
          <a:xfrm>
            <a:off x="1600200" y="2157984"/>
            <a:ext cx="274320" cy="219456"/>
          </a:xfrm>
          <a:prstGeom prst="rect">
            <a:avLst/>
          </a:prstGeom>
          <a:noFill/>
          <a:ln/>
        </p:spPr>
        <p:txBody>
          <a:bodyPr wrap="square" lIns="0" tIns="0" rIns="0" bIns="0" rtlCol="0" anchor="ctr"/>
          <a:lstStyle/>
          <a:p>
            <a:pPr algn="ctr" indent="0" marL="0">
              <a:buNone/>
            </a:pPr>
            <a:r>
              <a:rPr lang="en-US" sz="800" b="1" dirty="0">
                <a:solidFill>
                  <a:srgbClr val="0F1117"/>
                </a:solidFill>
                <a:latin typeface="Calibri" pitchFamily="34" charset="0"/>
                <a:ea typeface="Calibri" pitchFamily="34" charset="-122"/>
                <a:cs typeface="Calibri" pitchFamily="34" charset="-120"/>
              </a:rPr>
              <a:t>①</a:t>
            </a:r>
            <a:endParaRPr lang="en-US" sz="800" dirty="0"/>
          </a:p>
        </p:txBody>
      </p:sp>
      <p:sp>
        <p:nvSpPr>
          <p:cNvPr id="38" name="Shape 36"/>
          <p:cNvSpPr/>
          <p:nvPr/>
        </p:nvSpPr>
        <p:spPr>
          <a:xfrm>
            <a:off x="3172968" y="1115568"/>
            <a:ext cx="237744" cy="237744"/>
          </a:xfrm>
          <a:prstGeom prst="ellipse">
            <a:avLst/>
          </a:prstGeom>
          <a:solidFill>
            <a:srgbClr val="C9A96E"/>
          </a:solidFill>
          <a:ln/>
        </p:spPr>
      </p:sp>
      <p:sp>
        <p:nvSpPr>
          <p:cNvPr id="39" name="Text 37"/>
          <p:cNvSpPr/>
          <p:nvPr/>
        </p:nvSpPr>
        <p:spPr>
          <a:xfrm>
            <a:off x="3154680" y="1124712"/>
            <a:ext cx="274320" cy="219456"/>
          </a:xfrm>
          <a:prstGeom prst="rect">
            <a:avLst/>
          </a:prstGeom>
          <a:noFill/>
          <a:ln/>
        </p:spPr>
        <p:txBody>
          <a:bodyPr wrap="square" lIns="0" tIns="0" rIns="0" bIns="0" rtlCol="0" anchor="ctr"/>
          <a:lstStyle/>
          <a:p>
            <a:pPr algn="ctr" indent="0" marL="0">
              <a:buNone/>
            </a:pPr>
            <a:r>
              <a:rPr lang="en-US" sz="800" b="1" dirty="0">
                <a:solidFill>
                  <a:srgbClr val="0F1117"/>
                </a:solidFill>
                <a:latin typeface="Calibri" pitchFamily="34" charset="0"/>
                <a:ea typeface="Calibri" pitchFamily="34" charset="-122"/>
                <a:cs typeface="Calibri" pitchFamily="34" charset="-120"/>
              </a:rPr>
              <a:t>②</a:t>
            </a:r>
            <a:endParaRPr lang="en-US" sz="800" dirty="0"/>
          </a:p>
        </p:txBody>
      </p:sp>
      <p:sp>
        <p:nvSpPr>
          <p:cNvPr id="40" name="Shape 38"/>
          <p:cNvSpPr/>
          <p:nvPr/>
        </p:nvSpPr>
        <p:spPr>
          <a:xfrm>
            <a:off x="3172968" y="1554480"/>
            <a:ext cx="237744" cy="237744"/>
          </a:xfrm>
          <a:prstGeom prst="ellipse">
            <a:avLst/>
          </a:prstGeom>
          <a:solidFill>
            <a:srgbClr val="C9A96E"/>
          </a:solidFill>
          <a:ln/>
        </p:spPr>
      </p:sp>
      <p:sp>
        <p:nvSpPr>
          <p:cNvPr id="41" name="Text 39"/>
          <p:cNvSpPr/>
          <p:nvPr/>
        </p:nvSpPr>
        <p:spPr>
          <a:xfrm>
            <a:off x="3154680" y="1563624"/>
            <a:ext cx="274320" cy="219456"/>
          </a:xfrm>
          <a:prstGeom prst="rect">
            <a:avLst/>
          </a:prstGeom>
          <a:noFill/>
          <a:ln/>
        </p:spPr>
        <p:txBody>
          <a:bodyPr wrap="square" lIns="0" tIns="0" rIns="0" bIns="0" rtlCol="0" anchor="ctr"/>
          <a:lstStyle/>
          <a:p>
            <a:pPr algn="ctr" indent="0" marL="0">
              <a:buNone/>
            </a:pPr>
            <a:r>
              <a:rPr lang="en-US" sz="800" b="1" dirty="0">
                <a:solidFill>
                  <a:srgbClr val="0F1117"/>
                </a:solidFill>
                <a:latin typeface="Calibri" pitchFamily="34" charset="0"/>
                <a:ea typeface="Calibri" pitchFamily="34" charset="-122"/>
                <a:cs typeface="Calibri" pitchFamily="34" charset="-120"/>
              </a:rPr>
              <a:t>③</a:t>
            </a:r>
            <a:endParaRPr lang="en-US" sz="800" dirty="0"/>
          </a:p>
        </p:txBody>
      </p:sp>
      <p:sp>
        <p:nvSpPr>
          <p:cNvPr id="42" name="Shape 40"/>
          <p:cNvSpPr/>
          <p:nvPr/>
        </p:nvSpPr>
        <p:spPr>
          <a:xfrm>
            <a:off x="3172968" y="2816352"/>
            <a:ext cx="237744" cy="237744"/>
          </a:xfrm>
          <a:prstGeom prst="ellipse">
            <a:avLst/>
          </a:prstGeom>
          <a:solidFill>
            <a:srgbClr val="C9A96E"/>
          </a:solidFill>
          <a:ln/>
        </p:spPr>
      </p:sp>
      <p:sp>
        <p:nvSpPr>
          <p:cNvPr id="43" name="Text 41"/>
          <p:cNvSpPr/>
          <p:nvPr/>
        </p:nvSpPr>
        <p:spPr>
          <a:xfrm>
            <a:off x="3154680" y="2825496"/>
            <a:ext cx="274320" cy="219456"/>
          </a:xfrm>
          <a:prstGeom prst="rect">
            <a:avLst/>
          </a:prstGeom>
          <a:noFill/>
          <a:ln/>
        </p:spPr>
        <p:txBody>
          <a:bodyPr wrap="square" lIns="0" tIns="0" rIns="0" bIns="0" rtlCol="0" anchor="ctr"/>
          <a:lstStyle/>
          <a:p>
            <a:pPr algn="ctr" indent="0" marL="0">
              <a:buNone/>
            </a:pPr>
            <a:r>
              <a:rPr lang="en-US" sz="800" b="1" dirty="0">
                <a:solidFill>
                  <a:srgbClr val="0F1117"/>
                </a:solidFill>
                <a:latin typeface="Calibri" pitchFamily="34" charset="0"/>
                <a:ea typeface="Calibri" pitchFamily="34" charset="-122"/>
                <a:cs typeface="Calibri" pitchFamily="34" charset="-120"/>
              </a:rPr>
              <a:t>④</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A1D2E"/>
        </a:solidFill>
      </p:bgPr>
    </p:bg>
    <p:spTree>
      <p:nvGrpSpPr>
        <p:cNvPr id="1" name=""/>
        <p:cNvGrpSpPr/>
        <p:nvPr/>
      </p:nvGrpSpPr>
      <p:grpSpPr>
        <a:xfrm>
          <a:off x="0" y="0"/>
          <a:ext cx="0" cy="0"/>
          <a:chOff x="0" y="0"/>
          <a:chExt cx="0" cy="0"/>
        </a:xfrm>
      </p:grpSpPr>
      <p:sp>
        <p:nvSpPr>
          <p:cNvPr id="2" name="Text 0"/>
          <p:cNvSpPr/>
          <p:nvPr/>
        </p:nvSpPr>
        <p:spPr>
          <a:xfrm>
            <a:off x="457200" y="256032"/>
            <a:ext cx="8229600" cy="292608"/>
          </a:xfrm>
          <a:prstGeom prst="rect">
            <a:avLst/>
          </a:prstGeom>
          <a:noFill/>
          <a:ln/>
        </p:spPr>
        <p:txBody>
          <a:bodyPr wrap="square" lIns="0" tIns="0" rIns="0" bIns="0" rtlCol="0" anchor="ctr"/>
          <a:lstStyle/>
          <a:p>
            <a:pPr indent="0" marL="0">
              <a:buNone/>
            </a:pPr>
            <a:r>
              <a:rPr lang="en-US" sz="1000" spc="400" kern="0" dirty="0">
                <a:solidFill>
                  <a:srgbClr val="2EC4B6"/>
                </a:solidFill>
                <a:latin typeface="Calibri" pitchFamily="34" charset="0"/>
                <a:ea typeface="Calibri" pitchFamily="34" charset="-122"/>
                <a:cs typeface="Calibri" pitchFamily="34" charset="-120"/>
              </a:rPr>
              <a:t>FUNCIONALIDADES</a:t>
            </a:r>
            <a:endParaRPr lang="en-US" sz="1000" dirty="0"/>
          </a:p>
        </p:txBody>
      </p:sp>
      <p:sp>
        <p:nvSpPr>
          <p:cNvPr id="3" name="Text 1"/>
          <p:cNvSpPr/>
          <p:nvPr/>
        </p:nvSpPr>
        <p:spPr>
          <a:xfrm>
            <a:off x="457200" y="530352"/>
            <a:ext cx="8229600" cy="53035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Todo lo que BOOKER puede hacer por ti</a:t>
            </a:r>
            <a:endParaRPr lang="en-US" sz="2200" dirty="0"/>
          </a:p>
        </p:txBody>
      </p:sp>
      <p:sp>
        <p:nvSpPr>
          <p:cNvPr id="4" name="Shape 2"/>
          <p:cNvSpPr/>
          <p:nvPr/>
        </p:nvSpPr>
        <p:spPr>
          <a:xfrm>
            <a:off x="365760" y="1261872"/>
            <a:ext cx="2606040" cy="1508760"/>
          </a:xfrm>
          <a:prstGeom prst="roundRect">
            <a:avLst>
              <a:gd name="adj" fmla="val 7879"/>
            </a:avLst>
          </a:prstGeom>
          <a:solidFill>
            <a:srgbClr val="1E2235"/>
          </a:solidFill>
          <a:ln/>
          <a:effectLst>
            <a:outerShdw sx="100000" sy="100000" kx="0" ky="0" algn="bl" rotWithShape="0" blurRad="152400" dist="50800" dir="2700000">
              <a:srgbClr val="000000">
                <a:alpha val="35000"/>
              </a:srgbClr>
            </a:outerShdw>
          </a:effectLst>
        </p:spPr>
      </p:sp>
      <p:sp>
        <p:nvSpPr>
          <p:cNvPr id="5" name="Shape 3"/>
          <p:cNvSpPr/>
          <p:nvPr/>
        </p:nvSpPr>
        <p:spPr>
          <a:xfrm>
            <a:off x="502920" y="1517904"/>
            <a:ext cx="502920" cy="502920"/>
          </a:xfrm>
          <a:prstGeom prst="ellipse">
            <a:avLst/>
          </a:prstGeom>
          <a:solidFill>
            <a:srgbClr val="1C2F3E"/>
          </a:solidFill>
          <a:ln/>
        </p:spPr>
      </p:sp>
      <p:pic>
        <p:nvPicPr>
          <p:cNvPr id="6" name="Image 0" descr="preencoded.png">    </p:cNvPr>
          <p:cNvPicPr>
            <a:picLocks noChangeAspect="1"/>
          </p:cNvPicPr>
          <p:nvPr/>
        </p:nvPicPr>
        <p:blipFill>
          <a:blip r:embed="rId1"/>
          <a:stretch>
            <a:fillRect/>
          </a:stretch>
        </p:blipFill>
        <p:spPr>
          <a:xfrm>
            <a:off x="566928" y="1572768"/>
            <a:ext cx="374904" cy="374904"/>
          </a:xfrm>
          <a:prstGeom prst="rect">
            <a:avLst/>
          </a:prstGeom>
        </p:spPr>
      </p:pic>
      <p:sp>
        <p:nvSpPr>
          <p:cNvPr id="7" name="Text 4"/>
          <p:cNvSpPr/>
          <p:nvPr/>
        </p:nvSpPr>
        <p:spPr>
          <a:xfrm>
            <a:off x="1115568" y="1444752"/>
            <a:ext cx="173736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Búsqueda inteligente</a:t>
            </a:r>
            <a:endParaRPr lang="en-US" sz="1100" dirty="0"/>
          </a:p>
        </p:txBody>
      </p:sp>
      <p:sp>
        <p:nvSpPr>
          <p:cNvPr id="8" name="Text 5"/>
          <p:cNvSpPr/>
          <p:nvPr/>
        </p:nvSpPr>
        <p:spPr>
          <a:xfrm>
            <a:off x="1115568" y="1828800"/>
            <a:ext cx="1737360" cy="777240"/>
          </a:xfrm>
          <a:prstGeom prst="rect">
            <a:avLst/>
          </a:prstGeom>
          <a:noFill/>
          <a:ln/>
        </p:spPr>
        <p:txBody>
          <a:bodyPr wrap="square" lIns="0" tIns="0" rIns="0" bIns="0" rtlCol="0" anchor="ctr"/>
          <a:lstStyle/>
          <a:p>
            <a:pPr indent="0" marL="0">
              <a:buNone/>
            </a:pPr>
            <a:r>
              <a:rPr lang="en-US" sz="950" dirty="0">
                <a:solidFill>
                  <a:srgbClr val="8A8FA8"/>
                </a:solidFill>
                <a:latin typeface="Calibri" pitchFamily="34" charset="0"/>
                <a:ea typeface="Calibri" pitchFamily="34" charset="-122"/>
                <a:cs typeface="Calibri" pitchFamily="34" charset="-120"/>
              </a:rPr>
              <a:t>Filtra por título, autor o género. Resultados en tiempo real.</a:t>
            </a:r>
            <a:endParaRPr lang="en-US" sz="950" dirty="0"/>
          </a:p>
        </p:txBody>
      </p:sp>
      <p:sp>
        <p:nvSpPr>
          <p:cNvPr id="9" name="Shape 6"/>
          <p:cNvSpPr/>
          <p:nvPr/>
        </p:nvSpPr>
        <p:spPr>
          <a:xfrm>
            <a:off x="3200400" y="1261872"/>
            <a:ext cx="2606040" cy="1508760"/>
          </a:xfrm>
          <a:prstGeom prst="roundRect">
            <a:avLst>
              <a:gd name="adj" fmla="val 7879"/>
            </a:avLst>
          </a:prstGeom>
          <a:solidFill>
            <a:srgbClr val="1E2235"/>
          </a:solidFill>
          <a:ln/>
          <a:effectLst>
            <a:outerShdw sx="100000" sy="100000" kx="0" ky="0" algn="bl" rotWithShape="0" blurRad="152400" dist="50800" dir="2700000">
              <a:srgbClr val="000000">
                <a:alpha val="35000"/>
              </a:srgbClr>
            </a:outerShdw>
          </a:effectLst>
        </p:spPr>
      </p:sp>
      <p:sp>
        <p:nvSpPr>
          <p:cNvPr id="10" name="Shape 7"/>
          <p:cNvSpPr/>
          <p:nvPr/>
        </p:nvSpPr>
        <p:spPr>
          <a:xfrm>
            <a:off x="3337560" y="1517904"/>
            <a:ext cx="502920" cy="502920"/>
          </a:xfrm>
          <a:prstGeom prst="ellipse">
            <a:avLst/>
          </a:prstGeom>
          <a:solidFill>
            <a:srgbClr val="1C2F3E"/>
          </a:solidFill>
          <a:ln/>
        </p:spPr>
      </p:sp>
      <p:pic>
        <p:nvPicPr>
          <p:cNvPr id="11" name="Image 1" descr="preencoded.png">    </p:cNvPr>
          <p:cNvPicPr>
            <a:picLocks noChangeAspect="1"/>
          </p:cNvPicPr>
          <p:nvPr/>
        </p:nvPicPr>
        <p:blipFill>
          <a:blip r:embed="rId2"/>
          <a:stretch>
            <a:fillRect/>
          </a:stretch>
        </p:blipFill>
        <p:spPr>
          <a:xfrm>
            <a:off x="3401568" y="1572768"/>
            <a:ext cx="374904" cy="374904"/>
          </a:xfrm>
          <a:prstGeom prst="rect">
            <a:avLst/>
          </a:prstGeom>
        </p:spPr>
      </p:pic>
      <p:sp>
        <p:nvSpPr>
          <p:cNvPr id="12" name="Text 8"/>
          <p:cNvSpPr/>
          <p:nvPr/>
        </p:nvSpPr>
        <p:spPr>
          <a:xfrm>
            <a:off x="3950208" y="1444752"/>
            <a:ext cx="173736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Catálogo completo</a:t>
            </a:r>
            <a:endParaRPr lang="en-US" sz="1100" dirty="0"/>
          </a:p>
        </p:txBody>
      </p:sp>
      <p:sp>
        <p:nvSpPr>
          <p:cNvPr id="13" name="Text 9"/>
          <p:cNvSpPr/>
          <p:nvPr/>
        </p:nvSpPr>
        <p:spPr>
          <a:xfrm>
            <a:off x="3950208" y="1828800"/>
            <a:ext cx="1737360" cy="777240"/>
          </a:xfrm>
          <a:prstGeom prst="rect">
            <a:avLst/>
          </a:prstGeom>
          <a:noFill/>
          <a:ln/>
        </p:spPr>
        <p:txBody>
          <a:bodyPr wrap="square" lIns="0" tIns="0" rIns="0" bIns="0" rtlCol="0" anchor="ctr"/>
          <a:lstStyle/>
          <a:p>
            <a:pPr indent="0" marL="0">
              <a:buNone/>
            </a:pPr>
            <a:r>
              <a:rPr lang="en-US" sz="950" dirty="0">
                <a:solidFill>
                  <a:srgbClr val="8A8FA8"/>
                </a:solidFill>
                <a:latin typeface="Calibri" pitchFamily="34" charset="0"/>
                <a:ea typeface="Calibri" pitchFamily="34" charset="-122"/>
                <a:cs typeface="Calibri" pitchFamily="34" charset="-120"/>
              </a:rPr>
              <a:t>Vista Rápida con modal, sinopsis y estado de disponibilidad.</a:t>
            </a:r>
            <a:endParaRPr lang="en-US" sz="950" dirty="0"/>
          </a:p>
        </p:txBody>
      </p:sp>
      <p:sp>
        <p:nvSpPr>
          <p:cNvPr id="14" name="Shape 10"/>
          <p:cNvSpPr/>
          <p:nvPr/>
        </p:nvSpPr>
        <p:spPr>
          <a:xfrm>
            <a:off x="6035040" y="1261872"/>
            <a:ext cx="2606040" cy="1508760"/>
          </a:xfrm>
          <a:prstGeom prst="roundRect">
            <a:avLst>
              <a:gd name="adj" fmla="val 7879"/>
            </a:avLst>
          </a:prstGeom>
          <a:solidFill>
            <a:srgbClr val="1E2235"/>
          </a:solidFill>
          <a:ln/>
          <a:effectLst>
            <a:outerShdw sx="100000" sy="100000" kx="0" ky="0" algn="bl" rotWithShape="0" blurRad="152400" dist="50800" dir="2700000">
              <a:srgbClr val="000000">
                <a:alpha val="35000"/>
              </a:srgbClr>
            </a:outerShdw>
          </a:effectLst>
        </p:spPr>
      </p:sp>
      <p:sp>
        <p:nvSpPr>
          <p:cNvPr id="15" name="Shape 11"/>
          <p:cNvSpPr/>
          <p:nvPr/>
        </p:nvSpPr>
        <p:spPr>
          <a:xfrm>
            <a:off x="6172200" y="1517904"/>
            <a:ext cx="502920" cy="502920"/>
          </a:xfrm>
          <a:prstGeom prst="ellipse">
            <a:avLst/>
          </a:prstGeom>
          <a:solidFill>
            <a:srgbClr val="1C2F3E"/>
          </a:solidFill>
          <a:ln/>
        </p:spPr>
      </p:sp>
      <p:pic>
        <p:nvPicPr>
          <p:cNvPr id="16" name="Image 2" descr="preencoded.png">    </p:cNvPr>
          <p:cNvPicPr>
            <a:picLocks noChangeAspect="1"/>
          </p:cNvPicPr>
          <p:nvPr/>
        </p:nvPicPr>
        <p:blipFill>
          <a:blip r:embed="rId3"/>
          <a:stretch>
            <a:fillRect/>
          </a:stretch>
        </p:blipFill>
        <p:spPr>
          <a:xfrm>
            <a:off x="6236208" y="1572768"/>
            <a:ext cx="374904" cy="374904"/>
          </a:xfrm>
          <a:prstGeom prst="rect">
            <a:avLst/>
          </a:prstGeom>
        </p:spPr>
      </p:pic>
      <p:sp>
        <p:nvSpPr>
          <p:cNvPr id="17" name="Text 12"/>
          <p:cNvSpPr/>
          <p:nvPr/>
        </p:nvSpPr>
        <p:spPr>
          <a:xfrm>
            <a:off x="6784848" y="1444752"/>
            <a:ext cx="173736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Favoritos</a:t>
            </a:r>
            <a:endParaRPr lang="en-US" sz="1100" dirty="0"/>
          </a:p>
        </p:txBody>
      </p:sp>
      <p:sp>
        <p:nvSpPr>
          <p:cNvPr id="18" name="Text 13"/>
          <p:cNvSpPr/>
          <p:nvPr/>
        </p:nvSpPr>
        <p:spPr>
          <a:xfrm>
            <a:off x="6784848" y="1828800"/>
            <a:ext cx="1737360" cy="777240"/>
          </a:xfrm>
          <a:prstGeom prst="rect">
            <a:avLst/>
          </a:prstGeom>
          <a:noFill/>
          <a:ln/>
        </p:spPr>
        <p:txBody>
          <a:bodyPr wrap="square" lIns="0" tIns="0" rIns="0" bIns="0" rtlCol="0" anchor="ctr"/>
          <a:lstStyle/>
          <a:p>
            <a:pPr indent="0" marL="0">
              <a:buNone/>
            </a:pPr>
            <a:r>
              <a:rPr lang="en-US" sz="950" dirty="0">
                <a:solidFill>
                  <a:srgbClr val="8A8FA8"/>
                </a:solidFill>
                <a:latin typeface="Calibri" pitchFamily="34" charset="0"/>
                <a:ea typeface="Calibri" pitchFamily="34" charset="-122"/>
                <a:cs typeface="Calibri" pitchFamily="34" charset="-120"/>
              </a:rPr>
              <a:t>Lista personalizada guardada en Local Storage. Persiste entre sesiones.</a:t>
            </a:r>
            <a:endParaRPr lang="en-US" sz="950" dirty="0"/>
          </a:p>
        </p:txBody>
      </p:sp>
      <p:sp>
        <p:nvSpPr>
          <p:cNvPr id="19" name="Shape 14"/>
          <p:cNvSpPr/>
          <p:nvPr/>
        </p:nvSpPr>
        <p:spPr>
          <a:xfrm>
            <a:off x="365760" y="2953512"/>
            <a:ext cx="2606040" cy="1508760"/>
          </a:xfrm>
          <a:prstGeom prst="roundRect">
            <a:avLst>
              <a:gd name="adj" fmla="val 7879"/>
            </a:avLst>
          </a:prstGeom>
          <a:solidFill>
            <a:srgbClr val="1E2235"/>
          </a:solidFill>
          <a:ln/>
          <a:effectLst>
            <a:outerShdw sx="100000" sy="100000" kx="0" ky="0" algn="bl" rotWithShape="0" blurRad="152400" dist="50800" dir="2700000">
              <a:srgbClr val="000000">
                <a:alpha val="35000"/>
              </a:srgbClr>
            </a:outerShdw>
          </a:effectLst>
        </p:spPr>
      </p:sp>
      <p:sp>
        <p:nvSpPr>
          <p:cNvPr id="20" name="Shape 15"/>
          <p:cNvSpPr/>
          <p:nvPr/>
        </p:nvSpPr>
        <p:spPr>
          <a:xfrm>
            <a:off x="502920" y="3209544"/>
            <a:ext cx="502920" cy="502920"/>
          </a:xfrm>
          <a:prstGeom prst="ellipse">
            <a:avLst/>
          </a:prstGeom>
          <a:solidFill>
            <a:srgbClr val="1C2E2E"/>
          </a:solidFill>
          <a:ln/>
        </p:spPr>
      </p:sp>
      <p:pic>
        <p:nvPicPr>
          <p:cNvPr id="21" name="Image 3" descr="preencoded.png">    </p:cNvPr>
          <p:cNvPicPr>
            <a:picLocks noChangeAspect="1"/>
          </p:cNvPicPr>
          <p:nvPr/>
        </p:nvPicPr>
        <p:blipFill>
          <a:blip r:embed="rId4"/>
          <a:stretch>
            <a:fillRect/>
          </a:stretch>
        </p:blipFill>
        <p:spPr>
          <a:xfrm>
            <a:off x="566928" y="3264408"/>
            <a:ext cx="374904" cy="374904"/>
          </a:xfrm>
          <a:prstGeom prst="rect">
            <a:avLst/>
          </a:prstGeom>
        </p:spPr>
      </p:pic>
      <p:sp>
        <p:nvSpPr>
          <p:cNvPr id="22" name="Text 16"/>
          <p:cNvSpPr/>
          <p:nvPr/>
        </p:nvSpPr>
        <p:spPr>
          <a:xfrm>
            <a:off x="1115568" y="3136392"/>
            <a:ext cx="173736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Carrito de préstamos</a:t>
            </a:r>
            <a:endParaRPr lang="en-US" sz="1100" dirty="0"/>
          </a:p>
        </p:txBody>
      </p:sp>
      <p:sp>
        <p:nvSpPr>
          <p:cNvPr id="23" name="Text 17"/>
          <p:cNvSpPr/>
          <p:nvPr/>
        </p:nvSpPr>
        <p:spPr>
          <a:xfrm>
            <a:off x="1115568" y="3520440"/>
            <a:ext cx="1737360" cy="777240"/>
          </a:xfrm>
          <a:prstGeom prst="rect">
            <a:avLst/>
          </a:prstGeom>
          <a:noFill/>
          <a:ln/>
        </p:spPr>
        <p:txBody>
          <a:bodyPr wrap="square" lIns="0" tIns="0" rIns="0" bIns="0" rtlCol="0" anchor="ctr"/>
          <a:lstStyle/>
          <a:p>
            <a:pPr indent="0" marL="0">
              <a:buNone/>
            </a:pPr>
            <a:r>
              <a:rPr lang="en-US" sz="950" dirty="0">
                <a:solidFill>
                  <a:srgbClr val="8A8FA8"/>
                </a:solidFill>
                <a:latin typeface="Calibri" pitchFamily="34" charset="0"/>
                <a:ea typeface="Calibri" pitchFamily="34" charset="-122"/>
                <a:cs typeface="Calibri" pitchFamily="34" charset="-120"/>
              </a:rPr>
              <a:t>Acumula varios libros y envía una solicitud masiva al admin.</a:t>
            </a:r>
            <a:endParaRPr lang="en-US" sz="950" dirty="0"/>
          </a:p>
        </p:txBody>
      </p:sp>
      <p:sp>
        <p:nvSpPr>
          <p:cNvPr id="24" name="Shape 18"/>
          <p:cNvSpPr/>
          <p:nvPr/>
        </p:nvSpPr>
        <p:spPr>
          <a:xfrm>
            <a:off x="3200400" y="2953512"/>
            <a:ext cx="2606040" cy="1508760"/>
          </a:xfrm>
          <a:prstGeom prst="roundRect">
            <a:avLst>
              <a:gd name="adj" fmla="val 7879"/>
            </a:avLst>
          </a:prstGeom>
          <a:solidFill>
            <a:srgbClr val="1E2235"/>
          </a:solidFill>
          <a:ln/>
          <a:effectLst>
            <a:outerShdw sx="100000" sy="100000" kx="0" ky="0" algn="bl" rotWithShape="0" blurRad="152400" dist="50800" dir="2700000">
              <a:srgbClr val="000000">
                <a:alpha val="35000"/>
              </a:srgbClr>
            </a:outerShdw>
          </a:effectLst>
        </p:spPr>
      </p:sp>
      <p:sp>
        <p:nvSpPr>
          <p:cNvPr id="25" name="Shape 19"/>
          <p:cNvSpPr/>
          <p:nvPr/>
        </p:nvSpPr>
        <p:spPr>
          <a:xfrm>
            <a:off x="3337560" y="3209544"/>
            <a:ext cx="502920" cy="502920"/>
          </a:xfrm>
          <a:prstGeom prst="ellipse">
            <a:avLst/>
          </a:prstGeom>
          <a:solidFill>
            <a:srgbClr val="1C2E2E"/>
          </a:solidFill>
          <a:ln/>
        </p:spPr>
      </p:sp>
      <p:pic>
        <p:nvPicPr>
          <p:cNvPr id="26" name="Image 4" descr="preencoded.png">    </p:cNvPr>
          <p:cNvPicPr>
            <a:picLocks noChangeAspect="1"/>
          </p:cNvPicPr>
          <p:nvPr/>
        </p:nvPicPr>
        <p:blipFill>
          <a:blip r:embed="rId5"/>
          <a:stretch>
            <a:fillRect/>
          </a:stretch>
        </p:blipFill>
        <p:spPr>
          <a:xfrm>
            <a:off x="3401568" y="3264408"/>
            <a:ext cx="374904" cy="374904"/>
          </a:xfrm>
          <a:prstGeom prst="rect">
            <a:avLst/>
          </a:prstGeom>
        </p:spPr>
      </p:pic>
      <p:sp>
        <p:nvSpPr>
          <p:cNvPr id="27" name="Text 20"/>
          <p:cNvSpPr/>
          <p:nvPr/>
        </p:nvSpPr>
        <p:spPr>
          <a:xfrm>
            <a:off x="3950208" y="3136392"/>
            <a:ext cx="173736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Panel de administración</a:t>
            </a:r>
            <a:endParaRPr lang="en-US" sz="1100" dirty="0"/>
          </a:p>
        </p:txBody>
      </p:sp>
      <p:sp>
        <p:nvSpPr>
          <p:cNvPr id="28" name="Text 21"/>
          <p:cNvSpPr/>
          <p:nvPr/>
        </p:nvSpPr>
        <p:spPr>
          <a:xfrm>
            <a:off x="3950208" y="3520440"/>
            <a:ext cx="1737360" cy="777240"/>
          </a:xfrm>
          <a:prstGeom prst="rect">
            <a:avLst/>
          </a:prstGeom>
          <a:noFill/>
          <a:ln/>
        </p:spPr>
        <p:txBody>
          <a:bodyPr wrap="square" lIns="0" tIns="0" rIns="0" bIns="0" rtlCol="0" anchor="ctr"/>
          <a:lstStyle/>
          <a:p>
            <a:pPr indent="0" marL="0">
              <a:buNone/>
            </a:pPr>
            <a:r>
              <a:rPr lang="en-US" sz="950" dirty="0">
                <a:solidFill>
                  <a:srgbClr val="8A8FA8"/>
                </a:solidFill>
                <a:latin typeface="Calibri" pitchFamily="34" charset="0"/>
                <a:ea typeface="Calibri" pitchFamily="34" charset="-122"/>
                <a:cs typeface="Calibri" pitchFamily="34" charset="-120"/>
              </a:rPr>
              <a:t>Acceso restringido con gestión completa de libros y usuarios.</a:t>
            </a:r>
            <a:endParaRPr lang="en-US" sz="950" dirty="0"/>
          </a:p>
        </p:txBody>
      </p:sp>
      <p:sp>
        <p:nvSpPr>
          <p:cNvPr id="29" name="Shape 22"/>
          <p:cNvSpPr/>
          <p:nvPr/>
        </p:nvSpPr>
        <p:spPr>
          <a:xfrm>
            <a:off x="6035040" y="2953512"/>
            <a:ext cx="2606040" cy="1508760"/>
          </a:xfrm>
          <a:prstGeom prst="roundRect">
            <a:avLst>
              <a:gd name="adj" fmla="val 7879"/>
            </a:avLst>
          </a:prstGeom>
          <a:solidFill>
            <a:srgbClr val="1E2235"/>
          </a:solidFill>
          <a:ln/>
          <a:effectLst>
            <a:outerShdw sx="100000" sy="100000" kx="0" ky="0" algn="bl" rotWithShape="0" blurRad="152400" dist="50800" dir="2700000">
              <a:srgbClr val="000000">
                <a:alpha val="35000"/>
              </a:srgbClr>
            </a:outerShdw>
          </a:effectLst>
        </p:spPr>
      </p:sp>
      <p:sp>
        <p:nvSpPr>
          <p:cNvPr id="30" name="Shape 23"/>
          <p:cNvSpPr/>
          <p:nvPr/>
        </p:nvSpPr>
        <p:spPr>
          <a:xfrm>
            <a:off x="6172200" y="3209544"/>
            <a:ext cx="502920" cy="502920"/>
          </a:xfrm>
          <a:prstGeom prst="ellipse">
            <a:avLst/>
          </a:prstGeom>
          <a:solidFill>
            <a:srgbClr val="1C2E2E"/>
          </a:solidFill>
          <a:ln/>
        </p:spPr>
      </p:sp>
      <p:pic>
        <p:nvPicPr>
          <p:cNvPr id="31" name="Image 5" descr="preencoded.png">    </p:cNvPr>
          <p:cNvPicPr>
            <a:picLocks noChangeAspect="1"/>
          </p:cNvPicPr>
          <p:nvPr/>
        </p:nvPicPr>
        <p:blipFill>
          <a:blip r:embed="rId6"/>
          <a:stretch>
            <a:fillRect/>
          </a:stretch>
        </p:blipFill>
        <p:spPr>
          <a:xfrm>
            <a:off x="6236208" y="3264408"/>
            <a:ext cx="374904" cy="374904"/>
          </a:xfrm>
          <a:prstGeom prst="rect">
            <a:avLst/>
          </a:prstGeom>
        </p:spPr>
      </p:pic>
      <p:sp>
        <p:nvSpPr>
          <p:cNvPr id="32" name="Text 24"/>
          <p:cNvSpPr/>
          <p:nvPr/>
        </p:nvSpPr>
        <p:spPr>
          <a:xfrm>
            <a:off x="6784848" y="3136392"/>
            <a:ext cx="1737360" cy="36576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Historial &amp; reportes</a:t>
            </a:r>
            <a:endParaRPr lang="en-US" sz="1100" dirty="0"/>
          </a:p>
        </p:txBody>
      </p:sp>
      <p:sp>
        <p:nvSpPr>
          <p:cNvPr id="33" name="Text 25"/>
          <p:cNvSpPr/>
          <p:nvPr/>
        </p:nvSpPr>
        <p:spPr>
          <a:xfrm>
            <a:off x="6784848" y="3520440"/>
            <a:ext cx="1737360" cy="777240"/>
          </a:xfrm>
          <a:prstGeom prst="rect">
            <a:avLst/>
          </a:prstGeom>
          <a:noFill/>
          <a:ln/>
        </p:spPr>
        <p:txBody>
          <a:bodyPr wrap="square" lIns="0" tIns="0" rIns="0" bIns="0" rtlCol="0" anchor="ctr"/>
          <a:lstStyle/>
          <a:p>
            <a:pPr indent="0" marL="0">
              <a:buNone/>
            </a:pPr>
            <a:r>
              <a:rPr lang="en-US" sz="950" dirty="0">
                <a:solidFill>
                  <a:srgbClr val="8A8FA8"/>
                </a:solidFill>
                <a:latin typeface="Calibri" pitchFamily="34" charset="0"/>
                <a:ea typeface="Calibri" pitchFamily="34" charset="-122"/>
                <a:cs typeface="Calibri" pitchFamily="34" charset="-120"/>
              </a:rPr>
              <a:t>Ver préstamos pasados por usuario, estados devuelto / en posesión.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256032"/>
            <a:ext cx="8229600" cy="292608"/>
          </a:xfrm>
          <a:prstGeom prst="rect">
            <a:avLst/>
          </a:prstGeom>
          <a:noFill/>
          <a:ln/>
        </p:spPr>
        <p:txBody>
          <a:bodyPr wrap="square" lIns="0" tIns="0" rIns="0" bIns="0" rtlCol="0" anchor="ctr"/>
          <a:lstStyle/>
          <a:p>
            <a:pPr indent="0" marL="0">
              <a:buNone/>
            </a:pPr>
            <a:r>
              <a:rPr lang="en-US" sz="1000" spc="400" kern="0" dirty="0">
                <a:solidFill>
                  <a:srgbClr val="C9A96E"/>
                </a:solidFill>
                <a:latin typeface="Calibri" pitchFamily="34" charset="0"/>
                <a:ea typeface="Calibri" pitchFamily="34" charset="-122"/>
                <a:cs typeface="Calibri" pitchFamily="34" charset="-120"/>
              </a:rPr>
              <a:t>PANEL DE ADMINISTRACIÓN</a:t>
            </a:r>
            <a:endParaRPr lang="en-US" sz="1000" dirty="0"/>
          </a:p>
        </p:txBody>
      </p:sp>
      <p:sp>
        <p:nvSpPr>
          <p:cNvPr id="3" name="Text 1"/>
          <p:cNvSpPr/>
          <p:nvPr/>
        </p:nvSpPr>
        <p:spPr>
          <a:xfrm>
            <a:off x="457200" y="530352"/>
            <a:ext cx="8229600" cy="53035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Control total en manos del administrador</a:t>
            </a:r>
            <a:endParaRPr lang="en-US" sz="2200" dirty="0"/>
          </a:p>
        </p:txBody>
      </p:sp>
      <p:sp>
        <p:nvSpPr>
          <p:cNvPr id="4" name="Shape 2"/>
          <p:cNvSpPr/>
          <p:nvPr/>
        </p:nvSpPr>
        <p:spPr>
          <a:xfrm>
            <a:off x="411480" y="1261872"/>
            <a:ext cx="2606040" cy="1280160"/>
          </a:xfrm>
          <a:prstGeom prst="roundRect">
            <a:avLst>
              <a:gd name="adj" fmla="val 8571"/>
            </a:avLst>
          </a:prstGeom>
          <a:solidFill>
            <a:srgbClr val="252A3D"/>
          </a:solidFill>
          <a:ln w="19050">
            <a:solidFill>
              <a:srgbClr val="C9A96E"/>
            </a:solidFill>
            <a:prstDash val="solid"/>
          </a:ln>
          <a:effectLst>
            <a:outerShdw sx="100000" sy="100000" kx="0" ky="0" algn="bl" rotWithShape="0" blurRad="152400" dist="50800" dir="2700000">
              <a:srgbClr val="000000">
                <a:alpha val="35000"/>
              </a:srgbClr>
            </a:outerShdw>
          </a:effectLst>
        </p:spPr>
      </p:sp>
      <p:pic>
        <p:nvPicPr>
          <p:cNvPr id="5" name="Image 0" descr="preencoded.png">    </p:cNvPr>
          <p:cNvPicPr>
            <a:picLocks noChangeAspect="1"/>
          </p:cNvPicPr>
          <p:nvPr/>
        </p:nvPicPr>
        <p:blipFill>
          <a:blip r:embed="rId1"/>
          <a:stretch>
            <a:fillRect/>
          </a:stretch>
        </p:blipFill>
        <p:spPr>
          <a:xfrm>
            <a:off x="594360" y="1417320"/>
            <a:ext cx="502920" cy="502920"/>
          </a:xfrm>
          <a:prstGeom prst="rect">
            <a:avLst/>
          </a:prstGeom>
        </p:spPr>
      </p:pic>
      <p:sp>
        <p:nvSpPr>
          <p:cNvPr id="6" name="Text 3"/>
          <p:cNvSpPr/>
          <p:nvPr/>
        </p:nvSpPr>
        <p:spPr>
          <a:xfrm>
            <a:off x="1188720" y="1371600"/>
            <a:ext cx="169164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 × Agregar / Eliminar</a:t>
            </a:r>
            <a:endParaRPr lang="en-US" sz="1100" dirty="0"/>
          </a:p>
        </p:txBody>
      </p:sp>
      <p:sp>
        <p:nvSpPr>
          <p:cNvPr id="7" name="Text 4"/>
          <p:cNvSpPr/>
          <p:nvPr/>
        </p:nvSpPr>
        <p:spPr>
          <a:xfrm>
            <a:off x="1188720" y="1801368"/>
            <a:ext cx="1691640" cy="274320"/>
          </a:xfrm>
          <a:prstGeom prst="rect">
            <a:avLst/>
          </a:prstGeom>
          <a:noFill/>
          <a:ln/>
        </p:spPr>
        <p:txBody>
          <a:bodyPr wrap="square" lIns="0" tIns="0" rIns="0" bIns="0" rtlCol="0" anchor="ctr"/>
          <a:lstStyle/>
          <a:p>
            <a:pPr indent="0" marL="0">
              <a:buNone/>
            </a:pPr>
            <a:r>
              <a:rPr lang="en-US" sz="900" dirty="0">
                <a:solidFill>
                  <a:srgbClr val="8A8FA8"/>
                </a:solidFill>
                <a:latin typeface="Calibri" pitchFamily="34" charset="0"/>
                <a:ea typeface="Calibri" pitchFamily="34" charset="-122"/>
                <a:cs typeface="Calibri" pitchFamily="34" charset="-120"/>
              </a:rPr>
              <a:t>Gestionar catálogo</a:t>
            </a:r>
            <a:endParaRPr lang="en-US" sz="900" dirty="0"/>
          </a:p>
        </p:txBody>
      </p:sp>
      <p:sp>
        <p:nvSpPr>
          <p:cNvPr id="8" name="Shape 5"/>
          <p:cNvSpPr/>
          <p:nvPr/>
        </p:nvSpPr>
        <p:spPr>
          <a:xfrm>
            <a:off x="3200400" y="1261872"/>
            <a:ext cx="2606040" cy="1280160"/>
          </a:xfrm>
          <a:prstGeom prst="roundRect">
            <a:avLst>
              <a:gd name="adj" fmla="val 8571"/>
            </a:avLst>
          </a:prstGeom>
          <a:solidFill>
            <a:srgbClr val="252A3D"/>
          </a:solidFill>
          <a:ln w="19050">
            <a:solidFill>
              <a:srgbClr val="2EC4B6"/>
            </a:solidFill>
            <a:prstDash val="solid"/>
          </a:ln>
          <a:effectLst>
            <a:outerShdw sx="100000" sy="100000" kx="0" ky="0" algn="bl" rotWithShape="0" blurRad="152400" dist="50800" dir="2700000">
              <a:srgbClr val="000000">
                <a:alpha val="35000"/>
              </a:srgbClr>
            </a:outerShdw>
          </a:effectLst>
        </p:spPr>
      </p:sp>
      <p:pic>
        <p:nvPicPr>
          <p:cNvPr id="9" name="Image 1" descr="preencoded.png">    </p:cNvPr>
          <p:cNvPicPr>
            <a:picLocks noChangeAspect="1"/>
          </p:cNvPicPr>
          <p:nvPr/>
        </p:nvPicPr>
        <p:blipFill>
          <a:blip r:embed="rId2"/>
          <a:stretch>
            <a:fillRect/>
          </a:stretch>
        </p:blipFill>
        <p:spPr>
          <a:xfrm>
            <a:off x="3383280" y="1417320"/>
            <a:ext cx="502920" cy="502920"/>
          </a:xfrm>
          <a:prstGeom prst="rect">
            <a:avLst/>
          </a:prstGeom>
        </p:spPr>
      </p:pic>
      <p:sp>
        <p:nvSpPr>
          <p:cNvPr id="10" name="Text 6"/>
          <p:cNvSpPr/>
          <p:nvPr/>
        </p:nvSpPr>
        <p:spPr>
          <a:xfrm>
            <a:off x="3977640" y="1371600"/>
            <a:ext cx="169164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Editar Libros</a:t>
            </a:r>
            <a:endParaRPr lang="en-US" sz="1100" dirty="0"/>
          </a:p>
        </p:txBody>
      </p:sp>
      <p:sp>
        <p:nvSpPr>
          <p:cNvPr id="11" name="Text 7"/>
          <p:cNvSpPr/>
          <p:nvPr/>
        </p:nvSpPr>
        <p:spPr>
          <a:xfrm>
            <a:off x="3977640" y="1801368"/>
            <a:ext cx="1691640" cy="274320"/>
          </a:xfrm>
          <a:prstGeom prst="rect">
            <a:avLst/>
          </a:prstGeom>
          <a:noFill/>
          <a:ln/>
        </p:spPr>
        <p:txBody>
          <a:bodyPr wrap="square" lIns="0" tIns="0" rIns="0" bIns="0" rtlCol="0" anchor="ctr"/>
          <a:lstStyle/>
          <a:p>
            <a:pPr indent="0" marL="0">
              <a:buNone/>
            </a:pPr>
            <a:r>
              <a:rPr lang="en-US" sz="900" dirty="0">
                <a:solidFill>
                  <a:srgbClr val="8A8FA8"/>
                </a:solidFill>
                <a:latin typeface="Calibri" pitchFamily="34" charset="0"/>
                <a:ea typeface="Calibri" pitchFamily="34" charset="-122"/>
                <a:cs typeface="Calibri" pitchFamily="34" charset="-120"/>
              </a:rPr>
              <a:t>Modificar información</a:t>
            </a:r>
            <a:endParaRPr lang="en-US" sz="900" dirty="0"/>
          </a:p>
        </p:txBody>
      </p:sp>
      <p:sp>
        <p:nvSpPr>
          <p:cNvPr id="12" name="Shape 8"/>
          <p:cNvSpPr/>
          <p:nvPr/>
        </p:nvSpPr>
        <p:spPr>
          <a:xfrm>
            <a:off x="5989320" y="1261872"/>
            <a:ext cx="2606040" cy="1280160"/>
          </a:xfrm>
          <a:prstGeom prst="roundRect">
            <a:avLst>
              <a:gd name="adj" fmla="val 8571"/>
            </a:avLst>
          </a:prstGeom>
          <a:solidFill>
            <a:srgbClr val="252A3D"/>
          </a:solidFill>
          <a:ln w="19050">
            <a:solidFill>
              <a:srgbClr val="C9A96E"/>
            </a:solidFill>
            <a:prstDash val="solid"/>
          </a:ln>
          <a:effectLst>
            <a:outerShdw sx="100000" sy="100000" kx="0" ky="0" algn="bl" rotWithShape="0" blurRad="152400" dist="50800" dir="2700000">
              <a:srgbClr val="000000">
                <a:alpha val="35000"/>
              </a:srgbClr>
            </a:outerShdw>
          </a:effectLst>
        </p:spPr>
      </p:sp>
      <p:pic>
        <p:nvPicPr>
          <p:cNvPr id="13" name="Image 2" descr="preencoded.png">    </p:cNvPr>
          <p:cNvPicPr>
            <a:picLocks noChangeAspect="1"/>
          </p:cNvPicPr>
          <p:nvPr/>
        </p:nvPicPr>
        <p:blipFill>
          <a:blip r:embed="rId3"/>
          <a:stretch>
            <a:fillRect/>
          </a:stretch>
        </p:blipFill>
        <p:spPr>
          <a:xfrm>
            <a:off x="6172200" y="1417320"/>
            <a:ext cx="502920" cy="502920"/>
          </a:xfrm>
          <a:prstGeom prst="rect">
            <a:avLst/>
          </a:prstGeom>
        </p:spPr>
      </p:pic>
      <p:sp>
        <p:nvSpPr>
          <p:cNvPr id="14" name="Text 9"/>
          <p:cNvSpPr/>
          <p:nvPr/>
        </p:nvSpPr>
        <p:spPr>
          <a:xfrm>
            <a:off x="6766560" y="1371600"/>
            <a:ext cx="1691640" cy="41148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Usuarios Registrados</a:t>
            </a:r>
            <a:endParaRPr lang="en-US" sz="1100" dirty="0"/>
          </a:p>
        </p:txBody>
      </p:sp>
      <p:sp>
        <p:nvSpPr>
          <p:cNvPr id="15" name="Text 10"/>
          <p:cNvSpPr/>
          <p:nvPr/>
        </p:nvSpPr>
        <p:spPr>
          <a:xfrm>
            <a:off x="6766560" y="1801368"/>
            <a:ext cx="1691640" cy="274320"/>
          </a:xfrm>
          <a:prstGeom prst="rect">
            <a:avLst/>
          </a:prstGeom>
          <a:noFill/>
          <a:ln/>
        </p:spPr>
        <p:txBody>
          <a:bodyPr wrap="square" lIns="0" tIns="0" rIns="0" bIns="0" rtlCol="0" anchor="ctr"/>
          <a:lstStyle/>
          <a:p>
            <a:pPr indent="0" marL="0">
              <a:buNone/>
            </a:pPr>
            <a:r>
              <a:rPr lang="en-US" sz="900" dirty="0">
                <a:solidFill>
                  <a:srgbClr val="8A8FA8"/>
                </a:solidFill>
                <a:latin typeface="Calibri" pitchFamily="34" charset="0"/>
                <a:ea typeface="Calibri" pitchFamily="34" charset="-122"/>
                <a:cs typeface="Calibri" pitchFamily="34" charset="-120"/>
              </a:rPr>
              <a:t>Ver miembros e historial</a:t>
            </a:r>
            <a:endParaRPr lang="en-US" sz="900" dirty="0"/>
          </a:p>
        </p:txBody>
      </p:sp>
      <p:sp>
        <p:nvSpPr>
          <p:cNvPr id="16" name="Shape 11"/>
          <p:cNvSpPr/>
          <p:nvPr/>
        </p:nvSpPr>
        <p:spPr>
          <a:xfrm>
            <a:off x="411480" y="2743200"/>
            <a:ext cx="8321040" cy="2057400"/>
          </a:xfrm>
          <a:prstGeom prst="roundRect">
            <a:avLst>
              <a:gd name="adj" fmla="val 5333"/>
            </a:avLst>
          </a:prstGeom>
          <a:solidFill>
            <a:srgbClr val="131825"/>
          </a:solidFill>
          <a:ln w="19050">
            <a:solidFill>
              <a:srgbClr val="2EC4B6"/>
            </a:solidFill>
            <a:prstDash val="solid"/>
          </a:ln>
          <a:effectLst>
            <a:outerShdw sx="100000" sy="100000" kx="0" ky="0" algn="bl" rotWithShape="0" blurRad="152400" dist="50800" dir="2700000">
              <a:srgbClr val="000000">
                <a:alpha val="35000"/>
              </a:srgbClr>
            </a:outerShdw>
          </a:effectLst>
        </p:spPr>
      </p:sp>
      <p:pic>
        <p:nvPicPr>
          <p:cNvPr id="17" name="Image 3" descr="preencoded.png">    </p:cNvPr>
          <p:cNvPicPr>
            <a:picLocks noChangeAspect="1"/>
          </p:cNvPicPr>
          <p:nvPr/>
        </p:nvPicPr>
        <p:blipFill>
          <a:blip r:embed="rId4"/>
          <a:stretch>
            <a:fillRect/>
          </a:stretch>
        </p:blipFill>
        <p:spPr>
          <a:xfrm>
            <a:off x="594360" y="2880360"/>
            <a:ext cx="365760" cy="365760"/>
          </a:xfrm>
          <a:prstGeom prst="rect">
            <a:avLst/>
          </a:prstGeom>
        </p:spPr>
      </p:pic>
      <p:sp>
        <p:nvSpPr>
          <p:cNvPr id="18" name="Text 12"/>
          <p:cNvSpPr/>
          <p:nvPr/>
        </p:nvSpPr>
        <p:spPr>
          <a:xfrm>
            <a:off x="1051560" y="2880360"/>
            <a:ext cx="6858000" cy="320040"/>
          </a:xfrm>
          <a:prstGeom prst="rect">
            <a:avLst/>
          </a:prstGeom>
          <a:noFill/>
          <a:ln/>
        </p:spPr>
        <p:txBody>
          <a:bodyPr wrap="square" lIns="0" tIns="0" rIns="0" bIns="0" rtlCol="0" anchor="ctr"/>
          <a:lstStyle/>
          <a:p>
            <a:pPr indent="0" marL="0">
              <a:buNone/>
            </a:pPr>
            <a:r>
              <a:rPr lang="en-US" sz="1300" b="1" dirty="0">
                <a:solidFill>
                  <a:srgbClr val="2EC4B6"/>
                </a:solidFill>
                <a:latin typeface="Calibri" pitchFamily="34" charset="0"/>
                <a:ea typeface="Calibri" pitchFamily="34" charset="-122"/>
                <a:cs typeface="Calibri" pitchFamily="34" charset="-120"/>
              </a:rPr>
              <a:t>Bandeja de Solicitudes Pendientes</a:t>
            </a:r>
            <a:endParaRPr lang="en-US" sz="1300" dirty="0"/>
          </a:p>
        </p:txBody>
      </p:sp>
      <p:sp>
        <p:nvSpPr>
          <p:cNvPr id="19" name="Shape 13"/>
          <p:cNvSpPr/>
          <p:nvPr/>
        </p:nvSpPr>
        <p:spPr>
          <a:xfrm>
            <a:off x="594360" y="3337560"/>
            <a:ext cx="7955280" cy="457200"/>
          </a:xfrm>
          <a:prstGeom prst="roundRect">
            <a:avLst>
              <a:gd name="adj" fmla="val 16000"/>
            </a:avLst>
          </a:prstGeom>
          <a:solidFill>
            <a:srgbClr val="1E2235"/>
          </a:solidFill>
          <a:ln/>
        </p:spPr>
      </p:sp>
      <p:sp>
        <p:nvSpPr>
          <p:cNvPr id="20" name="Text 14"/>
          <p:cNvSpPr/>
          <p:nvPr/>
        </p:nvSpPr>
        <p:spPr>
          <a:xfrm>
            <a:off x="777240" y="3410712"/>
            <a:ext cx="5486400" cy="292608"/>
          </a:xfrm>
          <a:prstGeom prst="rect">
            <a:avLst/>
          </a:prstGeom>
          <a:noFill/>
          <a:ln/>
        </p:spPr>
        <p:txBody>
          <a:bodyPr wrap="square" lIns="0" tIns="0" rIns="0" bIns="0" rtlCol="0" anchor="ctr"/>
          <a:lstStyle/>
          <a:p>
            <a:pPr indent="0" marL="0">
              <a:buNone/>
            </a:pPr>
            <a:r>
              <a:rPr lang="en-US" sz="1000" dirty="0">
                <a:solidFill>
                  <a:srgbClr val="F5ECD7"/>
                </a:solidFill>
                <a:latin typeface="Calibri" pitchFamily="34" charset="0"/>
                <a:ea typeface="Calibri" pitchFamily="34" charset="-122"/>
                <a:cs typeface="Calibri" pitchFamily="34" charset="-120"/>
              </a:rPr>
              <a:t>👤 María Gómez   |   📖 "Cien años de soledad"   |   📅 22/06/2026</a:t>
            </a:r>
            <a:endParaRPr lang="en-US" sz="1000" dirty="0"/>
          </a:p>
        </p:txBody>
      </p:sp>
      <p:sp>
        <p:nvSpPr>
          <p:cNvPr id="21" name="Shape 15"/>
          <p:cNvSpPr/>
          <p:nvPr/>
        </p:nvSpPr>
        <p:spPr>
          <a:xfrm>
            <a:off x="6400800" y="3410712"/>
            <a:ext cx="822960" cy="292608"/>
          </a:xfrm>
          <a:prstGeom prst="roundRect">
            <a:avLst>
              <a:gd name="adj" fmla="val 18750"/>
            </a:avLst>
          </a:prstGeom>
          <a:solidFill>
            <a:srgbClr val="1A4A2E"/>
          </a:solidFill>
          <a:ln w="12700">
            <a:solidFill>
              <a:srgbClr val="2EC4B6"/>
            </a:solidFill>
            <a:prstDash val="solid"/>
          </a:ln>
        </p:spPr>
      </p:sp>
      <p:sp>
        <p:nvSpPr>
          <p:cNvPr id="22" name="Text 16"/>
          <p:cNvSpPr/>
          <p:nvPr/>
        </p:nvSpPr>
        <p:spPr>
          <a:xfrm>
            <a:off x="6419088" y="3429000"/>
            <a:ext cx="786384" cy="228600"/>
          </a:xfrm>
          <a:prstGeom prst="rect">
            <a:avLst/>
          </a:prstGeom>
          <a:noFill/>
          <a:ln/>
        </p:spPr>
        <p:txBody>
          <a:bodyPr wrap="square" lIns="0" tIns="0" rIns="0" bIns="0" rtlCol="0" anchor="ctr"/>
          <a:lstStyle/>
          <a:p>
            <a:pPr algn="ctr" indent="0" marL="0">
              <a:buNone/>
            </a:pPr>
            <a:r>
              <a:rPr lang="en-US" sz="800" b="1" dirty="0">
                <a:solidFill>
                  <a:srgbClr val="2EC4B6"/>
                </a:solidFill>
                <a:latin typeface="Calibri" pitchFamily="34" charset="0"/>
                <a:ea typeface="Calibri" pitchFamily="34" charset="-122"/>
                <a:cs typeface="Calibri" pitchFamily="34" charset="-120"/>
              </a:rPr>
              <a:t>✓ Aprobar</a:t>
            </a:r>
            <a:endParaRPr lang="en-US" sz="800" dirty="0"/>
          </a:p>
        </p:txBody>
      </p:sp>
      <p:sp>
        <p:nvSpPr>
          <p:cNvPr id="23" name="Shape 17"/>
          <p:cNvSpPr/>
          <p:nvPr/>
        </p:nvSpPr>
        <p:spPr>
          <a:xfrm>
            <a:off x="7296912" y="3410712"/>
            <a:ext cx="822960" cy="292608"/>
          </a:xfrm>
          <a:prstGeom prst="roundRect">
            <a:avLst>
              <a:gd name="adj" fmla="val 18750"/>
            </a:avLst>
          </a:prstGeom>
          <a:solidFill>
            <a:srgbClr val="3A1A1A"/>
          </a:solidFill>
          <a:ln w="12700">
            <a:solidFill>
              <a:srgbClr val="E84855"/>
            </a:solidFill>
            <a:prstDash val="solid"/>
          </a:ln>
        </p:spPr>
      </p:sp>
      <p:sp>
        <p:nvSpPr>
          <p:cNvPr id="24" name="Text 18"/>
          <p:cNvSpPr/>
          <p:nvPr/>
        </p:nvSpPr>
        <p:spPr>
          <a:xfrm>
            <a:off x="7315200" y="3429000"/>
            <a:ext cx="786384" cy="228600"/>
          </a:xfrm>
          <a:prstGeom prst="rect">
            <a:avLst/>
          </a:prstGeom>
          <a:noFill/>
          <a:ln/>
        </p:spPr>
        <p:txBody>
          <a:bodyPr wrap="square" lIns="0" tIns="0" rIns="0" bIns="0" rtlCol="0" anchor="ctr"/>
          <a:lstStyle/>
          <a:p>
            <a:pPr algn="ctr" indent="0" marL="0">
              <a:buNone/>
            </a:pPr>
            <a:r>
              <a:rPr lang="en-US" sz="800" b="1" dirty="0">
                <a:solidFill>
                  <a:srgbClr val="E84855"/>
                </a:solidFill>
                <a:latin typeface="Calibri" pitchFamily="34" charset="0"/>
                <a:ea typeface="Calibri" pitchFamily="34" charset="-122"/>
                <a:cs typeface="Calibri" pitchFamily="34" charset="-120"/>
              </a:rPr>
              <a:t>✕ Rechazar</a:t>
            </a:r>
            <a:endParaRPr lang="en-US" sz="800" dirty="0"/>
          </a:p>
        </p:txBody>
      </p:sp>
      <p:sp>
        <p:nvSpPr>
          <p:cNvPr id="25" name="Shape 19"/>
          <p:cNvSpPr/>
          <p:nvPr/>
        </p:nvSpPr>
        <p:spPr>
          <a:xfrm>
            <a:off x="594360" y="3904488"/>
            <a:ext cx="7955280" cy="457200"/>
          </a:xfrm>
          <a:prstGeom prst="roundRect">
            <a:avLst>
              <a:gd name="adj" fmla="val 16000"/>
            </a:avLst>
          </a:prstGeom>
          <a:solidFill>
            <a:srgbClr val="1E2235"/>
          </a:solidFill>
          <a:ln/>
        </p:spPr>
      </p:sp>
      <p:sp>
        <p:nvSpPr>
          <p:cNvPr id="26" name="Text 20"/>
          <p:cNvSpPr/>
          <p:nvPr/>
        </p:nvSpPr>
        <p:spPr>
          <a:xfrm>
            <a:off x="777240" y="3977640"/>
            <a:ext cx="5486400" cy="292608"/>
          </a:xfrm>
          <a:prstGeom prst="rect">
            <a:avLst/>
          </a:prstGeom>
          <a:noFill/>
          <a:ln/>
        </p:spPr>
        <p:txBody>
          <a:bodyPr wrap="square" lIns="0" tIns="0" rIns="0" bIns="0" rtlCol="0" anchor="ctr"/>
          <a:lstStyle/>
          <a:p>
            <a:pPr indent="0" marL="0">
              <a:buNone/>
            </a:pPr>
            <a:r>
              <a:rPr lang="en-US" sz="1000" dirty="0">
                <a:solidFill>
                  <a:srgbClr val="F5ECD7"/>
                </a:solidFill>
                <a:latin typeface="Calibri" pitchFamily="34" charset="0"/>
                <a:ea typeface="Calibri" pitchFamily="34" charset="-122"/>
                <a:cs typeface="Calibri" pitchFamily="34" charset="-120"/>
              </a:rPr>
              <a:t>👤 Carlos Pérez   |   📖 "El Principito"   |   📅 22/06/2026</a:t>
            </a:r>
            <a:endParaRPr lang="en-US" sz="1000" dirty="0"/>
          </a:p>
        </p:txBody>
      </p:sp>
      <p:sp>
        <p:nvSpPr>
          <p:cNvPr id="27" name="Shape 21"/>
          <p:cNvSpPr/>
          <p:nvPr/>
        </p:nvSpPr>
        <p:spPr>
          <a:xfrm>
            <a:off x="6400800" y="3977640"/>
            <a:ext cx="822960" cy="292608"/>
          </a:xfrm>
          <a:prstGeom prst="roundRect">
            <a:avLst>
              <a:gd name="adj" fmla="val 18750"/>
            </a:avLst>
          </a:prstGeom>
          <a:solidFill>
            <a:srgbClr val="1A4A2E"/>
          </a:solidFill>
          <a:ln w="12700">
            <a:solidFill>
              <a:srgbClr val="2EC4B6"/>
            </a:solidFill>
            <a:prstDash val="solid"/>
          </a:ln>
        </p:spPr>
      </p:sp>
      <p:sp>
        <p:nvSpPr>
          <p:cNvPr id="28" name="Text 22"/>
          <p:cNvSpPr/>
          <p:nvPr/>
        </p:nvSpPr>
        <p:spPr>
          <a:xfrm>
            <a:off x="6419088" y="3995928"/>
            <a:ext cx="786384" cy="228600"/>
          </a:xfrm>
          <a:prstGeom prst="rect">
            <a:avLst/>
          </a:prstGeom>
          <a:noFill/>
          <a:ln/>
        </p:spPr>
        <p:txBody>
          <a:bodyPr wrap="square" lIns="0" tIns="0" rIns="0" bIns="0" rtlCol="0" anchor="ctr"/>
          <a:lstStyle/>
          <a:p>
            <a:pPr algn="ctr" indent="0" marL="0">
              <a:buNone/>
            </a:pPr>
            <a:r>
              <a:rPr lang="en-US" sz="800" b="1" dirty="0">
                <a:solidFill>
                  <a:srgbClr val="2EC4B6"/>
                </a:solidFill>
                <a:latin typeface="Calibri" pitchFamily="34" charset="0"/>
                <a:ea typeface="Calibri" pitchFamily="34" charset="-122"/>
                <a:cs typeface="Calibri" pitchFamily="34" charset="-120"/>
              </a:rPr>
              <a:t>✓ Aprobar</a:t>
            </a:r>
            <a:endParaRPr lang="en-US" sz="800" dirty="0"/>
          </a:p>
        </p:txBody>
      </p:sp>
      <p:sp>
        <p:nvSpPr>
          <p:cNvPr id="29" name="Shape 23"/>
          <p:cNvSpPr/>
          <p:nvPr/>
        </p:nvSpPr>
        <p:spPr>
          <a:xfrm>
            <a:off x="7296912" y="3977640"/>
            <a:ext cx="822960" cy="292608"/>
          </a:xfrm>
          <a:prstGeom prst="roundRect">
            <a:avLst>
              <a:gd name="adj" fmla="val 18750"/>
            </a:avLst>
          </a:prstGeom>
          <a:solidFill>
            <a:srgbClr val="3A1A1A"/>
          </a:solidFill>
          <a:ln w="12700">
            <a:solidFill>
              <a:srgbClr val="E84855"/>
            </a:solidFill>
            <a:prstDash val="solid"/>
          </a:ln>
        </p:spPr>
      </p:sp>
      <p:sp>
        <p:nvSpPr>
          <p:cNvPr id="30" name="Text 24"/>
          <p:cNvSpPr/>
          <p:nvPr/>
        </p:nvSpPr>
        <p:spPr>
          <a:xfrm>
            <a:off x="7315200" y="3995928"/>
            <a:ext cx="786384" cy="228600"/>
          </a:xfrm>
          <a:prstGeom prst="rect">
            <a:avLst/>
          </a:prstGeom>
          <a:noFill/>
          <a:ln/>
        </p:spPr>
        <p:txBody>
          <a:bodyPr wrap="square" lIns="0" tIns="0" rIns="0" bIns="0" rtlCol="0" anchor="ctr"/>
          <a:lstStyle/>
          <a:p>
            <a:pPr algn="ctr" indent="0" marL="0">
              <a:buNone/>
            </a:pPr>
            <a:r>
              <a:rPr lang="en-US" sz="800" b="1" dirty="0">
                <a:solidFill>
                  <a:srgbClr val="E84855"/>
                </a:solidFill>
                <a:latin typeface="Calibri" pitchFamily="34" charset="0"/>
                <a:ea typeface="Calibri" pitchFamily="34" charset="-122"/>
                <a:cs typeface="Calibri" pitchFamily="34" charset="-120"/>
              </a:rPr>
              <a:t>✕ Rechazar</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D2E"/>
        </a:solidFill>
      </p:bgPr>
    </p:bg>
    <p:spTree>
      <p:nvGrpSpPr>
        <p:cNvPr id="1" name=""/>
        <p:cNvGrpSpPr/>
        <p:nvPr/>
      </p:nvGrpSpPr>
      <p:grpSpPr>
        <a:xfrm>
          <a:off x="0" y="0"/>
          <a:ext cx="0" cy="0"/>
          <a:chOff x="0" y="0"/>
          <a:chExt cx="0" cy="0"/>
        </a:xfrm>
      </p:grpSpPr>
      <p:sp>
        <p:nvSpPr>
          <p:cNvPr id="2" name="Text 0"/>
          <p:cNvSpPr/>
          <p:nvPr/>
        </p:nvSpPr>
        <p:spPr>
          <a:xfrm>
            <a:off x="457200" y="256032"/>
            <a:ext cx="8229600" cy="292608"/>
          </a:xfrm>
          <a:prstGeom prst="rect">
            <a:avLst/>
          </a:prstGeom>
          <a:noFill/>
          <a:ln/>
        </p:spPr>
        <p:txBody>
          <a:bodyPr wrap="square" lIns="0" tIns="0" rIns="0" bIns="0" rtlCol="0" anchor="ctr"/>
          <a:lstStyle/>
          <a:p>
            <a:pPr indent="0" marL="0">
              <a:buNone/>
            </a:pPr>
            <a:r>
              <a:rPr lang="en-US" sz="1000" spc="400" kern="0" dirty="0">
                <a:solidFill>
                  <a:srgbClr val="2EC4B6"/>
                </a:solidFill>
                <a:latin typeface="Calibri" pitchFamily="34" charset="0"/>
                <a:ea typeface="Calibri" pitchFamily="34" charset="-122"/>
                <a:cs typeface="Calibri" pitchFamily="34" charset="-120"/>
              </a:rPr>
              <a:t>STAKEHOLDERS</a:t>
            </a:r>
            <a:endParaRPr lang="en-US" sz="1000" dirty="0"/>
          </a:p>
        </p:txBody>
      </p:sp>
      <p:sp>
        <p:nvSpPr>
          <p:cNvPr id="3" name="Text 1"/>
          <p:cNvSpPr/>
          <p:nvPr/>
        </p:nvSpPr>
        <p:spPr>
          <a:xfrm>
            <a:off x="457200" y="530352"/>
            <a:ext cx="8229600" cy="53035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¿Quiénes están involucrados en BOOKER?</a:t>
            </a:r>
            <a:endParaRPr lang="en-US" sz="2200" dirty="0"/>
          </a:p>
        </p:txBody>
      </p:sp>
      <p:sp>
        <p:nvSpPr>
          <p:cNvPr id="4" name="Shape 2"/>
          <p:cNvSpPr/>
          <p:nvPr/>
        </p:nvSpPr>
        <p:spPr>
          <a:xfrm>
            <a:off x="457200" y="1234440"/>
            <a:ext cx="4846320" cy="3611880"/>
          </a:xfrm>
          <a:prstGeom prst="rect">
            <a:avLst/>
          </a:prstGeom>
          <a:solidFill>
            <a:srgbClr val="0C0F1A"/>
          </a:solidFill>
          <a:ln w="12700">
            <a:solidFill>
              <a:srgbClr val="2A2F45"/>
            </a:solidFill>
            <a:prstDash val="solid"/>
          </a:ln>
        </p:spPr>
      </p:sp>
      <p:sp>
        <p:nvSpPr>
          <p:cNvPr id="5" name="Text 3"/>
          <p:cNvSpPr/>
          <p:nvPr/>
        </p:nvSpPr>
        <p:spPr>
          <a:xfrm>
            <a:off x="475488" y="1261872"/>
            <a:ext cx="1097280" cy="256032"/>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INFLUENCIA ▲</a:t>
            </a:r>
            <a:endParaRPr lang="en-US" sz="800" dirty="0"/>
          </a:p>
        </p:txBody>
      </p:sp>
      <p:sp>
        <p:nvSpPr>
          <p:cNvPr id="6" name="Text 4"/>
          <p:cNvSpPr/>
          <p:nvPr/>
        </p:nvSpPr>
        <p:spPr>
          <a:xfrm>
            <a:off x="4389120" y="4553712"/>
            <a:ext cx="914400" cy="256032"/>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INTERÉS →</a:t>
            </a:r>
            <a:endParaRPr lang="en-US" sz="800" dirty="0"/>
          </a:p>
        </p:txBody>
      </p:sp>
      <p:sp>
        <p:nvSpPr>
          <p:cNvPr id="7" name="Shape 5"/>
          <p:cNvSpPr/>
          <p:nvPr/>
        </p:nvSpPr>
        <p:spPr>
          <a:xfrm>
            <a:off x="457200" y="1234440"/>
            <a:ext cx="2176272" cy="1188720"/>
          </a:xfrm>
          <a:prstGeom prst="rect">
            <a:avLst/>
          </a:prstGeom>
          <a:solidFill>
            <a:srgbClr val="1A2E1A"/>
          </a:solidFill>
          <a:ln w="12700">
            <a:solidFill>
              <a:srgbClr val="2EC4B6"/>
            </a:solidFill>
            <a:prstDash val="solid"/>
          </a:ln>
        </p:spPr>
      </p:sp>
      <p:sp>
        <p:nvSpPr>
          <p:cNvPr id="8" name="Text 6"/>
          <p:cNvSpPr/>
          <p:nvPr/>
        </p:nvSpPr>
        <p:spPr>
          <a:xfrm>
            <a:off x="530352" y="1289304"/>
            <a:ext cx="2011680" cy="256032"/>
          </a:xfrm>
          <a:prstGeom prst="rect">
            <a:avLst/>
          </a:prstGeom>
          <a:noFill/>
          <a:ln/>
        </p:spPr>
        <p:txBody>
          <a:bodyPr wrap="square" lIns="0" tIns="0" rIns="0" bIns="0" rtlCol="0" anchor="ctr"/>
          <a:lstStyle/>
          <a:p>
            <a:pPr indent="0" marL="0">
              <a:buNone/>
            </a:pPr>
            <a:r>
              <a:rPr lang="en-US" sz="850" b="1" dirty="0">
                <a:solidFill>
                  <a:srgbClr val="F5ECD7"/>
                </a:solidFill>
                <a:latin typeface="Calibri" pitchFamily="34" charset="0"/>
                <a:ea typeface="Calibri" pitchFamily="34" charset="-122"/>
                <a:cs typeface="Calibri" pitchFamily="34" charset="-120"/>
              </a:rPr>
              <a:t>Gestión Activa</a:t>
            </a:r>
            <a:endParaRPr lang="en-US" sz="850" dirty="0"/>
          </a:p>
        </p:txBody>
      </p:sp>
      <p:sp>
        <p:nvSpPr>
          <p:cNvPr id="9" name="Text 7"/>
          <p:cNvSpPr/>
          <p:nvPr/>
        </p:nvSpPr>
        <p:spPr>
          <a:xfrm>
            <a:off x="548640" y="1554480"/>
            <a:ext cx="1965960"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 Jerónimo Salinas</a:t>
            </a:r>
            <a:endParaRPr lang="en-US" sz="800" dirty="0"/>
          </a:p>
        </p:txBody>
      </p:sp>
      <p:sp>
        <p:nvSpPr>
          <p:cNvPr id="10" name="Text 8"/>
          <p:cNvSpPr/>
          <p:nvPr/>
        </p:nvSpPr>
        <p:spPr>
          <a:xfrm>
            <a:off x="548640" y="1737360"/>
            <a:ext cx="1965960"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 Rosalba (Coord.)</a:t>
            </a:r>
            <a:endParaRPr lang="en-US" sz="800" dirty="0"/>
          </a:p>
        </p:txBody>
      </p:sp>
      <p:sp>
        <p:nvSpPr>
          <p:cNvPr id="11" name="Text 9"/>
          <p:cNvSpPr/>
          <p:nvPr/>
        </p:nvSpPr>
        <p:spPr>
          <a:xfrm>
            <a:off x="548640" y="1920240"/>
            <a:ext cx="1965960"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 Equipo Dev</a:t>
            </a:r>
            <a:endParaRPr lang="en-US" sz="800" dirty="0"/>
          </a:p>
        </p:txBody>
      </p:sp>
      <p:sp>
        <p:nvSpPr>
          <p:cNvPr id="12" name="Shape 10"/>
          <p:cNvSpPr/>
          <p:nvPr/>
        </p:nvSpPr>
        <p:spPr>
          <a:xfrm>
            <a:off x="2633472" y="1234440"/>
            <a:ext cx="2176272" cy="1188720"/>
          </a:xfrm>
          <a:prstGeom prst="rect">
            <a:avLst/>
          </a:prstGeom>
          <a:solidFill>
            <a:srgbClr val="2A2A12"/>
          </a:solidFill>
          <a:ln w="12700">
            <a:solidFill>
              <a:srgbClr val="C9A96E"/>
            </a:solidFill>
            <a:prstDash val="solid"/>
          </a:ln>
        </p:spPr>
      </p:sp>
      <p:sp>
        <p:nvSpPr>
          <p:cNvPr id="13" name="Text 11"/>
          <p:cNvSpPr/>
          <p:nvPr/>
        </p:nvSpPr>
        <p:spPr>
          <a:xfrm>
            <a:off x="2706624" y="1289304"/>
            <a:ext cx="2011680" cy="256032"/>
          </a:xfrm>
          <a:prstGeom prst="rect">
            <a:avLst/>
          </a:prstGeom>
          <a:noFill/>
          <a:ln/>
        </p:spPr>
        <p:txBody>
          <a:bodyPr wrap="square" lIns="0" tIns="0" rIns="0" bIns="0" rtlCol="0" anchor="ctr"/>
          <a:lstStyle/>
          <a:p>
            <a:pPr indent="0" marL="0">
              <a:buNone/>
            </a:pPr>
            <a:r>
              <a:rPr lang="en-US" sz="850" b="1" dirty="0">
                <a:solidFill>
                  <a:srgbClr val="F5ECD7"/>
                </a:solidFill>
                <a:latin typeface="Calibri" pitchFamily="34" charset="0"/>
                <a:ea typeface="Calibri" pitchFamily="34" charset="-122"/>
                <a:cs typeface="Calibri" pitchFamily="34" charset="-120"/>
              </a:rPr>
              <a:t>Mantener Satisfechos</a:t>
            </a:r>
            <a:endParaRPr lang="en-US" sz="850" dirty="0"/>
          </a:p>
        </p:txBody>
      </p:sp>
      <p:sp>
        <p:nvSpPr>
          <p:cNvPr id="14" name="Text 12"/>
          <p:cNvSpPr/>
          <p:nvPr/>
        </p:nvSpPr>
        <p:spPr>
          <a:xfrm>
            <a:off x="2724912" y="1554480"/>
            <a:ext cx="1965960"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 Directivos</a:t>
            </a:r>
            <a:endParaRPr lang="en-US" sz="800" dirty="0"/>
          </a:p>
        </p:txBody>
      </p:sp>
      <p:sp>
        <p:nvSpPr>
          <p:cNvPr id="15" name="Shape 13"/>
          <p:cNvSpPr/>
          <p:nvPr/>
        </p:nvSpPr>
        <p:spPr>
          <a:xfrm>
            <a:off x="457200" y="2423160"/>
            <a:ext cx="2176272" cy="1188720"/>
          </a:xfrm>
          <a:prstGeom prst="rect">
            <a:avLst/>
          </a:prstGeom>
          <a:solidFill>
            <a:srgbClr val="1A1A2E"/>
          </a:solidFill>
          <a:ln w="12700">
            <a:solidFill>
              <a:srgbClr val="6699FF"/>
            </a:solidFill>
            <a:prstDash val="solid"/>
          </a:ln>
        </p:spPr>
      </p:sp>
      <p:sp>
        <p:nvSpPr>
          <p:cNvPr id="16" name="Text 14"/>
          <p:cNvSpPr/>
          <p:nvPr/>
        </p:nvSpPr>
        <p:spPr>
          <a:xfrm>
            <a:off x="530352" y="2478024"/>
            <a:ext cx="2011680" cy="256032"/>
          </a:xfrm>
          <a:prstGeom prst="rect">
            <a:avLst/>
          </a:prstGeom>
          <a:noFill/>
          <a:ln/>
        </p:spPr>
        <p:txBody>
          <a:bodyPr wrap="square" lIns="0" tIns="0" rIns="0" bIns="0" rtlCol="0" anchor="ctr"/>
          <a:lstStyle/>
          <a:p>
            <a:pPr indent="0" marL="0">
              <a:buNone/>
            </a:pPr>
            <a:r>
              <a:rPr lang="en-US" sz="850" b="1" dirty="0">
                <a:solidFill>
                  <a:srgbClr val="F5ECD7"/>
                </a:solidFill>
                <a:latin typeface="Calibri" pitchFamily="34" charset="0"/>
                <a:ea typeface="Calibri" pitchFamily="34" charset="-122"/>
                <a:cs typeface="Calibri" pitchFamily="34" charset="-120"/>
              </a:rPr>
              <a:t>Mantener Informados</a:t>
            </a:r>
            <a:endParaRPr lang="en-US" sz="850" dirty="0"/>
          </a:p>
        </p:txBody>
      </p:sp>
      <p:sp>
        <p:nvSpPr>
          <p:cNvPr id="17" name="Text 15"/>
          <p:cNvSpPr/>
          <p:nvPr/>
        </p:nvSpPr>
        <p:spPr>
          <a:xfrm>
            <a:off x="548640" y="2743200"/>
            <a:ext cx="1965960"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 Paulina Garzón</a:t>
            </a:r>
            <a:endParaRPr lang="en-US" sz="800" dirty="0"/>
          </a:p>
        </p:txBody>
      </p:sp>
      <p:sp>
        <p:nvSpPr>
          <p:cNvPr id="18" name="Text 16"/>
          <p:cNvSpPr/>
          <p:nvPr/>
        </p:nvSpPr>
        <p:spPr>
          <a:xfrm>
            <a:off x="548640" y="2926080"/>
            <a:ext cx="1965960"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 Gabriel Labrador</a:t>
            </a:r>
            <a:endParaRPr lang="en-US" sz="800" dirty="0"/>
          </a:p>
        </p:txBody>
      </p:sp>
      <p:sp>
        <p:nvSpPr>
          <p:cNvPr id="19" name="Text 17"/>
          <p:cNvSpPr/>
          <p:nvPr/>
        </p:nvSpPr>
        <p:spPr>
          <a:xfrm>
            <a:off x="548640" y="3108960"/>
            <a:ext cx="1965960"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 Cristian Román</a:t>
            </a:r>
            <a:endParaRPr lang="en-US" sz="800" dirty="0"/>
          </a:p>
        </p:txBody>
      </p:sp>
      <p:sp>
        <p:nvSpPr>
          <p:cNvPr id="20" name="Text 18"/>
          <p:cNvSpPr/>
          <p:nvPr/>
        </p:nvSpPr>
        <p:spPr>
          <a:xfrm>
            <a:off x="548640" y="3291840"/>
            <a:ext cx="1965960"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 Hartur Parra</a:t>
            </a:r>
            <a:endParaRPr lang="en-US" sz="800" dirty="0"/>
          </a:p>
        </p:txBody>
      </p:sp>
      <p:sp>
        <p:nvSpPr>
          <p:cNvPr id="21" name="Text 19"/>
          <p:cNvSpPr/>
          <p:nvPr/>
        </p:nvSpPr>
        <p:spPr>
          <a:xfrm>
            <a:off x="548640" y="3474720"/>
            <a:ext cx="1965960"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 Instructores</a:t>
            </a:r>
            <a:endParaRPr lang="en-US" sz="800" dirty="0"/>
          </a:p>
        </p:txBody>
      </p:sp>
      <p:sp>
        <p:nvSpPr>
          <p:cNvPr id="22" name="Shape 20"/>
          <p:cNvSpPr/>
          <p:nvPr/>
        </p:nvSpPr>
        <p:spPr>
          <a:xfrm>
            <a:off x="2633472" y="2423160"/>
            <a:ext cx="2176272" cy="1188720"/>
          </a:xfrm>
          <a:prstGeom prst="rect">
            <a:avLst/>
          </a:prstGeom>
          <a:solidFill>
            <a:srgbClr val="1E1E1E"/>
          </a:solidFill>
          <a:ln w="12700">
            <a:solidFill>
              <a:srgbClr val="000000"/>
            </a:solidFill>
            <a:prstDash val="solid"/>
          </a:ln>
        </p:spPr>
      </p:sp>
      <p:sp>
        <p:nvSpPr>
          <p:cNvPr id="23" name="Text 21"/>
          <p:cNvSpPr/>
          <p:nvPr/>
        </p:nvSpPr>
        <p:spPr>
          <a:xfrm>
            <a:off x="2706624" y="2478024"/>
            <a:ext cx="2011680" cy="256032"/>
          </a:xfrm>
          <a:prstGeom prst="rect">
            <a:avLst/>
          </a:prstGeom>
          <a:noFill/>
          <a:ln/>
        </p:spPr>
        <p:txBody>
          <a:bodyPr wrap="square" lIns="0" tIns="0" rIns="0" bIns="0" rtlCol="0" anchor="ctr"/>
          <a:lstStyle/>
          <a:p>
            <a:pPr indent="0" marL="0">
              <a:buNone/>
            </a:pPr>
            <a:r>
              <a:rPr lang="en-US" sz="850" b="1" dirty="0">
                <a:solidFill>
                  <a:srgbClr val="F5ECD7"/>
                </a:solidFill>
                <a:latin typeface="Calibri" pitchFamily="34" charset="0"/>
                <a:ea typeface="Calibri" pitchFamily="34" charset="-122"/>
                <a:cs typeface="Calibri" pitchFamily="34" charset="-120"/>
              </a:rPr>
              <a:t>Monitorear</a:t>
            </a:r>
            <a:endParaRPr lang="en-US" sz="850" dirty="0"/>
          </a:p>
        </p:txBody>
      </p:sp>
      <p:sp>
        <p:nvSpPr>
          <p:cNvPr id="24" name="Text 22"/>
          <p:cNvSpPr/>
          <p:nvPr/>
        </p:nvSpPr>
        <p:spPr>
          <a:xfrm>
            <a:off x="2724912" y="2743200"/>
            <a:ext cx="1965960"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 Estudiantes</a:t>
            </a:r>
            <a:endParaRPr lang="en-US" sz="800" dirty="0"/>
          </a:p>
        </p:txBody>
      </p:sp>
      <p:sp>
        <p:nvSpPr>
          <p:cNvPr id="25" name="Text 23"/>
          <p:cNvSpPr/>
          <p:nvPr/>
        </p:nvSpPr>
        <p:spPr>
          <a:xfrm>
            <a:off x="2724912" y="2926080"/>
            <a:ext cx="1965960"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 Miguel Castañeda</a:t>
            </a:r>
            <a:endParaRPr lang="en-US" sz="800" dirty="0"/>
          </a:p>
        </p:txBody>
      </p:sp>
      <p:sp>
        <p:nvSpPr>
          <p:cNvPr id="26" name="Shape 24"/>
          <p:cNvSpPr/>
          <p:nvPr/>
        </p:nvSpPr>
        <p:spPr>
          <a:xfrm>
            <a:off x="5577840" y="1234440"/>
            <a:ext cx="3108960" cy="749808"/>
          </a:xfrm>
          <a:prstGeom prst="roundRect">
            <a:avLst>
              <a:gd name="adj" fmla="val 12195"/>
            </a:avLst>
          </a:prstGeom>
          <a:solidFill>
            <a:srgbClr val="1E2235"/>
          </a:solidFill>
          <a:ln/>
          <a:effectLst>
            <a:outerShdw sx="100000" sy="100000" kx="0" ky="0" algn="bl" rotWithShape="0" blurRad="152400" dist="50800" dir="2700000">
              <a:srgbClr val="000000">
                <a:alpha val="35000"/>
              </a:srgbClr>
            </a:outerShdw>
          </a:effectLst>
        </p:spPr>
      </p:sp>
      <p:pic>
        <p:nvPicPr>
          <p:cNvPr id="27" name="Image 0" descr="preencoded.png">    </p:cNvPr>
          <p:cNvPicPr>
            <a:picLocks noChangeAspect="1"/>
          </p:cNvPicPr>
          <p:nvPr/>
        </p:nvPicPr>
        <p:blipFill>
          <a:blip r:embed="rId1"/>
          <a:stretch>
            <a:fillRect/>
          </a:stretch>
        </p:blipFill>
        <p:spPr>
          <a:xfrm>
            <a:off x="5715000" y="1371600"/>
            <a:ext cx="411480" cy="411480"/>
          </a:xfrm>
          <a:prstGeom prst="rect">
            <a:avLst/>
          </a:prstGeom>
        </p:spPr>
      </p:pic>
      <p:sp>
        <p:nvSpPr>
          <p:cNvPr id="28" name="Text 25"/>
          <p:cNvSpPr/>
          <p:nvPr/>
        </p:nvSpPr>
        <p:spPr>
          <a:xfrm>
            <a:off x="6236208" y="1325880"/>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Líder / Backend</a:t>
            </a:r>
            <a:endParaRPr lang="en-US" sz="1100" dirty="0"/>
          </a:p>
        </p:txBody>
      </p:sp>
      <p:sp>
        <p:nvSpPr>
          <p:cNvPr id="29" name="Text 26"/>
          <p:cNvSpPr/>
          <p:nvPr/>
        </p:nvSpPr>
        <p:spPr>
          <a:xfrm>
            <a:off x="6236208" y="1636776"/>
            <a:ext cx="2286000" cy="256032"/>
          </a:xfrm>
          <a:prstGeom prst="rect">
            <a:avLst/>
          </a:prstGeom>
          <a:noFill/>
          <a:ln/>
        </p:spPr>
        <p:txBody>
          <a:bodyPr wrap="square" lIns="0" tIns="0" rIns="0" bIns="0" rtlCol="0" anchor="ctr"/>
          <a:lstStyle/>
          <a:p>
            <a:pPr indent="0" marL="0">
              <a:buNone/>
            </a:pPr>
            <a:r>
              <a:rPr lang="en-US" sz="900" dirty="0">
                <a:solidFill>
                  <a:srgbClr val="8A8FA8"/>
                </a:solidFill>
                <a:latin typeface="Calibri" pitchFamily="34" charset="0"/>
                <a:ea typeface="Calibri" pitchFamily="34" charset="-122"/>
                <a:cs typeface="Calibri" pitchFamily="34" charset="-120"/>
              </a:rPr>
              <a:t>Jerónimo Salinas, Cristian Román</a:t>
            </a:r>
            <a:endParaRPr lang="en-US" sz="900" dirty="0"/>
          </a:p>
        </p:txBody>
      </p:sp>
      <p:sp>
        <p:nvSpPr>
          <p:cNvPr id="30" name="Shape 27"/>
          <p:cNvSpPr/>
          <p:nvPr/>
        </p:nvSpPr>
        <p:spPr>
          <a:xfrm>
            <a:off x="5577840" y="2130552"/>
            <a:ext cx="3108960" cy="749808"/>
          </a:xfrm>
          <a:prstGeom prst="roundRect">
            <a:avLst>
              <a:gd name="adj" fmla="val 12195"/>
            </a:avLst>
          </a:prstGeom>
          <a:solidFill>
            <a:srgbClr val="1E2235"/>
          </a:solidFill>
          <a:ln/>
          <a:effectLst>
            <a:outerShdw sx="100000" sy="100000" kx="0" ky="0" algn="bl" rotWithShape="0" blurRad="152400" dist="50800" dir="2700000">
              <a:srgbClr val="000000">
                <a:alpha val="35000"/>
              </a:srgbClr>
            </a:outerShdw>
          </a:effectLst>
        </p:spPr>
      </p:sp>
      <p:pic>
        <p:nvPicPr>
          <p:cNvPr id="31" name="Image 1" descr="preencoded.png">    </p:cNvPr>
          <p:cNvPicPr>
            <a:picLocks noChangeAspect="1"/>
          </p:cNvPicPr>
          <p:nvPr/>
        </p:nvPicPr>
        <p:blipFill>
          <a:blip r:embed="rId2"/>
          <a:stretch>
            <a:fillRect/>
          </a:stretch>
        </p:blipFill>
        <p:spPr>
          <a:xfrm>
            <a:off x="5715000" y="2267712"/>
            <a:ext cx="411480" cy="411480"/>
          </a:xfrm>
          <a:prstGeom prst="rect">
            <a:avLst/>
          </a:prstGeom>
        </p:spPr>
      </p:pic>
      <p:sp>
        <p:nvSpPr>
          <p:cNvPr id="32" name="Text 28"/>
          <p:cNvSpPr/>
          <p:nvPr/>
        </p:nvSpPr>
        <p:spPr>
          <a:xfrm>
            <a:off x="6236208" y="2221992"/>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Frontend</a:t>
            </a:r>
            <a:endParaRPr lang="en-US" sz="1100" dirty="0"/>
          </a:p>
        </p:txBody>
      </p:sp>
      <p:sp>
        <p:nvSpPr>
          <p:cNvPr id="33" name="Text 29"/>
          <p:cNvSpPr/>
          <p:nvPr/>
        </p:nvSpPr>
        <p:spPr>
          <a:xfrm>
            <a:off x="6236208" y="2532888"/>
            <a:ext cx="2286000" cy="256032"/>
          </a:xfrm>
          <a:prstGeom prst="rect">
            <a:avLst/>
          </a:prstGeom>
          <a:noFill/>
          <a:ln/>
        </p:spPr>
        <p:txBody>
          <a:bodyPr wrap="square" lIns="0" tIns="0" rIns="0" bIns="0" rtlCol="0" anchor="ctr"/>
          <a:lstStyle/>
          <a:p>
            <a:pPr indent="0" marL="0">
              <a:buNone/>
            </a:pPr>
            <a:r>
              <a:rPr lang="en-US" sz="900" dirty="0">
                <a:solidFill>
                  <a:srgbClr val="8A8FA8"/>
                </a:solidFill>
                <a:latin typeface="Calibri" pitchFamily="34" charset="0"/>
                <a:ea typeface="Calibri" pitchFamily="34" charset="-122"/>
                <a:cs typeface="Calibri" pitchFamily="34" charset="-120"/>
              </a:rPr>
              <a:t>Paulina Garzón, Gabriel Labrador</a:t>
            </a:r>
            <a:endParaRPr lang="en-US" sz="900" dirty="0"/>
          </a:p>
        </p:txBody>
      </p:sp>
      <p:sp>
        <p:nvSpPr>
          <p:cNvPr id="34" name="Shape 30"/>
          <p:cNvSpPr/>
          <p:nvPr/>
        </p:nvSpPr>
        <p:spPr>
          <a:xfrm>
            <a:off x="5577840" y="3026664"/>
            <a:ext cx="3108960" cy="749808"/>
          </a:xfrm>
          <a:prstGeom prst="roundRect">
            <a:avLst>
              <a:gd name="adj" fmla="val 12195"/>
            </a:avLst>
          </a:prstGeom>
          <a:solidFill>
            <a:srgbClr val="1E2235"/>
          </a:solidFill>
          <a:ln/>
          <a:effectLst>
            <a:outerShdw sx="100000" sy="100000" kx="0" ky="0" algn="bl" rotWithShape="0" blurRad="152400" dist="50800" dir="2700000">
              <a:srgbClr val="000000">
                <a:alpha val="35000"/>
              </a:srgbClr>
            </a:outerShdw>
          </a:effectLst>
        </p:spPr>
      </p:sp>
      <p:pic>
        <p:nvPicPr>
          <p:cNvPr id="35" name="Image 2" descr="preencoded.png">    </p:cNvPr>
          <p:cNvPicPr>
            <a:picLocks noChangeAspect="1"/>
          </p:cNvPicPr>
          <p:nvPr/>
        </p:nvPicPr>
        <p:blipFill>
          <a:blip r:embed="rId3"/>
          <a:stretch>
            <a:fillRect/>
          </a:stretch>
        </p:blipFill>
        <p:spPr>
          <a:xfrm>
            <a:off x="5715000" y="3163824"/>
            <a:ext cx="411480" cy="411480"/>
          </a:xfrm>
          <a:prstGeom prst="rect">
            <a:avLst/>
          </a:prstGeom>
        </p:spPr>
      </p:pic>
      <p:sp>
        <p:nvSpPr>
          <p:cNvPr id="36" name="Text 31"/>
          <p:cNvSpPr/>
          <p:nvPr/>
        </p:nvSpPr>
        <p:spPr>
          <a:xfrm>
            <a:off x="6236208" y="3118104"/>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Analista</a:t>
            </a:r>
            <a:endParaRPr lang="en-US" sz="1100" dirty="0"/>
          </a:p>
        </p:txBody>
      </p:sp>
      <p:sp>
        <p:nvSpPr>
          <p:cNvPr id="37" name="Text 32"/>
          <p:cNvSpPr/>
          <p:nvPr/>
        </p:nvSpPr>
        <p:spPr>
          <a:xfrm>
            <a:off x="6236208" y="3429000"/>
            <a:ext cx="2286000" cy="256032"/>
          </a:xfrm>
          <a:prstGeom prst="rect">
            <a:avLst/>
          </a:prstGeom>
          <a:noFill/>
          <a:ln/>
        </p:spPr>
        <p:txBody>
          <a:bodyPr wrap="square" lIns="0" tIns="0" rIns="0" bIns="0" rtlCol="0" anchor="ctr"/>
          <a:lstStyle/>
          <a:p>
            <a:pPr indent="0" marL="0">
              <a:buNone/>
            </a:pPr>
            <a:r>
              <a:rPr lang="en-US" sz="900" dirty="0">
                <a:solidFill>
                  <a:srgbClr val="8A8FA8"/>
                </a:solidFill>
                <a:latin typeface="Calibri" pitchFamily="34" charset="0"/>
                <a:ea typeface="Calibri" pitchFamily="34" charset="-122"/>
                <a:cs typeface="Calibri" pitchFamily="34" charset="-120"/>
              </a:rPr>
              <a:t>Hartur Parra, Miguel Castañeda</a:t>
            </a:r>
            <a:endParaRPr lang="en-US" sz="900" dirty="0"/>
          </a:p>
        </p:txBody>
      </p:sp>
      <p:sp>
        <p:nvSpPr>
          <p:cNvPr id="38" name="Shape 33"/>
          <p:cNvSpPr/>
          <p:nvPr/>
        </p:nvSpPr>
        <p:spPr>
          <a:xfrm>
            <a:off x="5577840" y="3922776"/>
            <a:ext cx="3108960" cy="749808"/>
          </a:xfrm>
          <a:prstGeom prst="roundRect">
            <a:avLst>
              <a:gd name="adj" fmla="val 12195"/>
            </a:avLst>
          </a:prstGeom>
          <a:solidFill>
            <a:srgbClr val="1E2235"/>
          </a:solidFill>
          <a:ln/>
          <a:effectLst>
            <a:outerShdw sx="100000" sy="100000" kx="0" ky="0" algn="bl" rotWithShape="0" blurRad="152400" dist="50800" dir="2700000">
              <a:srgbClr val="000000">
                <a:alpha val="35000"/>
              </a:srgbClr>
            </a:outerShdw>
          </a:effectLst>
        </p:spPr>
      </p:sp>
      <p:pic>
        <p:nvPicPr>
          <p:cNvPr id="39" name="Image 3" descr="preencoded.png">    </p:cNvPr>
          <p:cNvPicPr>
            <a:picLocks noChangeAspect="1"/>
          </p:cNvPicPr>
          <p:nvPr/>
        </p:nvPicPr>
        <p:blipFill>
          <a:blip r:embed="rId4"/>
          <a:stretch>
            <a:fillRect/>
          </a:stretch>
        </p:blipFill>
        <p:spPr>
          <a:xfrm>
            <a:off x="5715000" y="4059936"/>
            <a:ext cx="411480" cy="411480"/>
          </a:xfrm>
          <a:prstGeom prst="rect">
            <a:avLst/>
          </a:prstGeom>
        </p:spPr>
      </p:pic>
      <p:sp>
        <p:nvSpPr>
          <p:cNvPr id="40" name="Text 34"/>
          <p:cNvSpPr/>
          <p:nvPr/>
        </p:nvSpPr>
        <p:spPr>
          <a:xfrm>
            <a:off x="6236208" y="4014216"/>
            <a:ext cx="228600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Validación</a:t>
            </a:r>
            <a:endParaRPr lang="en-US" sz="1100" dirty="0"/>
          </a:p>
        </p:txBody>
      </p:sp>
      <p:sp>
        <p:nvSpPr>
          <p:cNvPr id="41" name="Text 35"/>
          <p:cNvSpPr/>
          <p:nvPr/>
        </p:nvSpPr>
        <p:spPr>
          <a:xfrm>
            <a:off x="6236208" y="4325112"/>
            <a:ext cx="2286000" cy="256032"/>
          </a:xfrm>
          <a:prstGeom prst="rect">
            <a:avLst/>
          </a:prstGeom>
          <a:noFill/>
          <a:ln/>
        </p:spPr>
        <p:txBody>
          <a:bodyPr wrap="square" lIns="0" tIns="0" rIns="0" bIns="0" rtlCol="0" anchor="ctr"/>
          <a:lstStyle/>
          <a:p>
            <a:pPr indent="0" marL="0">
              <a:buNone/>
            </a:pPr>
            <a:r>
              <a:rPr lang="en-US" sz="900" dirty="0">
                <a:solidFill>
                  <a:srgbClr val="8A8FA8"/>
                </a:solidFill>
                <a:latin typeface="Calibri" pitchFamily="34" charset="0"/>
                <a:ea typeface="Calibri" pitchFamily="34" charset="-122"/>
                <a:cs typeface="Calibri" pitchFamily="34" charset="-120"/>
              </a:rPr>
              <a:t>Rosalba (Instructora)</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256032"/>
            <a:ext cx="8229600" cy="292608"/>
          </a:xfrm>
          <a:prstGeom prst="rect">
            <a:avLst/>
          </a:prstGeom>
          <a:noFill/>
          <a:ln/>
        </p:spPr>
        <p:txBody>
          <a:bodyPr wrap="square" lIns="0" tIns="0" rIns="0" bIns="0" rtlCol="0" anchor="ctr"/>
          <a:lstStyle/>
          <a:p>
            <a:pPr indent="0" marL="0">
              <a:buNone/>
            </a:pPr>
            <a:r>
              <a:rPr lang="en-US" sz="1000" spc="400" kern="0" dirty="0">
                <a:solidFill>
                  <a:srgbClr val="C9A96E"/>
                </a:solidFill>
                <a:latin typeface="Calibri" pitchFamily="34" charset="0"/>
                <a:ea typeface="Calibri" pitchFamily="34" charset="-122"/>
                <a:cs typeface="Calibri" pitchFamily="34" charset="-120"/>
              </a:rPr>
              <a:t>ALCANCE Y TECNOLOGÍAS</a:t>
            </a:r>
            <a:endParaRPr lang="en-US" sz="1000" dirty="0"/>
          </a:p>
        </p:txBody>
      </p:sp>
      <p:sp>
        <p:nvSpPr>
          <p:cNvPr id="3" name="Text 1"/>
          <p:cNvSpPr/>
          <p:nvPr/>
        </p:nvSpPr>
        <p:spPr>
          <a:xfrm>
            <a:off x="457200" y="530352"/>
            <a:ext cx="8229600" cy="53035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¿Qué construimos y con qué lo construimos?</a:t>
            </a:r>
            <a:endParaRPr lang="en-US" sz="2200" dirty="0"/>
          </a:p>
        </p:txBody>
      </p:sp>
      <p:sp>
        <p:nvSpPr>
          <p:cNvPr id="4" name="Shape 2"/>
          <p:cNvSpPr/>
          <p:nvPr/>
        </p:nvSpPr>
        <p:spPr>
          <a:xfrm>
            <a:off x="411480" y="1261872"/>
            <a:ext cx="3931920" cy="3566160"/>
          </a:xfrm>
          <a:prstGeom prst="roundRect">
            <a:avLst>
              <a:gd name="adj" fmla="val 3590"/>
            </a:avLst>
          </a:prstGeom>
          <a:solidFill>
            <a:srgbClr val="0D1A12"/>
          </a:solidFill>
          <a:ln w="19050">
            <a:solidFill>
              <a:srgbClr val="2EC4B6"/>
            </a:solidFill>
            <a:prstDash val="solid"/>
          </a:ln>
          <a:effectLst>
            <a:outerShdw sx="100000" sy="100000" kx="0" ky="0" algn="bl" rotWithShape="0" blurRad="152400" dist="50800" dir="2700000">
              <a:srgbClr val="000000">
                <a:alpha val="35000"/>
              </a:srgbClr>
            </a:outerShdw>
          </a:effectLst>
        </p:spPr>
      </p:sp>
      <p:pic>
        <p:nvPicPr>
          <p:cNvPr id="5" name="Image 0" descr="preencoded.png">    </p:cNvPr>
          <p:cNvPicPr>
            <a:picLocks noChangeAspect="1"/>
          </p:cNvPicPr>
          <p:nvPr/>
        </p:nvPicPr>
        <p:blipFill>
          <a:blip r:embed="rId1"/>
          <a:stretch>
            <a:fillRect/>
          </a:stretch>
        </p:blipFill>
        <p:spPr>
          <a:xfrm>
            <a:off x="594360" y="1389888"/>
            <a:ext cx="347472" cy="347472"/>
          </a:xfrm>
          <a:prstGeom prst="rect">
            <a:avLst/>
          </a:prstGeom>
        </p:spPr>
      </p:pic>
      <p:sp>
        <p:nvSpPr>
          <p:cNvPr id="6" name="Text 3"/>
          <p:cNvSpPr/>
          <p:nvPr/>
        </p:nvSpPr>
        <p:spPr>
          <a:xfrm>
            <a:off x="1005840" y="1389888"/>
            <a:ext cx="3108960" cy="320040"/>
          </a:xfrm>
          <a:prstGeom prst="rect">
            <a:avLst/>
          </a:prstGeom>
          <a:noFill/>
          <a:ln/>
        </p:spPr>
        <p:txBody>
          <a:bodyPr wrap="square" lIns="0" tIns="0" rIns="0" bIns="0" rtlCol="0" anchor="ctr"/>
          <a:lstStyle/>
          <a:p>
            <a:pPr indent="0" marL="0">
              <a:buNone/>
            </a:pPr>
            <a:r>
              <a:rPr lang="en-US" sz="1200" b="1" dirty="0">
                <a:solidFill>
                  <a:srgbClr val="2EC4B6"/>
                </a:solidFill>
                <a:latin typeface="Calibri" pitchFamily="34" charset="0"/>
                <a:ea typeface="Calibri" pitchFamily="34" charset="-122"/>
                <a:cs typeface="Calibri" pitchFamily="34" charset="-120"/>
              </a:rPr>
              <a:t>Dentro del alcance</a:t>
            </a:r>
            <a:endParaRPr lang="en-US" sz="1200" dirty="0"/>
          </a:p>
        </p:txBody>
      </p:sp>
      <p:sp>
        <p:nvSpPr>
          <p:cNvPr id="7" name="Text 4"/>
          <p:cNvSpPr/>
          <p:nvPr/>
        </p:nvSpPr>
        <p:spPr>
          <a:xfrm>
            <a:off x="594360" y="1847088"/>
            <a:ext cx="3566160" cy="329184"/>
          </a:xfrm>
          <a:prstGeom prst="rect">
            <a:avLst/>
          </a:prstGeom>
          <a:noFill/>
          <a:ln/>
        </p:spPr>
        <p:txBody>
          <a:bodyPr wrap="square" lIns="0" tIns="0" rIns="0" bIns="0" rtlCol="0" anchor="ctr"/>
          <a:lstStyle/>
          <a:p>
            <a:pPr indent="0" marL="0">
              <a:buNone/>
            </a:pPr>
            <a:r>
              <a:rPr lang="en-US" sz="1000" b="1" dirty="0">
                <a:solidFill>
                  <a:srgbClr val="2EC4B6"/>
                </a:solidFill>
                <a:latin typeface="Calibri" pitchFamily="34" charset="0"/>
                <a:ea typeface="Calibri" pitchFamily="34" charset="-122"/>
                <a:cs typeface="Calibri" pitchFamily="34" charset="-120"/>
              </a:rPr>
              <a:t>✓  </a:t>
            </a:r>
            <a:pPr indent="0" marL="0">
              <a:buNone/>
            </a:pPr>
            <a:r>
              <a:rPr lang="en-US" sz="1000" dirty="0">
                <a:solidFill>
                  <a:srgbClr val="F5ECD7"/>
                </a:solidFill>
                <a:latin typeface="Calibri" pitchFamily="34" charset="0"/>
                <a:ea typeface="Calibri" pitchFamily="34" charset="-122"/>
                <a:cs typeface="Calibri" pitchFamily="34" charset="-120"/>
              </a:rPr>
              <a:t>Registro, edición y eliminación de libros</a:t>
            </a:r>
            <a:endParaRPr lang="en-US" sz="1000" dirty="0"/>
          </a:p>
        </p:txBody>
      </p:sp>
      <p:sp>
        <p:nvSpPr>
          <p:cNvPr id="8" name="Text 5"/>
          <p:cNvSpPr/>
          <p:nvPr/>
        </p:nvSpPr>
        <p:spPr>
          <a:xfrm>
            <a:off x="594360" y="2231136"/>
            <a:ext cx="3566160" cy="329184"/>
          </a:xfrm>
          <a:prstGeom prst="rect">
            <a:avLst/>
          </a:prstGeom>
          <a:noFill/>
          <a:ln/>
        </p:spPr>
        <p:txBody>
          <a:bodyPr wrap="square" lIns="0" tIns="0" rIns="0" bIns="0" rtlCol="0" anchor="ctr"/>
          <a:lstStyle/>
          <a:p>
            <a:pPr indent="0" marL="0">
              <a:buNone/>
            </a:pPr>
            <a:r>
              <a:rPr lang="en-US" sz="1000" b="1" dirty="0">
                <a:solidFill>
                  <a:srgbClr val="2EC4B6"/>
                </a:solidFill>
                <a:latin typeface="Calibri" pitchFamily="34" charset="0"/>
                <a:ea typeface="Calibri" pitchFamily="34" charset="-122"/>
                <a:cs typeface="Calibri" pitchFamily="34" charset="-120"/>
              </a:rPr>
              <a:t>✓  </a:t>
            </a:r>
            <a:pPr indent="0" marL="0">
              <a:buNone/>
            </a:pPr>
            <a:r>
              <a:rPr lang="en-US" sz="1000" dirty="0">
                <a:solidFill>
                  <a:srgbClr val="F5ECD7"/>
                </a:solidFill>
                <a:latin typeface="Calibri" pitchFamily="34" charset="0"/>
                <a:ea typeface="Calibri" pitchFamily="34" charset="-122"/>
                <a:cs typeface="Calibri" pitchFamily="34" charset="-120"/>
              </a:rPr>
              <a:t>Gestión completa de usuarios</a:t>
            </a:r>
            <a:endParaRPr lang="en-US" sz="1000" dirty="0"/>
          </a:p>
        </p:txBody>
      </p:sp>
      <p:sp>
        <p:nvSpPr>
          <p:cNvPr id="9" name="Text 6"/>
          <p:cNvSpPr/>
          <p:nvPr/>
        </p:nvSpPr>
        <p:spPr>
          <a:xfrm>
            <a:off x="594360" y="2615184"/>
            <a:ext cx="3566160" cy="329184"/>
          </a:xfrm>
          <a:prstGeom prst="rect">
            <a:avLst/>
          </a:prstGeom>
          <a:noFill/>
          <a:ln/>
        </p:spPr>
        <p:txBody>
          <a:bodyPr wrap="square" lIns="0" tIns="0" rIns="0" bIns="0" rtlCol="0" anchor="ctr"/>
          <a:lstStyle/>
          <a:p>
            <a:pPr indent="0" marL="0">
              <a:buNone/>
            </a:pPr>
            <a:r>
              <a:rPr lang="en-US" sz="1000" b="1" dirty="0">
                <a:solidFill>
                  <a:srgbClr val="2EC4B6"/>
                </a:solidFill>
                <a:latin typeface="Calibri" pitchFamily="34" charset="0"/>
                <a:ea typeface="Calibri" pitchFamily="34" charset="-122"/>
                <a:cs typeface="Calibri" pitchFamily="34" charset="-120"/>
              </a:rPr>
              <a:t>✓  </a:t>
            </a:r>
            <a:pPr indent="0" marL="0">
              <a:buNone/>
            </a:pPr>
            <a:r>
              <a:rPr lang="en-US" sz="1000" dirty="0">
                <a:solidFill>
                  <a:srgbClr val="F5ECD7"/>
                </a:solidFill>
                <a:latin typeface="Calibri" pitchFamily="34" charset="0"/>
                <a:ea typeface="Calibri" pitchFamily="34" charset="-122"/>
                <a:cs typeface="Calibri" pitchFamily="34" charset="-120"/>
              </a:rPr>
              <a:t>Control de préstamos y devoluciones</a:t>
            </a:r>
            <a:endParaRPr lang="en-US" sz="1000" dirty="0"/>
          </a:p>
        </p:txBody>
      </p:sp>
      <p:sp>
        <p:nvSpPr>
          <p:cNvPr id="10" name="Text 7"/>
          <p:cNvSpPr/>
          <p:nvPr/>
        </p:nvSpPr>
        <p:spPr>
          <a:xfrm>
            <a:off x="594360" y="2999232"/>
            <a:ext cx="3566160" cy="329184"/>
          </a:xfrm>
          <a:prstGeom prst="rect">
            <a:avLst/>
          </a:prstGeom>
          <a:noFill/>
          <a:ln/>
        </p:spPr>
        <p:txBody>
          <a:bodyPr wrap="square" lIns="0" tIns="0" rIns="0" bIns="0" rtlCol="0" anchor="ctr"/>
          <a:lstStyle/>
          <a:p>
            <a:pPr indent="0" marL="0">
              <a:buNone/>
            </a:pPr>
            <a:r>
              <a:rPr lang="en-US" sz="1000" b="1" dirty="0">
                <a:solidFill>
                  <a:srgbClr val="2EC4B6"/>
                </a:solidFill>
                <a:latin typeface="Calibri" pitchFamily="34" charset="0"/>
                <a:ea typeface="Calibri" pitchFamily="34" charset="-122"/>
                <a:cs typeface="Calibri" pitchFamily="34" charset="-120"/>
              </a:rPr>
              <a:t>✓  </a:t>
            </a:r>
            <a:pPr indent="0" marL="0">
              <a:buNone/>
            </a:pPr>
            <a:r>
              <a:rPr lang="en-US" sz="1000" dirty="0">
                <a:solidFill>
                  <a:srgbClr val="F5ECD7"/>
                </a:solidFill>
                <a:latin typeface="Calibri" pitchFamily="34" charset="0"/>
                <a:ea typeface="Calibri" pitchFamily="34" charset="-122"/>
                <a:cs typeface="Calibri" pitchFamily="34" charset="-120"/>
              </a:rPr>
              <a:t>Historial de préstamos por usuario</a:t>
            </a:r>
            <a:endParaRPr lang="en-US" sz="1000" dirty="0"/>
          </a:p>
        </p:txBody>
      </p:sp>
      <p:sp>
        <p:nvSpPr>
          <p:cNvPr id="11" name="Text 8"/>
          <p:cNvSpPr/>
          <p:nvPr/>
        </p:nvSpPr>
        <p:spPr>
          <a:xfrm>
            <a:off x="594360" y="3383280"/>
            <a:ext cx="3566160" cy="329184"/>
          </a:xfrm>
          <a:prstGeom prst="rect">
            <a:avLst/>
          </a:prstGeom>
          <a:noFill/>
          <a:ln/>
        </p:spPr>
        <p:txBody>
          <a:bodyPr wrap="square" lIns="0" tIns="0" rIns="0" bIns="0" rtlCol="0" anchor="ctr"/>
          <a:lstStyle/>
          <a:p>
            <a:pPr indent="0" marL="0">
              <a:buNone/>
            </a:pPr>
            <a:r>
              <a:rPr lang="en-US" sz="1000" b="1" dirty="0">
                <a:solidFill>
                  <a:srgbClr val="2EC4B6"/>
                </a:solidFill>
                <a:latin typeface="Calibri" pitchFamily="34" charset="0"/>
                <a:ea typeface="Calibri" pitchFamily="34" charset="-122"/>
                <a:cs typeface="Calibri" pitchFamily="34" charset="-120"/>
              </a:rPr>
              <a:t>✓  </a:t>
            </a:r>
            <a:pPr indent="0" marL="0">
              <a:buNone/>
            </a:pPr>
            <a:r>
              <a:rPr lang="en-US" sz="1000" dirty="0">
                <a:solidFill>
                  <a:srgbClr val="F5ECD7"/>
                </a:solidFill>
                <a:latin typeface="Calibri" pitchFamily="34" charset="0"/>
                <a:ea typeface="Calibri" pitchFamily="34" charset="-122"/>
                <a:cs typeface="Calibri" pitchFamily="34" charset="-120"/>
              </a:rPr>
              <a:t>Búsqueda y consulta de disponibilidad</a:t>
            </a:r>
            <a:endParaRPr lang="en-US" sz="1000" dirty="0"/>
          </a:p>
        </p:txBody>
      </p:sp>
      <p:sp>
        <p:nvSpPr>
          <p:cNvPr id="12" name="Text 9"/>
          <p:cNvSpPr/>
          <p:nvPr/>
        </p:nvSpPr>
        <p:spPr>
          <a:xfrm>
            <a:off x="594360" y="3767328"/>
            <a:ext cx="3566160" cy="329184"/>
          </a:xfrm>
          <a:prstGeom prst="rect">
            <a:avLst/>
          </a:prstGeom>
          <a:noFill/>
          <a:ln/>
        </p:spPr>
        <p:txBody>
          <a:bodyPr wrap="square" lIns="0" tIns="0" rIns="0" bIns="0" rtlCol="0" anchor="ctr"/>
          <a:lstStyle/>
          <a:p>
            <a:pPr indent="0" marL="0">
              <a:buNone/>
            </a:pPr>
            <a:r>
              <a:rPr lang="en-US" sz="1000" b="1" dirty="0">
                <a:solidFill>
                  <a:srgbClr val="2EC4B6"/>
                </a:solidFill>
                <a:latin typeface="Calibri" pitchFamily="34" charset="0"/>
                <a:ea typeface="Calibri" pitchFamily="34" charset="-122"/>
                <a:cs typeface="Calibri" pitchFamily="34" charset="-120"/>
              </a:rPr>
              <a:t>✓  </a:t>
            </a:r>
            <a:pPr indent="0" marL="0">
              <a:buNone/>
            </a:pPr>
            <a:r>
              <a:rPr lang="en-US" sz="1000" dirty="0">
                <a:solidFill>
                  <a:srgbClr val="F5ECD7"/>
                </a:solidFill>
                <a:latin typeface="Calibri" pitchFamily="34" charset="0"/>
                <a:ea typeface="Calibri" pitchFamily="34" charset="-122"/>
                <a:cs typeface="Calibri" pitchFamily="34" charset="-120"/>
              </a:rPr>
              <a:t>Sistema de autenticación y roles</a:t>
            </a:r>
            <a:endParaRPr lang="en-US" sz="1000" dirty="0"/>
          </a:p>
        </p:txBody>
      </p:sp>
      <p:sp>
        <p:nvSpPr>
          <p:cNvPr id="13" name="Text 10"/>
          <p:cNvSpPr/>
          <p:nvPr/>
        </p:nvSpPr>
        <p:spPr>
          <a:xfrm>
            <a:off x="594360" y="4151376"/>
            <a:ext cx="3566160" cy="329184"/>
          </a:xfrm>
          <a:prstGeom prst="rect">
            <a:avLst/>
          </a:prstGeom>
          <a:noFill/>
          <a:ln/>
        </p:spPr>
        <p:txBody>
          <a:bodyPr wrap="square" lIns="0" tIns="0" rIns="0" bIns="0" rtlCol="0" anchor="ctr"/>
          <a:lstStyle/>
          <a:p>
            <a:pPr indent="0" marL="0">
              <a:buNone/>
            </a:pPr>
            <a:r>
              <a:rPr lang="en-US" sz="1000" b="1" dirty="0">
                <a:solidFill>
                  <a:srgbClr val="2EC4B6"/>
                </a:solidFill>
                <a:latin typeface="Calibri" pitchFamily="34" charset="0"/>
                <a:ea typeface="Calibri" pitchFamily="34" charset="-122"/>
                <a:cs typeface="Calibri" pitchFamily="34" charset="-120"/>
              </a:rPr>
              <a:t>✓  </a:t>
            </a:r>
            <a:pPr indent="0" marL="0">
              <a:buNone/>
            </a:pPr>
            <a:r>
              <a:rPr lang="en-US" sz="1000" dirty="0">
                <a:solidFill>
                  <a:srgbClr val="F5ECD7"/>
                </a:solidFill>
                <a:latin typeface="Calibri" pitchFamily="34" charset="0"/>
                <a:ea typeface="Calibri" pitchFamily="34" charset="-122"/>
                <a:cs typeface="Calibri" pitchFamily="34" charset="-120"/>
              </a:rPr>
              <a:t>Generación de reportes básicos</a:t>
            </a:r>
            <a:endParaRPr lang="en-US" sz="1000" dirty="0"/>
          </a:p>
        </p:txBody>
      </p:sp>
      <p:sp>
        <p:nvSpPr>
          <p:cNvPr id="14" name="Shape 11"/>
          <p:cNvSpPr/>
          <p:nvPr/>
        </p:nvSpPr>
        <p:spPr>
          <a:xfrm>
            <a:off x="4663440" y="1261872"/>
            <a:ext cx="4023360" cy="2011680"/>
          </a:xfrm>
          <a:prstGeom prst="roundRect">
            <a:avLst>
              <a:gd name="adj" fmla="val 6364"/>
            </a:avLst>
          </a:prstGeom>
          <a:solidFill>
            <a:srgbClr val="1A0D0D"/>
          </a:solidFill>
          <a:ln w="19050">
            <a:solidFill>
              <a:srgbClr val="E84855"/>
            </a:solidFill>
            <a:prstDash val="solid"/>
          </a:ln>
          <a:effectLst>
            <a:outerShdw sx="100000" sy="100000" kx="0" ky="0" algn="bl" rotWithShape="0" blurRad="152400" dist="50800" dir="2700000">
              <a:srgbClr val="000000">
                <a:alpha val="35000"/>
              </a:srgbClr>
            </a:outerShdw>
          </a:effectLst>
        </p:spPr>
      </p:sp>
      <p:sp>
        <p:nvSpPr>
          <p:cNvPr id="15" name="Text 12"/>
          <p:cNvSpPr/>
          <p:nvPr/>
        </p:nvSpPr>
        <p:spPr>
          <a:xfrm>
            <a:off x="4846320" y="1389888"/>
            <a:ext cx="3566160" cy="320040"/>
          </a:xfrm>
          <a:prstGeom prst="rect">
            <a:avLst/>
          </a:prstGeom>
          <a:noFill/>
          <a:ln/>
        </p:spPr>
        <p:txBody>
          <a:bodyPr wrap="square" lIns="0" tIns="0" rIns="0" bIns="0" rtlCol="0" anchor="ctr"/>
          <a:lstStyle/>
          <a:p>
            <a:pPr indent="0" marL="0">
              <a:buNone/>
            </a:pPr>
            <a:r>
              <a:rPr lang="en-US" sz="1200" b="1" dirty="0">
                <a:solidFill>
                  <a:srgbClr val="E84855"/>
                </a:solidFill>
                <a:latin typeface="Calibri" pitchFamily="34" charset="0"/>
                <a:ea typeface="Calibri" pitchFamily="34" charset="-122"/>
                <a:cs typeface="Calibri" pitchFamily="34" charset="-120"/>
              </a:rPr>
              <a:t>✕  Fuera del alcance (v1)</a:t>
            </a:r>
            <a:endParaRPr lang="en-US" sz="1200" dirty="0"/>
          </a:p>
        </p:txBody>
      </p:sp>
      <p:sp>
        <p:nvSpPr>
          <p:cNvPr id="16" name="Text 13"/>
          <p:cNvSpPr/>
          <p:nvPr/>
        </p:nvSpPr>
        <p:spPr>
          <a:xfrm>
            <a:off x="4846320" y="1801368"/>
            <a:ext cx="3566160" cy="256032"/>
          </a:xfrm>
          <a:prstGeom prst="rect">
            <a:avLst/>
          </a:prstGeom>
          <a:noFill/>
          <a:ln/>
        </p:spPr>
        <p:txBody>
          <a:bodyPr wrap="square" lIns="0" tIns="0" rIns="0" bIns="0" rtlCol="0" anchor="ctr"/>
          <a:lstStyle/>
          <a:p>
            <a:pPr indent="0" marL="0">
              <a:buNone/>
            </a:pPr>
            <a:r>
              <a:rPr lang="en-US" sz="1000" dirty="0">
                <a:solidFill>
                  <a:srgbClr val="8A8FA8"/>
                </a:solidFill>
                <a:latin typeface="Calibri" pitchFamily="34" charset="0"/>
                <a:ea typeface="Calibri" pitchFamily="34" charset="-122"/>
                <a:cs typeface="Calibri" pitchFamily="34" charset="-120"/>
              </a:rPr>
              <a:t>✕  Apps móviles nativas</a:t>
            </a:r>
            <a:endParaRPr lang="en-US" sz="1000" dirty="0"/>
          </a:p>
        </p:txBody>
      </p:sp>
      <p:sp>
        <p:nvSpPr>
          <p:cNvPr id="17" name="Text 14"/>
          <p:cNvSpPr/>
          <p:nvPr/>
        </p:nvSpPr>
        <p:spPr>
          <a:xfrm>
            <a:off x="4846320" y="2093976"/>
            <a:ext cx="3566160" cy="256032"/>
          </a:xfrm>
          <a:prstGeom prst="rect">
            <a:avLst/>
          </a:prstGeom>
          <a:noFill/>
          <a:ln/>
        </p:spPr>
        <p:txBody>
          <a:bodyPr wrap="square" lIns="0" tIns="0" rIns="0" bIns="0" rtlCol="0" anchor="ctr"/>
          <a:lstStyle/>
          <a:p>
            <a:pPr indent="0" marL="0">
              <a:buNone/>
            </a:pPr>
            <a:r>
              <a:rPr lang="en-US" sz="1000" dirty="0">
                <a:solidFill>
                  <a:srgbClr val="8A8FA8"/>
                </a:solidFill>
                <a:latin typeface="Calibri" pitchFamily="34" charset="0"/>
                <a:ea typeface="Calibri" pitchFamily="34" charset="-122"/>
                <a:cs typeface="Calibri" pitchFamily="34" charset="-120"/>
              </a:rPr>
              <a:t>✕  Integración con APIs externas</a:t>
            </a:r>
            <a:endParaRPr lang="en-US" sz="1000" dirty="0"/>
          </a:p>
        </p:txBody>
      </p:sp>
      <p:sp>
        <p:nvSpPr>
          <p:cNvPr id="18" name="Text 15"/>
          <p:cNvSpPr/>
          <p:nvPr/>
        </p:nvSpPr>
        <p:spPr>
          <a:xfrm>
            <a:off x="4846320" y="2386584"/>
            <a:ext cx="3566160" cy="256032"/>
          </a:xfrm>
          <a:prstGeom prst="rect">
            <a:avLst/>
          </a:prstGeom>
          <a:noFill/>
          <a:ln/>
        </p:spPr>
        <p:txBody>
          <a:bodyPr wrap="square" lIns="0" tIns="0" rIns="0" bIns="0" rtlCol="0" anchor="ctr"/>
          <a:lstStyle/>
          <a:p>
            <a:pPr indent="0" marL="0">
              <a:buNone/>
            </a:pPr>
            <a:r>
              <a:rPr lang="en-US" sz="1000" dirty="0">
                <a:solidFill>
                  <a:srgbClr val="8A8FA8"/>
                </a:solidFill>
                <a:latin typeface="Calibri" pitchFamily="34" charset="0"/>
                <a:ea typeface="Calibri" pitchFamily="34" charset="-122"/>
                <a:cs typeface="Calibri" pitchFamily="34" charset="-120"/>
              </a:rPr>
              <a:t>✕  Reservas anticipadas</a:t>
            </a:r>
            <a:endParaRPr lang="en-US" sz="1000" dirty="0"/>
          </a:p>
        </p:txBody>
      </p:sp>
      <p:sp>
        <p:nvSpPr>
          <p:cNvPr id="19" name="Text 16"/>
          <p:cNvSpPr/>
          <p:nvPr/>
        </p:nvSpPr>
        <p:spPr>
          <a:xfrm>
            <a:off x="4846320" y="2679192"/>
            <a:ext cx="3566160" cy="256032"/>
          </a:xfrm>
          <a:prstGeom prst="rect">
            <a:avLst/>
          </a:prstGeom>
          <a:noFill/>
          <a:ln/>
        </p:spPr>
        <p:txBody>
          <a:bodyPr wrap="square" lIns="0" tIns="0" rIns="0" bIns="0" rtlCol="0" anchor="ctr"/>
          <a:lstStyle/>
          <a:p>
            <a:pPr indent="0" marL="0">
              <a:buNone/>
            </a:pPr>
            <a:r>
              <a:rPr lang="en-US" sz="1000" dirty="0">
                <a:solidFill>
                  <a:srgbClr val="8A8FA8"/>
                </a:solidFill>
                <a:latin typeface="Calibri" pitchFamily="34" charset="0"/>
                <a:ea typeface="Calibri" pitchFamily="34" charset="-122"/>
                <a:cs typeface="Calibri" pitchFamily="34" charset="-120"/>
              </a:rPr>
              <a:t>✕  Lectores de código de barras</a:t>
            </a:r>
            <a:endParaRPr lang="en-US" sz="1000" dirty="0"/>
          </a:p>
        </p:txBody>
      </p:sp>
      <p:sp>
        <p:nvSpPr>
          <p:cNvPr id="20" name="Text 17"/>
          <p:cNvSpPr/>
          <p:nvPr/>
        </p:nvSpPr>
        <p:spPr>
          <a:xfrm>
            <a:off x="4846320" y="2971800"/>
            <a:ext cx="3566160" cy="256032"/>
          </a:xfrm>
          <a:prstGeom prst="rect">
            <a:avLst/>
          </a:prstGeom>
          <a:noFill/>
          <a:ln/>
        </p:spPr>
        <p:txBody>
          <a:bodyPr wrap="square" lIns="0" tIns="0" rIns="0" bIns="0" rtlCol="0" anchor="ctr"/>
          <a:lstStyle/>
          <a:p>
            <a:pPr indent="0" marL="0">
              <a:buNone/>
            </a:pPr>
            <a:r>
              <a:rPr lang="en-US" sz="1000" dirty="0">
                <a:solidFill>
                  <a:srgbClr val="8A8FA8"/>
                </a:solidFill>
                <a:latin typeface="Calibri" pitchFamily="34" charset="0"/>
                <a:ea typeface="Calibri" pitchFamily="34" charset="-122"/>
                <a:cs typeface="Calibri" pitchFamily="34" charset="-120"/>
              </a:rPr>
              <a:t>✕  Funcionalidad offline</a:t>
            </a:r>
            <a:endParaRPr lang="en-US" sz="1000" dirty="0"/>
          </a:p>
        </p:txBody>
      </p:sp>
      <p:sp>
        <p:nvSpPr>
          <p:cNvPr id="21" name="Shape 18"/>
          <p:cNvSpPr/>
          <p:nvPr/>
        </p:nvSpPr>
        <p:spPr>
          <a:xfrm>
            <a:off x="4663440" y="3429000"/>
            <a:ext cx="4023360" cy="1399032"/>
          </a:xfrm>
          <a:prstGeom prst="roundRect">
            <a:avLst>
              <a:gd name="adj" fmla="val 9150"/>
            </a:avLst>
          </a:prstGeom>
          <a:solidFill>
            <a:srgbClr val="252A3D"/>
          </a:solidFill>
          <a:ln w="19050">
            <a:solidFill>
              <a:srgbClr val="C9A96E"/>
            </a:solidFill>
            <a:prstDash val="solid"/>
          </a:ln>
          <a:effectLst>
            <a:outerShdw sx="100000" sy="100000" kx="0" ky="0" algn="bl" rotWithShape="0" blurRad="152400" dist="50800" dir="2700000">
              <a:srgbClr val="000000">
                <a:alpha val="35000"/>
              </a:srgbClr>
            </a:outerShdw>
          </a:effectLst>
        </p:spPr>
      </p:sp>
      <p:pic>
        <p:nvPicPr>
          <p:cNvPr id="22" name="Image 1" descr="preencoded.png">    </p:cNvPr>
          <p:cNvPicPr>
            <a:picLocks noChangeAspect="1"/>
          </p:cNvPicPr>
          <p:nvPr/>
        </p:nvPicPr>
        <p:blipFill>
          <a:blip r:embed="rId2"/>
          <a:stretch>
            <a:fillRect/>
          </a:stretch>
        </p:blipFill>
        <p:spPr>
          <a:xfrm>
            <a:off x="4828032" y="3547872"/>
            <a:ext cx="347472" cy="347472"/>
          </a:xfrm>
          <a:prstGeom prst="rect">
            <a:avLst/>
          </a:prstGeom>
        </p:spPr>
      </p:pic>
      <p:sp>
        <p:nvSpPr>
          <p:cNvPr id="23" name="Text 19"/>
          <p:cNvSpPr/>
          <p:nvPr/>
        </p:nvSpPr>
        <p:spPr>
          <a:xfrm>
            <a:off x="5257800" y="3547872"/>
            <a:ext cx="3291840" cy="320040"/>
          </a:xfrm>
          <a:prstGeom prst="rect">
            <a:avLst/>
          </a:prstGeom>
          <a:noFill/>
          <a:ln/>
        </p:spPr>
        <p:txBody>
          <a:bodyPr wrap="square" lIns="0" tIns="0" rIns="0" bIns="0" rtlCol="0" anchor="ctr"/>
          <a:lstStyle/>
          <a:p>
            <a:pPr indent="0" marL="0">
              <a:buNone/>
            </a:pPr>
            <a:r>
              <a:rPr lang="en-US" sz="1200" b="1" dirty="0">
                <a:solidFill>
                  <a:srgbClr val="C9A96E"/>
                </a:solidFill>
                <a:latin typeface="Calibri" pitchFamily="34" charset="0"/>
                <a:ea typeface="Calibri" pitchFamily="34" charset="-122"/>
                <a:cs typeface="Calibri" pitchFamily="34" charset="-120"/>
              </a:rPr>
              <a:t>Stack Tecnológico</a:t>
            </a:r>
            <a:endParaRPr lang="en-US" sz="1200" dirty="0"/>
          </a:p>
        </p:txBody>
      </p:sp>
      <p:sp>
        <p:nvSpPr>
          <p:cNvPr id="24" name="Text 20"/>
          <p:cNvSpPr/>
          <p:nvPr/>
        </p:nvSpPr>
        <p:spPr>
          <a:xfrm>
            <a:off x="4828032" y="4005072"/>
            <a:ext cx="3749040" cy="237744"/>
          </a:xfrm>
          <a:prstGeom prst="rect">
            <a:avLst/>
          </a:prstGeom>
          <a:noFill/>
          <a:ln/>
        </p:spPr>
        <p:txBody>
          <a:bodyPr wrap="square" lIns="0" tIns="0" rIns="0" bIns="0" rtlCol="0" anchor="ctr"/>
          <a:lstStyle/>
          <a:p>
            <a:pPr indent="0" marL="0">
              <a:buNone/>
            </a:pPr>
            <a:r>
              <a:rPr lang="en-US" sz="950" b="1" dirty="0">
                <a:solidFill>
                  <a:srgbClr val="F5ECD7"/>
                </a:solidFill>
                <a:latin typeface="Calibri" pitchFamily="34" charset="0"/>
                <a:ea typeface="Calibri" pitchFamily="34" charset="-122"/>
                <a:cs typeface="Calibri" pitchFamily="34" charset="-120"/>
              </a:rPr>
              <a:t>Frontend:  </a:t>
            </a:r>
            <a:pPr indent="0" marL="0">
              <a:buNone/>
            </a:pPr>
            <a:r>
              <a:rPr lang="en-US" sz="950" dirty="0">
                <a:solidFill>
                  <a:srgbClr val="8A8FA8"/>
                </a:solidFill>
                <a:latin typeface="Calibri" pitchFamily="34" charset="0"/>
                <a:ea typeface="Calibri" pitchFamily="34" charset="-122"/>
                <a:cs typeface="Calibri" pitchFamily="34" charset="-120"/>
              </a:rPr>
              <a:t>HTML5 · CSS3 · JavaScript vanilla</a:t>
            </a:r>
            <a:endParaRPr lang="en-US" sz="950" dirty="0"/>
          </a:p>
        </p:txBody>
      </p:sp>
      <p:sp>
        <p:nvSpPr>
          <p:cNvPr id="25" name="Text 21"/>
          <p:cNvSpPr/>
          <p:nvPr/>
        </p:nvSpPr>
        <p:spPr>
          <a:xfrm>
            <a:off x="4828032" y="4279392"/>
            <a:ext cx="3749040" cy="237744"/>
          </a:xfrm>
          <a:prstGeom prst="rect">
            <a:avLst/>
          </a:prstGeom>
          <a:noFill/>
          <a:ln/>
        </p:spPr>
        <p:txBody>
          <a:bodyPr wrap="square" lIns="0" tIns="0" rIns="0" bIns="0" rtlCol="0" anchor="ctr"/>
          <a:lstStyle/>
          <a:p>
            <a:pPr indent="0" marL="0">
              <a:buNone/>
            </a:pPr>
            <a:r>
              <a:rPr lang="en-US" sz="950" b="1" dirty="0">
                <a:solidFill>
                  <a:srgbClr val="F5ECD7"/>
                </a:solidFill>
                <a:latin typeface="Calibri" pitchFamily="34" charset="0"/>
                <a:ea typeface="Calibri" pitchFamily="34" charset="-122"/>
                <a:cs typeface="Calibri" pitchFamily="34" charset="-120"/>
              </a:rPr>
              <a:t>Base de datos:  </a:t>
            </a:r>
            <a:pPr indent="0" marL="0">
              <a:buNone/>
            </a:pPr>
            <a:r>
              <a:rPr lang="en-US" sz="950" dirty="0">
                <a:solidFill>
                  <a:srgbClr val="8A8FA8"/>
                </a:solidFill>
                <a:latin typeface="Calibri" pitchFamily="34" charset="0"/>
                <a:ea typeface="Calibri" pitchFamily="34" charset="-122"/>
                <a:cs typeface="Calibri" pitchFamily="34" charset="-120"/>
              </a:rPr>
              <a:t>MySQL / SQL Server</a:t>
            </a:r>
            <a:endParaRPr lang="en-US" sz="950" dirty="0"/>
          </a:p>
        </p:txBody>
      </p:sp>
      <p:sp>
        <p:nvSpPr>
          <p:cNvPr id="26" name="Text 22"/>
          <p:cNvSpPr/>
          <p:nvPr/>
        </p:nvSpPr>
        <p:spPr>
          <a:xfrm>
            <a:off x="4828032" y="4553712"/>
            <a:ext cx="3749040" cy="237744"/>
          </a:xfrm>
          <a:prstGeom prst="rect">
            <a:avLst/>
          </a:prstGeom>
          <a:noFill/>
          <a:ln/>
        </p:spPr>
        <p:txBody>
          <a:bodyPr wrap="square" lIns="0" tIns="0" rIns="0" bIns="0" rtlCol="0" anchor="ctr"/>
          <a:lstStyle/>
          <a:p>
            <a:pPr indent="0" marL="0">
              <a:buNone/>
            </a:pPr>
            <a:r>
              <a:rPr lang="en-US" sz="950" b="1" dirty="0">
                <a:solidFill>
                  <a:srgbClr val="F5ECD7"/>
                </a:solidFill>
                <a:latin typeface="Calibri" pitchFamily="34" charset="0"/>
                <a:ea typeface="Calibri" pitchFamily="34" charset="-122"/>
                <a:cs typeface="Calibri" pitchFamily="34" charset="-120"/>
              </a:rPr>
              <a:t>Dev tool:  </a:t>
            </a:r>
            <a:pPr indent="0" marL="0">
              <a:buNone/>
            </a:pPr>
            <a:r>
              <a:rPr lang="en-US" sz="950" dirty="0">
                <a:solidFill>
                  <a:srgbClr val="8A8FA8"/>
                </a:solidFill>
                <a:latin typeface="Calibri" pitchFamily="34" charset="0"/>
                <a:ea typeface="Calibri" pitchFamily="34" charset="-122"/>
                <a:cs typeface="Calibri" pitchFamily="34" charset="-120"/>
              </a:rPr>
              <a:t>Visual Studio Code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A1D2E"/>
        </a:solidFill>
      </p:bgPr>
    </p:bg>
    <p:spTree>
      <p:nvGrpSpPr>
        <p:cNvPr id="1" name=""/>
        <p:cNvGrpSpPr/>
        <p:nvPr/>
      </p:nvGrpSpPr>
      <p:grpSpPr>
        <a:xfrm>
          <a:off x="0" y="0"/>
          <a:ext cx="0" cy="0"/>
          <a:chOff x="0" y="0"/>
          <a:chExt cx="0" cy="0"/>
        </a:xfrm>
      </p:grpSpPr>
      <p:sp>
        <p:nvSpPr>
          <p:cNvPr id="2" name="Text 0"/>
          <p:cNvSpPr/>
          <p:nvPr/>
        </p:nvSpPr>
        <p:spPr>
          <a:xfrm>
            <a:off x="457200" y="256032"/>
            <a:ext cx="8229600" cy="292608"/>
          </a:xfrm>
          <a:prstGeom prst="rect">
            <a:avLst/>
          </a:prstGeom>
          <a:noFill/>
          <a:ln/>
        </p:spPr>
        <p:txBody>
          <a:bodyPr wrap="square" lIns="0" tIns="0" rIns="0" bIns="0" rtlCol="0" anchor="ctr"/>
          <a:lstStyle/>
          <a:p>
            <a:pPr indent="0" marL="0">
              <a:buNone/>
            </a:pPr>
            <a:r>
              <a:rPr lang="en-US" sz="1000" spc="400" kern="0" dirty="0">
                <a:solidFill>
                  <a:srgbClr val="2EC4B6"/>
                </a:solidFill>
                <a:latin typeface="Calibri" pitchFamily="34" charset="0"/>
                <a:ea typeface="Calibri" pitchFamily="34" charset="-122"/>
                <a:cs typeface="Calibri" pitchFamily="34" charset="-120"/>
              </a:rPr>
              <a:t>EXPERIENCIA DE USUARIO</a:t>
            </a:r>
            <a:endParaRPr lang="en-US" sz="1000" dirty="0"/>
          </a:p>
        </p:txBody>
      </p:sp>
      <p:sp>
        <p:nvSpPr>
          <p:cNvPr id="3" name="Text 1"/>
          <p:cNvSpPr/>
          <p:nvPr/>
        </p:nvSpPr>
        <p:spPr>
          <a:xfrm>
            <a:off x="457200" y="530352"/>
            <a:ext cx="8229600" cy="53035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Detalles que hacen la diferencia</a:t>
            </a:r>
            <a:endParaRPr lang="en-US" sz="2200" dirty="0"/>
          </a:p>
        </p:txBody>
      </p:sp>
      <p:sp>
        <p:nvSpPr>
          <p:cNvPr id="4" name="Text 2"/>
          <p:cNvSpPr/>
          <p:nvPr/>
        </p:nvSpPr>
        <p:spPr>
          <a:xfrm>
            <a:off x="457200" y="1188720"/>
            <a:ext cx="4572000" cy="347472"/>
          </a:xfrm>
          <a:prstGeom prst="rect">
            <a:avLst/>
          </a:prstGeom>
          <a:noFill/>
          <a:ln/>
        </p:spPr>
        <p:txBody>
          <a:bodyPr wrap="square" lIns="0" tIns="0" rIns="0" bIns="0" rtlCol="0" anchor="ctr"/>
          <a:lstStyle/>
          <a:p>
            <a:pPr indent="0" marL="0">
              <a:buNone/>
            </a:pPr>
            <a:r>
              <a:rPr lang="en-US" sz="1400" b="1" dirty="0">
                <a:solidFill>
                  <a:srgbClr val="C9A96E"/>
                </a:solidFill>
                <a:latin typeface="Calibri" pitchFamily="34" charset="0"/>
                <a:ea typeface="Calibri" pitchFamily="34" charset="-122"/>
                <a:cs typeface="Calibri" pitchFamily="34" charset="-120"/>
              </a:rPr>
              <a:t>Sistema de Notificaciones Toast</a:t>
            </a:r>
            <a:endParaRPr lang="en-US" sz="1400" dirty="0"/>
          </a:p>
        </p:txBody>
      </p:sp>
      <p:sp>
        <p:nvSpPr>
          <p:cNvPr id="5" name="Shape 3"/>
          <p:cNvSpPr/>
          <p:nvPr/>
        </p:nvSpPr>
        <p:spPr>
          <a:xfrm>
            <a:off x="457200" y="1627632"/>
            <a:ext cx="4206240" cy="548640"/>
          </a:xfrm>
          <a:prstGeom prst="roundRect">
            <a:avLst>
              <a:gd name="adj" fmla="val 16667"/>
            </a:avLst>
          </a:prstGeom>
          <a:solidFill>
            <a:srgbClr val="0D2A1A"/>
          </a:solidFill>
          <a:ln w="19050">
            <a:solidFill>
              <a:srgbClr val="2EC4B6"/>
            </a:solidFill>
            <a:prstDash val="solid"/>
          </a:ln>
          <a:effectLst>
            <a:outerShdw sx="100000" sy="100000" kx="0" ky="0" algn="bl" rotWithShape="0" blurRad="152400" dist="50800" dir="2700000">
              <a:srgbClr val="000000">
                <a:alpha val="35000"/>
              </a:srgbClr>
            </a:outerShdw>
          </a:effectLst>
        </p:spPr>
      </p:sp>
      <p:sp>
        <p:nvSpPr>
          <p:cNvPr id="6" name="Text 4"/>
          <p:cNvSpPr/>
          <p:nvPr/>
        </p:nvSpPr>
        <p:spPr>
          <a:xfrm>
            <a:off x="594360" y="1755648"/>
            <a:ext cx="365760" cy="292608"/>
          </a:xfrm>
          <a:prstGeom prst="rect">
            <a:avLst/>
          </a:prstGeom>
          <a:noFill/>
          <a:ln/>
        </p:spPr>
        <p:txBody>
          <a:bodyPr wrap="square" lIns="0" tIns="0" rIns="0" bIns="0" rtlCol="0" anchor="ctr"/>
          <a:lstStyle/>
          <a:p>
            <a:pPr indent="0" marL="0">
              <a:buNone/>
            </a:pPr>
            <a:r>
              <a:rPr lang="en-US" sz="1300" dirty="0">
                <a:solidFill>
                  <a:srgbClr val="000000"/>
                </a:solidFill>
              </a:rPr>
              <a:t>✅</a:t>
            </a:r>
            <a:endParaRPr lang="en-US" sz="1300" dirty="0"/>
          </a:p>
        </p:txBody>
      </p:sp>
      <p:sp>
        <p:nvSpPr>
          <p:cNvPr id="7" name="Text 5"/>
          <p:cNvSpPr/>
          <p:nvPr/>
        </p:nvSpPr>
        <p:spPr>
          <a:xfrm>
            <a:off x="1005840" y="1691640"/>
            <a:ext cx="731520" cy="21945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Éxito</a:t>
            </a:r>
            <a:endParaRPr lang="en-US" sz="900" dirty="0"/>
          </a:p>
        </p:txBody>
      </p:sp>
      <p:sp>
        <p:nvSpPr>
          <p:cNvPr id="8" name="Text 6"/>
          <p:cNvSpPr/>
          <p:nvPr/>
        </p:nvSpPr>
        <p:spPr>
          <a:xfrm>
            <a:off x="1005840" y="1901952"/>
            <a:ext cx="3474720" cy="201168"/>
          </a:xfrm>
          <a:prstGeom prst="rect">
            <a:avLst/>
          </a:prstGeom>
          <a:noFill/>
          <a:ln/>
        </p:spPr>
        <p:txBody>
          <a:bodyPr wrap="square" lIns="0" tIns="0" rIns="0" bIns="0" rtlCol="0" anchor="ctr"/>
          <a:lstStyle/>
          <a:p>
            <a:pPr indent="0" marL="0">
              <a:buNone/>
            </a:pPr>
            <a:r>
              <a:rPr lang="en-US" sz="900" dirty="0">
                <a:solidFill>
                  <a:srgbClr val="8A8FA8"/>
                </a:solidFill>
                <a:latin typeface="Calibri" pitchFamily="34" charset="0"/>
                <a:ea typeface="Calibri" pitchFamily="34" charset="-122"/>
                <a:cs typeface="Calibri" pitchFamily="34" charset="-120"/>
              </a:rPr>
              <a:t>Libro agregado al catálogo correctamente.</a:t>
            </a:r>
            <a:endParaRPr lang="en-US" sz="900" dirty="0"/>
          </a:p>
        </p:txBody>
      </p:sp>
      <p:sp>
        <p:nvSpPr>
          <p:cNvPr id="9" name="Text 7"/>
          <p:cNvSpPr/>
          <p:nvPr/>
        </p:nvSpPr>
        <p:spPr>
          <a:xfrm>
            <a:off x="4206240" y="1792224"/>
            <a:ext cx="384048"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4s ⏱</a:t>
            </a:r>
            <a:endParaRPr lang="en-US" sz="800" dirty="0"/>
          </a:p>
        </p:txBody>
      </p:sp>
      <p:sp>
        <p:nvSpPr>
          <p:cNvPr id="10" name="Shape 8"/>
          <p:cNvSpPr/>
          <p:nvPr/>
        </p:nvSpPr>
        <p:spPr>
          <a:xfrm>
            <a:off x="457200" y="2286000"/>
            <a:ext cx="4206240" cy="548640"/>
          </a:xfrm>
          <a:prstGeom prst="roundRect">
            <a:avLst>
              <a:gd name="adj" fmla="val 16667"/>
            </a:avLst>
          </a:prstGeom>
          <a:solidFill>
            <a:srgbClr val="2A220D"/>
          </a:solidFill>
          <a:ln w="19050">
            <a:solidFill>
              <a:srgbClr val="E8A835"/>
            </a:solidFill>
            <a:prstDash val="solid"/>
          </a:ln>
          <a:effectLst>
            <a:outerShdw sx="100000" sy="100000" kx="0" ky="0" algn="bl" rotWithShape="0" blurRad="152400" dist="50800" dir="2700000">
              <a:srgbClr val="000000">
                <a:alpha val="35000"/>
              </a:srgbClr>
            </a:outerShdw>
          </a:effectLst>
        </p:spPr>
      </p:sp>
      <p:sp>
        <p:nvSpPr>
          <p:cNvPr id="11" name="Text 9"/>
          <p:cNvSpPr/>
          <p:nvPr/>
        </p:nvSpPr>
        <p:spPr>
          <a:xfrm>
            <a:off x="594360" y="2414016"/>
            <a:ext cx="365760" cy="292608"/>
          </a:xfrm>
          <a:prstGeom prst="rect">
            <a:avLst/>
          </a:prstGeom>
          <a:noFill/>
          <a:ln/>
        </p:spPr>
        <p:txBody>
          <a:bodyPr wrap="square" lIns="0" tIns="0" rIns="0" bIns="0" rtlCol="0" anchor="ctr"/>
          <a:lstStyle/>
          <a:p>
            <a:pPr indent="0" marL="0">
              <a:buNone/>
            </a:pPr>
            <a:r>
              <a:rPr lang="en-US" sz="1300" dirty="0">
                <a:solidFill>
                  <a:srgbClr val="000000"/>
                </a:solidFill>
              </a:rPr>
              <a:t>⚠️</a:t>
            </a:r>
            <a:endParaRPr lang="en-US" sz="1300" dirty="0"/>
          </a:p>
        </p:txBody>
      </p:sp>
      <p:sp>
        <p:nvSpPr>
          <p:cNvPr id="12" name="Text 10"/>
          <p:cNvSpPr/>
          <p:nvPr/>
        </p:nvSpPr>
        <p:spPr>
          <a:xfrm>
            <a:off x="1005840" y="2350008"/>
            <a:ext cx="731520" cy="21945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Aviso</a:t>
            </a:r>
            <a:endParaRPr lang="en-US" sz="900" dirty="0"/>
          </a:p>
        </p:txBody>
      </p:sp>
      <p:sp>
        <p:nvSpPr>
          <p:cNvPr id="13" name="Text 11"/>
          <p:cNvSpPr/>
          <p:nvPr/>
        </p:nvSpPr>
        <p:spPr>
          <a:xfrm>
            <a:off x="1005840" y="2560320"/>
            <a:ext cx="3474720" cy="201168"/>
          </a:xfrm>
          <a:prstGeom prst="rect">
            <a:avLst/>
          </a:prstGeom>
          <a:noFill/>
          <a:ln/>
        </p:spPr>
        <p:txBody>
          <a:bodyPr wrap="square" lIns="0" tIns="0" rIns="0" bIns="0" rtlCol="0" anchor="ctr"/>
          <a:lstStyle/>
          <a:p>
            <a:pPr indent="0" marL="0">
              <a:buNone/>
            </a:pPr>
            <a:r>
              <a:rPr lang="en-US" sz="900" dirty="0">
                <a:solidFill>
                  <a:srgbClr val="8A8FA8"/>
                </a:solidFill>
                <a:latin typeface="Calibri" pitchFamily="34" charset="0"/>
                <a:ea typeface="Calibri" pitchFamily="34" charset="-122"/>
                <a:cs typeface="Calibri" pitchFamily="34" charset="-120"/>
              </a:rPr>
              <a:t>Por favor, completa todos los campos.</a:t>
            </a:r>
            <a:endParaRPr lang="en-US" sz="900" dirty="0"/>
          </a:p>
        </p:txBody>
      </p:sp>
      <p:sp>
        <p:nvSpPr>
          <p:cNvPr id="14" name="Text 12"/>
          <p:cNvSpPr/>
          <p:nvPr/>
        </p:nvSpPr>
        <p:spPr>
          <a:xfrm>
            <a:off x="4206240" y="2450592"/>
            <a:ext cx="384048"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4s ⏱</a:t>
            </a:r>
            <a:endParaRPr lang="en-US" sz="800" dirty="0"/>
          </a:p>
        </p:txBody>
      </p:sp>
      <p:sp>
        <p:nvSpPr>
          <p:cNvPr id="15" name="Shape 13"/>
          <p:cNvSpPr/>
          <p:nvPr/>
        </p:nvSpPr>
        <p:spPr>
          <a:xfrm>
            <a:off x="457200" y="2944368"/>
            <a:ext cx="4206240" cy="548640"/>
          </a:xfrm>
          <a:prstGeom prst="roundRect">
            <a:avLst>
              <a:gd name="adj" fmla="val 16667"/>
            </a:avLst>
          </a:prstGeom>
          <a:solidFill>
            <a:srgbClr val="2A0D1A"/>
          </a:solidFill>
          <a:ln w="19050">
            <a:solidFill>
              <a:srgbClr val="E84899"/>
            </a:solidFill>
            <a:prstDash val="solid"/>
          </a:ln>
          <a:effectLst>
            <a:outerShdw sx="100000" sy="100000" kx="0" ky="0" algn="bl" rotWithShape="0" blurRad="152400" dist="50800" dir="2700000">
              <a:srgbClr val="000000">
                <a:alpha val="35000"/>
              </a:srgbClr>
            </a:outerShdw>
          </a:effectLst>
        </p:spPr>
      </p:sp>
      <p:sp>
        <p:nvSpPr>
          <p:cNvPr id="16" name="Text 14"/>
          <p:cNvSpPr/>
          <p:nvPr/>
        </p:nvSpPr>
        <p:spPr>
          <a:xfrm>
            <a:off x="594360" y="3072384"/>
            <a:ext cx="365760" cy="292608"/>
          </a:xfrm>
          <a:prstGeom prst="rect">
            <a:avLst/>
          </a:prstGeom>
          <a:noFill/>
          <a:ln/>
        </p:spPr>
        <p:txBody>
          <a:bodyPr wrap="square" lIns="0" tIns="0" rIns="0" bIns="0" rtlCol="0" anchor="ctr"/>
          <a:lstStyle/>
          <a:p>
            <a:pPr indent="0" marL="0">
              <a:buNone/>
            </a:pPr>
            <a:r>
              <a:rPr lang="en-US" sz="1300" dirty="0">
                <a:solidFill>
                  <a:srgbClr val="000000"/>
                </a:solidFill>
              </a:rPr>
              <a:t>❤️</a:t>
            </a:r>
            <a:endParaRPr lang="en-US" sz="1300" dirty="0"/>
          </a:p>
        </p:txBody>
      </p:sp>
      <p:sp>
        <p:nvSpPr>
          <p:cNvPr id="17" name="Text 15"/>
          <p:cNvSpPr/>
          <p:nvPr/>
        </p:nvSpPr>
        <p:spPr>
          <a:xfrm>
            <a:off x="1005840" y="3008376"/>
            <a:ext cx="731520" cy="21945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Favorito</a:t>
            </a:r>
            <a:endParaRPr lang="en-US" sz="900" dirty="0"/>
          </a:p>
        </p:txBody>
      </p:sp>
      <p:sp>
        <p:nvSpPr>
          <p:cNvPr id="18" name="Text 16"/>
          <p:cNvSpPr/>
          <p:nvPr/>
        </p:nvSpPr>
        <p:spPr>
          <a:xfrm>
            <a:off x="1005840" y="3218688"/>
            <a:ext cx="3474720" cy="201168"/>
          </a:xfrm>
          <a:prstGeom prst="rect">
            <a:avLst/>
          </a:prstGeom>
          <a:noFill/>
          <a:ln/>
        </p:spPr>
        <p:txBody>
          <a:bodyPr wrap="square" lIns="0" tIns="0" rIns="0" bIns="0" rtlCol="0" anchor="ctr"/>
          <a:lstStyle/>
          <a:p>
            <a:pPr indent="0" marL="0">
              <a:buNone/>
            </a:pPr>
            <a:r>
              <a:rPr lang="en-US" sz="900" dirty="0">
                <a:solidFill>
                  <a:srgbClr val="8A8FA8"/>
                </a:solidFill>
                <a:latin typeface="Calibri" pitchFamily="34" charset="0"/>
                <a:ea typeface="Calibri" pitchFamily="34" charset="-122"/>
                <a:cs typeface="Calibri" pitchFamily="34" charset="-120"/>
              </a:rPr>
              <a:t>Añadido a favoritos.</a:t>
            </a:r>
            <a:endParaRPr lang="en-US" sz="900" dirty="0"/>
          </a:p>
        </p:txBody>
      </p:sp>
      <p:sp>
        <p:nvSpPr>
          <p:cNvPr id="19" name="Text 17"/>
          <p:cNvSpPr/>
          <p:nvPr/>
        </p:nvSpPr>
        <p:spPr>
          <a:xfrm>
            <a:off x="4206240" y="3108960"/>
            <a:ext cx="384048"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4s ⏱</a:t>
            </a:r>
            <a:endParaRPr lang="en-US" sz="800" dirty="0"/>
          </a:p>
        </p:txBody>
      </p:sp>
      <p:sp>
        <p:nvSpPr>
          <p:cNvPr id="20" name="Shape 18"/>
          <p:cNvSpPr/>
          <p:nvPr/>
        </p:nvSpPr>
        <p:spPr>
          <a:xfrm>
            <a:off x="457200" y="3602736"/>
            <a:ext cx="4206240" cy="548640"/>
          </a:xfrm>
          <a:prstGeom prst="roundRect">
            <a:avLst>
              <a:gd name="adj" fmla="val 16667"/>
            </a:avLst>
          </a:prstGeom>
          <a:solidFill>
            <a:srgbClr val="0D1A2A"/>
          </a:solidFill>
          <a:ln w="19050">
            <a:solidFill>
              <a:srgbClr val="5599FF"/>
            </a:solidFill>
            <a:prstDash val="solid"/>
          </a:ln>
          <a:effectLst>
            <a:outerShdw sx="100000" sy="100000" kx="0" ky="0" algn="bl" rotWithShape="0" blurRad="152400" dist="50800" dir="2700000">
              <a:srgbClr val="000000">
                <a:alpha val="35000"/>
              </a:srgbClr>
            </a:outerShdw>
          </a:effectLst>
        </p:spPr>
      </p:sp>
      <p:sp>
        <p:nvSpPr>
          <p:cNvPr id="21" name="Text 19"/>
          <p:cNvSpPr/>
          <p:nvPr/>
        </p:nvSpPr>
        <p:spPr>
          <a:xfrm>
            <a:off x="594360" y="3730752"/>
            <a:ext cx="365760" cy="292608"/>
          </a:xfrm>
          <a:prstGeom prst="rect">
            <a:avLst/>
          </a:prstGeom>
          <a:noFill/>
          <a:ln/>
        </p:spPr>
        <p:txBody>
          <a:bodyPr wrap="square" lIns="0" tIns="0" rIns="0" bIns="0" rtlCol="0" anchor="ctr"/>
          <a:lstStyle/>
          <a:p>
            <a:pPr indent="0" marL="0">
              <a:buNone/>
            </a:pPr>
            <a:r>
              <a:rPr lang="en-US" sz="1300" dirty="0">
                <a:solidFill>
                  <a:srgbClr val="000000"/>
                </a:solidFill>
              </a:rPr>
              <a:t>🛒</a:t>
            </a:r>
            <a:endParaRPr lang="en-US" sz="1300" dirty="0"/>
          </a:p>
        </p:txBody>
      </p:sp>
      <p:sp>
        <p:nvSpPr>
          <p:cNvPr id="22" name="Text 20"/>
          <p:cNvSpPr/>
          <p:nvPr/>
        </p:nvSpPr>
        <p:spPr>
          <a:xfrm>
            <a:off x="1005840" y="3666744"/>
            <a:ext cx="731520" cy="219456"/>
          </a:xfrm>
          <a:prstGeom prst="rect">
            <a:avLst/>
          </a:prstGeom>
          <a:noFill/>
          <a:ln/>
        </p:spPr>
        <p:txBody>
          <a:bodyPr wrap="square" lIns="0" tIns="0" rIns="0" bIns="0"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Compra</a:t>
            </a:r>
            <a:endParaRPr lang="en-US" sz="900" dirty="0"/>
          </a:p>
        </p:txBody>
      </p:sp>
      <p:sp>
        <p:nvSpPr>
          <p:cNvPr id="23" name="Text 21"/>
          <p:cNvSpPr/>
          <p:nvPr/>
        </p:nvSpPr>
        <p:spPr>
          <a:xfrm>
            <a:off x="1005840" y="3877056"/>
            <a:ext cx="3474720" cy="201168"/>
          </a:xfrm>
          <a:prstGeom prst="rect">
            <a:avLst/>
          </a:prstGeom>
          <a:noFill/>
          <a:ln/>
        </p:spPr>
        <p:txBody>
          <a:bodyPr wrap="square" lIns="0" tIns="0" rIns="0" bIns="0" rtlCol="0" anchor="ctr"/>
          <a:lstStyle/>
          <a:p>
            <a:pPr indent="0" marL="0">
              <a:buNone/>
            </a:pPr>
            <a:r>
              <a:rPr lang="en-US" sz="900" dirty="0">
                <a:solidFill>
                  <a:srgbClr val="8A8FA8"/>
                </a:solidFill>
                <a:latin typeface="Calibri" pitchFamily="34" charset="0"/>
                <a:ea typeface="Calibri" pitchFamily="34" charset="-122"/>
                <a:cs typeface="Calibri" pitchFamily="34" charset="-120"/>
              </a:rPr>
              <a:t>Solicitud de préstamo enviada con éxito.</a:t>
            </a:r>
            <a:endParaRPr lang="en-US" sz="900" dirty="0"/>
          </a:p>
        </p:txBody>
      </p:sp>
      <p:sp>
        <p:nvSpPr>
          <p:cNvPr id="24" name="Text 22"/>
          <p:cNvSpPr/>
          <p:nvPr/>
        </p:nvSpPr>
        <p:spPr>
          <a:xfrm>
            <a:off x="4206240" y="3767328"/>
            <a:ext cx="384048"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4s ⏱</a:t>
            </a:r>
            <a:endParaRPr lang="en-US" sz="800" dirty="0"/>
          </a:p>
        </p:txBody>
      </p:sp>
      <p:sp>
        <p:nvSpPr>
          <p:cNvPr id="25" name="Shape 23"/>
          <p:cNvSpPr/>
          <p:nvPr/>
        </p:nvSpPr>
        <p:spPr>
          <a:xfrm>
            <a:off x="5029200" y="1188720"/>
            <a:ext cx="3657600" cy="3337560"/>
          </a:xfrm>
          <a:prstGeom prst="roundRect">
            <a:avLst>
              <a:gd name="adj" fmla="val 4110"/>
            </a:avLst>
          </a:prstGeom>
          <a:solidFill>
            <a:srgbClr val="101320"/>
          </a:solidFill>
          <a:ln w="19050">
            <a:solidFill>
              <a:srgbClr val="C9A96E"/>
            </a:solidFill>
            <a:prstDash val="solid"/>
          </a:ln>
          <a:effectLst>
            <a:outerShdw sx="100000" sy="100000" kx="0" ky="0" algn="bl" rotWithShape="0" blurRad="152400" dist="50800" dir="2700000">
              <a:srgbClr val="000000">
                <a:alpha val="35000"/>
              </a:srgbClr>
            </a:outerShdw>
          </a:effectLst>
        </p:spPr>
      </p:sp>
      <p:pic>
        <p:nvPicPr>
          <p:cNvPr id="26" name="Image 0" descr="preencoded.png">    </p:cNvPr>
          <p:cNvPicPr>
            <a:picLocks noChangeAspect="1"/>
          </p:cNvPicPr>
          <p:nvPr/>
        </p:nvPicPr>
        <p:blipFill>
          <a:blip r:embed="rId1"/>
          <a:stretch>
            <a:fillRect/>
          </a:stretch>
        </p:blipFill>
        <p:spPr>
          <a:xfrm>
            <a:off x="5212080" y="1325880"/>
            <a:ext cx="411480" cy="411480"/>
          </a:xfrm>
          <a:prstGeom prst="rect">
            <a:avLst/>
          </a:prstGeom>
        </p:spPr>
      </p:pic>
      <p:sp>
        <p:nvSpPr>
          <p:cNvPr id="27" name="Text 24"/>
          <p:cNvSpPr/>
          <p:nvPr/>
        </p:nvSpPr>
        <p:spPr>
          <a:xfrm>
            <a:off x="5715000" y="1325880"/>
            <a:ext cx="2834640" cy="320040"/>
          </a:xfrm>
          <a:prstGeom prst="rect">
            <a:avLst/>
          </a:prstGeom>
          <a:noFill/>
          <a:ln/>
        </p:spPr>
        <p:txBody>
          <a:bodyPr wrap="square" lIns="0" tIns="0" rIns="0" bIns="0" rtlCol="0" anchor="ctr"/>
          <a:lstStyle/>
          <a:p>
            <a:pPr indent="0" marL="0">
              <a:buNone/>
            </a:pPr>
            <a:r>
              <a:rPr lang="en-US" sz="1300" b="1" dirty="0">
                <a:solidFill>
                  <a:srgbClr val="C9A96E"/>
                </a:solidFill>
                <a:latin typeface="Calibri" pitchFamily="34" charset="0"/>
                <a:ea typeface="Calibri" pitchFamily="34" charset="-122"/>
                <a:cs typeface="Calibri" pitchFamily="34" charset="-120"/>
              </a:rPr>
              <a:t>Persistencia de Datos</a:t>
            </a:r>
            <a:endParaRPr lang="en-US" sz="1300" dirty="0"/>
          </a:p>
        </p:txBody>
      </p:sp>
      <p:sp>
        <p:nvSpPr>
          <p:cNvPr id="28" name="Text 25"/>
          <p:cNvSpPr/>
          <p:nvPr/>
        </p:nvSpPr>
        <p:spPr>
          <a:xfrm>
            <a:off x="5212080" y="1901952"/>
            <a:ext cx="3291840" cy="365760"/>
          </a:xfrm>
          <a:prstGeom prst="rect">
            <a:avLst/>
          </a:prstGeom>
          <a:noFill/>
          <a:ln/>
        </p:spPr>
        <p:txBody>
          <a:bodyPr wrap="square" lIns="0" tIns="0" rIns="0" bIns="0" rtlCol="0" anchor="ctr"/>
          <a:lstStyle/>
          <a:p>
            <a:pPr indent="0" marL="0">
              <a:buNone/>
            </a:pPr>
            <a:r>
              <a:rPr lang="en-US" sz="1100" dirty="0">
                <a:solidFill>
                  <a:srgbClr val="F5ECD7"/>
                </a:solidFill>
                <a:latin typeface="Calibri" pitchFamily="34" charset="0"/>
                <a:ea typeface="Calibri" pitchFamily="34" charset="-122"/>
                <a:cs typeface="Calibri" pitchFamily="34" charset="-120"/>
              </a:rPr>
              <a:t>📚 Catálogo modificado por el admin</a:t>
            </a:r>
            <a:endParaRPr lang="en-US" sz="1100" dirty="0"/>
          </a:p>
        </p:txBody>
      </p:sp>
      <p:sp>
        <p:nvSpPr>
          <p:cNvPr id="29" name="Text 26"/>
          <p:cNvSpPr/>
          <p:nvPr/>
        </p:nvSpPr>
        <p:spPr>
          <a:xfrm>
            <a:off x="5212080" y="2359152"/>
            <a:ext cx="3291840" cy="365760"/>
          </a:xfrm>
          <a:prstGeom prst="rect">
            <a:avLst/>
          </a:prstGeom>
          <a:noFill/>
          <a:ln/>
        </p:spPr>
        <p:txBody>
          <a:bodyPr wrap="square" lIns="0" tIns="0" rIns="0" bIns="0" rtlCol="0" anchor="ctr"/>
          <a:lstStyle/>
          <a:p>
            <a:pPr indent="0" marL="0">
              <a:buNone/>
            </a:pPr>
            <a:r>
              <a:rPr lang="en-US" sz="1100" dirty="0">
                <a:solidFill>
                  <a:srgbClr val="F5ECD7"/>
                </a:solidFill>
                <a:latin typeface="Calibri" pitchFamily="34" charset="0"/>
                <a:ea typeface="Calibri" pitchFamily="34" charset="-122"/>
                <a:cs typeface="Calibri" pitchFamily="34" charset="-120"/>
              </a:rPr>
              <a:t>❤️ Lista de favoritos del usuario</a:t>
            </a:r>
            <a:endParaRPr lang="en-US" sz="1100" dirty="0"/>
          </a:p>
        </p:txBody>
      </p:sp>
      <p:sp>
        <p:nvSpPr>
          <p:cNvPr id="30" name="Text 27"/>
          <p:cNvSpPr/>
          <p:nvPr/>
        </p:nvSpPr>
        <p:spPr>
          <a:xfrm>
            <a:off x="5212080" y="2816352"/>
            <a:ext cx="3291840" cy="365760"/>
          </a:xfrm>
          <a:prstGeom prst="rect">
            <a:avLst/>
          </a:prstGeom>
          <a:noFill/>
          <a:ln/>
        </p:spPr>
        <p:txBody>
          <a:bodyPr wrap="square" lIns="0" tIns="0" rIns="0" bIns="0" rtlCol="0" anchor="ctr"/>
          <a:lstStyle/>
          <a:p>
            <a:pPr indent="0" marL="0">
              <a:buNone/>
            </a:pPr>
            <a:r>
              <a:rPr lang="en-US" sz="1100" dirty="0">
                <a:solidFill>
                  <a:srgbClr val="F5ECD7"/>
                </a:solidFill>
                <a:latin typeface="Calibri" pitchFamily="34" charset="0"/>
                <a:ea typeface="Calibri" pitchFamily="34" charset="-122"/>
                <a:cs typeface="Calibri" pitchFamily="34" charset="-120"/>
              </a:rPr>
              <a:t>🛒 Solicitudes en bandeja pendiente</a:t>
            </a:r>
            <a:endParaRPr lang="en-US" sz="1100" dirty="0"/>
          </a:p>
        </p:txBody>
      </p:sp>
      <p:sp>
        <p:nvSpPr>
          <p:cNvPr id="31" name="Text 28"/>
          <p:cNvSpPr/>
          <p:nvPr/>
        </p:nvSpPr>
        <p:spPr>
          <a:xfrm>
            <a:off x="5212080" y="3273552"/>
            <a:ext cx="3291840" cy="365760"/>
          </a:xfrm>
          <a:prstGeom prst="rect">
            <a:avLst/>
          </a:prstGeom>
          <a:noFill/>
          <a:ln/>
        </p:spPr>
        <p:txBody>
          <a:bodyPr wrap="square" lIns="0" tIns="0" rIns="0" bIns="0" rtlCol="0" anchor="ctr"/>
          <a:lstStyle/>
          <a:p>
            <a:pPr indent="0" marL="0">
              <a:buNone/>
            </a:pPr>
            <a:r>
              <a:rPr lang="en-US" sz="1100" dirty="0">
                <a:solidFill>
                  <a:srgbClr val="F5ECD7"/>
                </a:solidFill>
                <a:latin typeface="Calibri" pitchFamily="34" charset="0"/>
                <a:ea typeface="Calibri" pitchFamily="34" charset="-122"/>
                <a:cs typeface="Calibri" pitchFamily="34" charset="-120"/>
              </a:rPr>
              <a:t>📍 Última sección visitada del menú</a:t>
            </a:r>
            <a:endParaRPr lang="en-US" sz="1100" dirty="0"/>
          </a:p>
        </p:txBody>
      </p:sp>
      <p:sp>
        <p:nvSpPr>
          <p:cNvPr id="32" name="Text 29"/>
          <p:cNvSpPr/>
          <p:nvPr/>
        </p:nvSpPr>
        <p:spPr>
          <a:xfrm>
            <a:off x="5212080" y="3749040"/>
            <a:ext cx="3291840" cy="621792"/>
          </a:xfrm>
          <a:prstGeom prst="rect">
            <a:avLst/>
          </a:prstGeom>
          <a:noFill/>
          <a:ln/>
        </p:spPr>
        <p:txBody>
          <a:bodyPr wrap="square" lIns="0" tIns="0" rIns="0" bIns="0" rtlCol="0" anchor="ctr"/>
          <a:lstStyle/>
          <a:p>
            <a:pPr indent="0" marL="0">
              <a:buNone/>
            </a:pPr>
            <a:r>
              <a:rPr lang="en-US" sz="1000" i="1" dirty="0">
                <a:solidFill>
                  <a:srgbClr val="8A8FA8"/>
                </a:solidFill>
                <a:latin typeface="Calibri" pitchFamily="34" charset="0"/>
                <a:ea typeface="Calibri" pitchFamily="34" charset="-122"/>
                <a:cs typeface="Calibri" pitchFamily="34" charset="-120"/>
              </a:rPr>
              <a:t>🔒 Todo guardado en Local Storage del navegador — sin servidor, sin pérdida de datos al cerrar.</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117"/>
        </a:solidFill>
      </p:bgPr>
    </p:bg>
    <p:spTree>
      <p:nvGrpSpPr>
        <p:cNvPr id="1" name=""/>
        <p:cNvGrpSpPr/>
        <p:nvPr/>
      </p:nvGrpSpPr>
      <p:grpSpPr>
        <a:xfrm>
          <a:off x="0" y="0"/>
          <a:ext cx="0" cy="0"/>
          <a:chOff x="0" y="0"/>
          <a:chExt cx="0" cy="0"/>
        </a:xfrm>
      </p:grpSpPr>
      <p:sp>
        <p:nvSpPr>
          <p:cNvPr id="2" name="Text 0"/>
          <p:cNvSpPr/>
          <p:nvPr/>
        </p:nvSpPr>
        <p:spPr>
          <a:xfrm>
            <a:off x="457200" y="256032"/>
            <a:ext cx="8229600" cy="292608"/>
          </a:xfrm>
          <a:prstGeom prst="rect">
            <a:avLst/>
          </a:prstGeom>
          <a:noFill/>
          <a:ln/>
        </p:spPr>
        <p:txBody>
          <a:bodyPr wrap="square" lIns="0" tIns="0" rIns="0" bIns="0" rtlCol="0" anchor="ctr"/>
          <a:lstStyle/>
          <a:p>
            <a:pPr indent="0" marL="0">
              <a:buNone/>
            </a:pPr>
            <a:r>
              <a:rPr lang="en-US" sz="1000" spc="400" kern="0" dirty="0">
                <a:solidFill>
                  <a:srgbClr val="C9A96E"/>
                </a:solidFill>
                <a:latin typeface="Calibri" pitchFamily="34" charset="0"/>
                <a:ea typeface="Calibri" pitchFamily="34" charset="-122"/>
                <a:cs typeface="Calibri" pitchFamily="34" charset="-120"/>
              </a:rPr>
              <a:t>REQUERIMIENTOS</a:t>
            </a:r>
            <a:endParaRPr lang="en-US" sz="1000" dirty="0"/>
          </a:p>
        </p:txBody>
      </p:sp>
      <p:sp>
        <p:nvSpPr>
          <p:cNvPr id="3" name="Text 1"/>
          <p:cNvSpPr/>
          <p:nvPr/>
        </p:nvSpPr>
        <p:spPr>
          <a:xfrm>
            <a:off x="457200" y="530352"/>
            <a:ext cx="8229600" cy="530352"/>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Lo que el sistema DEBE hacer vs. cómo DEBE funcionar</a:t>
            </a:r>
            <a:endParaRPr lang="en-US" sz="2000" dirty="0"/>
          </a:p>
        </p:txBody>
      </p:sp>
      <p:sp>
        <p:nvSpPr>
          <p:cNvPr id="4" name="Text 2"/>
          <p:cNvSpPr/>
          <p:nvPr/>
        </p:nvSpPr>
        <p:spPr>
          <a:xfrm>
            <a:off x="411480" y="1188720"/>
            <a:ext cx="3977640" cy="320040"/>
          </a:xfrm>
          <a:prstGeom prst="rect">
            <a:avLst/>
          </a:prstGeom>
          <a:noFill/>
          <a:ln/>
        </p:spPr>
        <p:txBody>
          <a:bodyPr wrap="square" lIns="0" tIns="0" rIns="0" bIns="0" rtlCol="0" anchor="ctr"/>
          <a:lstStyle/>
          <a:p>
            <a:pPr indent="0" marL="0">
              <a:buNone/>
            </a:pPr>
            <a:r>
              <a:rPr lang="en-US" sz="1300" b="1" dirty="0">
                <a:solidFill>
                  <a:srgbClr val="2EC4B6"/>
                </a:solidFill>
                <a:latin typeface="Calibri" pitchFamily="34" charset="0"/>
                <a:ea typeface="Calibri" pitchFamily="34" charset="-122"/>
                <a:cs typeface="Calibri" pitchFamily="34" charset="-120"/>
              </a:rPr>
              <a:t>Requerimientos Funcionales</a:t>
            </a:r>
            <a:endParaRPr lang="en-US" sz="1300" dirty="0"/>
          </a:p>
        </p:txBody>
      </p:sp>
      <p:sp>
        <p:nvSpPr>
          <p:cNvPr id="5" name="Shape 3"/>
          <p:cNvSpPr/>
          <p:nvPr/>
        </p:nvSpPr>
        <p:spPr>
          <a:xfrm>
            <a:off x="411480" y="1581912"/>
            <a:ext cx="3977640" cy="530352"/>
          </a:xfrm>
          <a:prstGeom prst="roundRect">
            <a:avLst>
              <a:gd name="adj" fmla="val 13793"/>
            </a:avLst>
          </a:prstGeom>
          <a:solidFill>
            <a:srgbClr val="1E2235"/>
          </a:solidFill>
          <a:ln/>
          <a:effectLst>
            <a:outerShdw sx="100000" sy="100000" kx="0" ky="0" algn="bl" rotWithShape="0" blurRad="152400" dist="50800" dir="2700000">
              <a:srgbClr val="000000">
                <a:alpha val="35000"/>
              </a:srgbClr>
            </a:outerShdw>
          </a:effectLst>
        </p:spPr>
      </p:sp>
      <p:sp>
        <p:nvSpPr>
          <p:cNvPr id="6" name="Text 4"/>
          <p:cNvSpPr/>
          <p:nvPr/>
        </p:nvSpPr>
        <p:spPr>
          <a:xfrm>
            <a:off x="530352" y="1645920"/>
            <a:ext cx="640080" cy="219456"/>
          </a:xfrm>
          <a:prstGeom prst="rect">
            <a:avLst/>
          </a:prstGeom>
          <a:noFill/>
          <a:ln/>
        </p:spPr>
        <p:txBody>
          <a:bodyPr wrap="square" lIns="0" tIns="0" rIns="0" bIns="0" rtlCol="0" anchor="ctr"/>
          <a:lstStyle/>
          <a:p>
            <a:pPr indent="0" marL="0">
              <a:buNone/>
            </a:pPr>
            <a:r>
              <a:rPr lang="en-US" sz="900" b="1" dirty="0">
                <a:solidFill>
                  <a:srgbClr val="2EC4B6"/>
                </a:solidFill>
                <a:latin typeface="Calibri" pitchFamily="34" charset="0"/>
                <a:ea typeface="Calibri" pitchFamily="34" charset="-122"/>
                <a:cs typeface="Calibri" pitchFamily="34" charset="-120"/>
              </a:rPr>
              <a:t>RF-01</a:t>
            </a:r>
            <a:endParaRPr lang="en-US" sz="900" dirty="0"/>
          </a:p>
        </p:txBody>
      </p:sp>
      <p:sp>
        <p:nvSpPr>
          <p:cNvPr id="7" name="Text 5"/>
          <p:cNvSpPr/>
          <p:nvPr/>
        </p:nvSpPr>
        <p:spPr>
          <a:xfrm>
            <a:off x="1207008" y="1645920"/>
            <a:ext cx="2651760" cy="219456"/>
          </a:xfrm>
          <a:prstGeom prst="rect">
            <a:avLst/>
          </a:prstGeom>
          <a:noFill/>
          <a:ln/>
        </p:spPr>
        <p:txBody>
          <a:bodyPr wrap="square" lIns="0" tIns="0" rIns="0" bIns="0" rtlCol="0" anchor="ctr"/>
          <a:lstStyle/>
          <a:p>
            <a:pPr indent="0" marL="0">
              <a:buNone/>
            </a:pPr>
            <a:r>
              <a:rPr lang="en-US" sz="900" dirty="0">
                <a:solidFill>
                  <a:srgbClr val="F5ECD7"/>
                </a:solidFill>
                <a:latin typeface="Calibri" pitchFamily="34" charset="0"/>
                <a:ea typeface="Calibri" pitchFamily="34" charset="-122"/>
                <a:cs typeface="Calibri" pitchFamily="34" charset="-120"/>
              </a:rPr>
              <a:t>Autenticación mediante usuario y contraseña</a:t>
            </a:r>
            <a:endParaRPr lang="en-US" sz="900" dirty="0"/>
          </a:p>
        </p:txBody>
      </p:sp>
      <p:sp>
        <p:nvSpPr>
          <p:cNvPr id="8" name="Shape 6"/>
          <p:cNvSpPr/>
          <p:nvPr/>
        </p:nvSpPr>
        <p:spPr>
          <a:xfrm>
            <a:off x="4005072" y="1700784"/>
            <a:ext cx="320040" cy="201168"/>
          </a:xfrm>
          <a:prstGeom prst="roundRect">
            <a:avLst>
              <a:gd name="adj" fmla="val 22727"/>
            </a:avLst>
          </a:prstGeom>
          <a:solidFill>
            <a:srgbClr val="0D2A1A"/>
          </a:solidFill>
          <a:ln/>
        </p:spPr>
      </p:sp>
      <p:sp>
        <p:nvSpPr>
          <p:cNvPr id="9" name="Text 7"/>
          <p:cNvSpPr/>
          <p:nvPr/>
        </p:nvSpPr>
        <p:spPr>
          <a:xfrm>
            <a:off x="4005072" y="1709928"/>
            <a:ext cx="320040" cy="164592"/>
          </a:xfrm>
          <a:prstGeom prst="rect">
            <a:avLst/>
          </a:prstGeom>
          <a:noFill/>
          <a:ln/>
        </p:spPr>
        <p:txBody>
          <a:bodyPr wrap="square" lIns="0" tIns="0" rIns="0" bIns="0" rtlCol="0" anchor="ctr"/>
          <a:lstStyle/>
          <a:p>
            <a:pPr algn="ctr" indent="0" marL="0">
              <a:buNone/>
            </a:pPr>
            <a:r>
              <a:rPr lang="en-US" sz="800" dirty="0">
                <a:solidFill>
                  <a:srgbClr val="2EC4B6"/>
                </a:solidFill>
                <a:latin typeface="Calibri" pitchFamily="34" charset="0"/>
                <a:ea typeface="Calibri" pitchFamily="34" charset="-122"/>
                <a:cs typeface="Calibri" pitchFamily="34" charset="-120"/>
              </a:rPr>
              <a:t>●</a:t>
            </a:r>
            <a:endParaRPr lang="en-US" sz="800" dirty="0"/>
          </a:p>
        </p:txBody>
      </p:sp>
      <p:sp>
        <p:nvSpPr>
          <p:cNvPr id="10" name="Shape 8"/>
          <p:cNvSpPr/>
          <p:nvPr/>
        </p:nvSpPr>
        <p:spPr>
          <a:xfrm>
            <a:off x="411480" y="2203704"/>
            <a:ext cx="3977640" cy="530352"/>
          </a:xfrm>
          <a:prstGeom prst="roundRect">
            <a:avLst>
              <a:gd name="adj" fmla="val 13793"/>
            </a:avLst>
          </a:prstGeom>
          <a:solidFill>
            <a:srgbClr val="1E2235"/>
          </a:solidFill>
          <a:ln/>
          <a:effectLst>
            <a:outerShdw sx="100000" sy="100000" kx="0" ky="0" algn="bl" rotWithShape="0" blurRad="152400" dist="50800" dir="2700000">
              <a:srgbClr val="000000">
                <a:alpha val="35000"/>
              </a:srgbClr>
            </a:outerShdw>
          </a:effectLst>
        </p:spPr>
      </p:sp>
      <p:sp>
        <p:nvSpPr>
          <p:cNvPr id="11" name="Text 9"/>
          <p:cNvSpPr/>
          <p:nvPr/>
        </p:nvSpPr>
        <p:spPr>
          <a:xfrm>
            <a:off x="530352" y="2267712"/>
            <a:ext cx="640080" cy="219456"/>
          </a:xfrm>
          <a:prstGeom prst="rect">
            <a:avLst/>
          </a:prstGeom>
          <a:noFill/>
          <a:ln/>
        </p:spPr>
        <p:txBody>
          <a:bodyPr wrap="square" lIns="0" tIns="0" rIns="0" bIns="0" rtlCol="0" anchor="ctr"/>
          <a:lstStyle/>
          <a:p>
            <a:pPr indent="0" marL="0">
              <a:buNone/>
            </a:pPr>
            <a:r>
              <a:rPr lang="en-US" sz="900" b="1" dirty="0">
                <a:solidFill>
                  <a:srgbClr val="2EC4B6"/>
                </a:solidFill>
                <a:latin typeface="Calibri" pitchFamily="34" charset="0"/>
                <a:ea typeface="Calibri" pitchFamily="34" charset="-122"/>
                <a:cs typeface="Calibri" pitchFamily="34" charset="-120"/>
              </a:rPr>
              <a:t>RF-02</a:t>
            </a:r>
            <a:endParaRPr lang="en-US" sz="900" dirty="0"/>
          </a:p>
        </p:txBody>
      </p:sp>
      <p:sp>
        <p:nvSpPr>
          <p:cNvPr id="12" name="Text 10"/>
          <p:cNvSpPr/>
          <p:nvPr/>
        </p:nvSpPr>
        <p:spPr>
          <a:xfrm>
            <a:off x="1207008" y="2267712"/>
            <a:ext cx="2651760" cy="219456"/>
          </a:xfrm>
          <a:prstGeom prst="rect">
            <a:avLst/>
          </a:prstGeom>
          <a:noFill/>
          <a:ln/>
        </p:spPr>
        <p:txBody>
          <a:bodyPr wrap="square" lIns="0" tIns="0" rIns="0" bIns="0" rtlCol="0" anchor="ctr"/>
          <a:lstStyle/>
          <a:p>
            <a:pPr indent="0" marL="0">
              <a:buNone/>
            </a:pPr>
            <a:r>
              <a:rPr lang="en-US" sz="900" dirty="0">
                <a:solidFill>
                  <a:srgbClr val="F5ECD7"/>
                </a:solidFill>
                <a:latin typeface="Calibri" pitchFamily="34" charset="0"/>
                <a:ea typeface="Calibri" pitchFamily="34" charset="-122"/>
                <a:cs typeface="Calibri" pitchFamily="34" charset="-120"/>
              </a:rPr>
              <a:t>Consulta de disponibilidad por título, autor o categoría</a:t>
            </a:r>
            <a:endParaRPr lang="en-US" sz="900" dirty="0"/>
          </a:p>
        </p:txBody>
      </p:sp>
      <p:sp>
        <p:nvSpPr>
          <p:cNvPr id="13" name="Shape 11"/>
          <p:cNvSpPr/>
          <p:nvPr/>
        </p:nvSpPr>
        <p:spPr>
          <a:xfrm>
            <a:off x="4005072" y="2322576"/>
            <a:ext cx="320040" cy="201168"/>
          </a:xfrm>
          <a:prstGeom prst="roundRect">
            <a:avLst>
              <a:gd name="adj" fmla="val 22727"/>
            </a:avLst>
          </a:prstGeom>
          <a:solidFill>
            <a:srgbClr val="0D2A1A"/>
          </a:solidFill>
          <a:ln/>
        </p:spPr>
      </p:sp>
      <p:sp>
        <p:nvSpPr>
          <p:cNvPr id="14" name="Text 12"/>
          <p:cNvSpPr/>
          <p:nvPr/>
        </p:nvSpPr>
        <p:spPr>
          <a:xfrm>
            <a:off x="4005072" y="2331720"/>
            <a:ext cx="320040" cy="164592"/>
          </a:xfrm>
          <a:prstGeom prst="rect">
            <a:avLst/>
          </a:prstGeom>
          <a:noFill/>
          <a:ln/>
        </p:spPr>
        <p:txBody>
          <a:bodyPr wrap="square" lIns="0" tIns="0" rIns="0" bIns="0" rtlCol="0" anchor="ctr"/>
          <a:lstStyle/>
          <a:p>
            <a:pPr algn="ctr" indent="0" marL="0">
              <a:buNone/>
            </a:pPr>
            <a:r>
              <a:rPr lang="en-US" sz="800" dirty="0">
                <a:solidFill>
                  <a:srgbClr val="2EC4B6"/>
                </a:solidFill>
                <a:latin typeface="Calibri" pitchFamily="34" charset="0"/>
                <a:ea typeface="Calibri" pitchFamily="34" charset="-122"/>
                <a:cs typeface="Calibri" pitchFamily="34" charset="-120"/>
              </a:rPr>
              <a:t>●</a:t>
            </a:r>
            <a:endParaRPr lang="en-US" sz="800" dirty="0"/>
          </a:p>
        </p:txBody>
      </p:sp>
      <p:sp>
        <p:nvSpPr>
          <p:cNvPr id="15" name="Shape 13"/>
          <p:cNvSpPr/>
          <p:nvPr/>
        </p:nvSpPr>
        <p:spPr>
          <a:xfrm>
            <a:off x="411480" y="2825496"/>
            <a:ext cx="3977640" cy="530352"/>
          </a:xfrm>
          <a:prstGeom prst="roundRect">
            <a:avLst>
              <a:gd name="adj" fmla="val 13793"/>
            </a:avLst>
          </a:prstGeom>
          <a:solidFill>
            <a:srgbClr val="1E2235"/>
          </a:solidFill>
          <a:ln/>
          <a:effectLst>
            <a:outerShdw sx="100000" sy="100000" kx="0" ky="0" algn="bl" rotWithShape="0" blurRad="152400" dist="50800" dir="2700000">
              <a:srgbClr val="000000">
                <a:alpha val="35000"/>
              </a:srgbClr>
            </a:outerShdw>
          </a:effectLst>
        </p:spPr>
      </p:sp>
      <p:sp>
        <p:nvSpPr>
          <p:cNvPr id="16" name="Text 14"/>
          <p:cNvSpPr/>
          <p:nvPr/>
        </p:nvSpPr>
        <p:spPr>
          <a:xfrm>
            <a:off x="530352" y="2889504"/>
            <a:ext cx="640080" cy="219456"/>
          </a:xfrm>
          <a:prstGeom prst="rect">
            <a:avLst/>
          </a:prstGeom>
          <a:noFill/>
          <a:ln/>
        </p:spPr>
        <p:txBody>
          <a:bodyPr wrap="square" lIns="0" tIns="0" rIns="0" bIns="0" rtlCol="0" anchor="ctr"/>
          <a:lstStyle/>
          <a:p>
            <a:pPr indent="0" marL="0">
              <a:buNone/>
            </a:pPr>
            <a:r>
              <a:rPr lang="en-US" sz="900" b="1" dirty="0">
                <a:solidFill>
                  <a:srgbClr val="2EC4B6"/>
                </a:solidFill>
                <a:latin typeface="Calibri" pitchFamily="34" charset="0"/>
                <a:ea typeface="Calibri" pitchFamily="34" charset="-122"/>
                <a:cs typeface="Calibri" pitchFamily="34" charset="-120"/>
              </a:rPr>
              <a:t>RF-03</a:t>
            </a:r>
            <a:endParaRPr lang="en-US" sz="900" dirty="0"/>
          </a:p>
        </p:txBody>
      </p:sp>
      <p:sp>
        <p:nvSpPr>
          <p:cNvPr id="17" name="Text 15"/>
          <p:cNvSpPr/>
          <p:nvPr/>
        </p:nvSpPr>
        <p:spPr>
          <a:xfrm>
            <a:off x="1207008" y="2889504"/>
            <a:ext cx="2651760" cy="219456"/>
          </a:xfrm>
          <a:prstGeom prst="rect">
            <a:avLst/>
          </a:prstGeom>
          <a:noFill/>
          <a:ln/>
        </p:spPr>
        <p:txBody>
          <a:bodyPr wrap="square" lIns="0" tIns="0" rIns="0" bIns="0" rtlCol="0" anchor="ctr"/>
          <a:lstStyle/>
          <a:p>
            <a:pPr indent="0" marL="0">
              <a:buNone/>
            </a:pPr>
            <a:r>
              <a:rPr lang="en-US" sz="900" dirty="0">
                <a:solidFill>
                  <a:srgbClr val="F5ECD7"/>
                </a:solidFill>
                <a:latin typeface="Calibri" pitchFamily="34" charset="0"/>
                <a:ea typeface="Calibri" pitchFamily="34" charset="-122"/>
                <a:cs typeface="Calibri" pitchFamily="34" charset="-120"/>
              </a:rPr>
              <a:t>Registro de préstamos a usuarios autorizados</a:t>
            </a:r>
            <a:endParaRPr lang="en-US" sz="900" dirty="0"/>
          </a:p>
        </p:txBody>
      </p:sp>
      <p:sp>
        <p:nvSpPr>
          <p:cNvPr id="18" name="Shape 16"/>
          <p:cNvSpPr/>
          <p:nvPr/>
        </p:nvSpPr>
        <p:spPr>
          <a:xfrm>
            <a:off x="4005072" y="2944368"/>
            <a:ext cx="320040" cy="201168"/>
          </a:xfrm>
          <a:prstGeom prst="roundRect">
            <a:avLst>
              <a:gd name="adj" fmla="val 22727"/>
            </a:avLst>
          </a:prstGeom>
          <a:solidFill>
            <a:srgbClr val="0D2A1A"/>
          </a:solidFill>
          <a:ln/>
        </p:spPr>
      </p:sp>
      <p:sp>
        <p:nvSpPr>
          <p:cNvPr id="19" name="Text 17"/>
          <p:cNvSpPr/>
          <p:nvPr/>
        </p:nvSpPr>
        <p:spPr>
          <a:xfrm>
            <a:off x="4005072" y="2953512"/>
            <a:ext cx="320040" cy="164592"/>
          </a:xfrm>
          <a:prstGeom prst="rect">
            <a:avLst/>
          </a:prstGeom>
          <a:noFill/>
          <a:ln/>
        </p:spPr>
        <p:txBody>
          <a:bodyPr wrap="square" lIns="0" tIns="0" rIns="0" bIns="0" rtlCol="0" anchor="ctr"/>
          <a:lstStyle/>
          <a:p>
            <a:pPr algn="ctr" indent="0" marL="0">
              <a:buNone/>
            </a:pPr>
            <a:r>
              <a:rPr lang="en-US" sz="800" dirty="0">
                <a:solidFill>
                  <a:srgbClr val="2EC4B6"/>
                </a:solidFill>
                <a:latin typeface="Calibri" pitchFamily="34" charset="0"/>
                <a:ea typeface="Calibri" pitchFamily="34" charset="-122"/>
                <a:cs typeface="Calibri" pitchFamily="34" charset="-120"/>
              </a:rPr>
              <a:t>●</a:t>
            </a:r>
            <a:endParaRPr lang="en-US" sz="800" dirty="0"/>
          </a:p>
        </p:txBody>
      </p:sp>
      <p:sp>
        <p:nvSpPr>
          <p:cNvPr id="20" name="Shape 18"/>
          <p:cNvSpPr/>
          <p:nvPr/>
        </p:nvSpPr>
        <p:spPr>
          <a:xfrm>
            <a:off x="411480" y="3447288"/>
            <a:ext cx="3977640" cy="530352"/>
          </a:xfrm>
          <a:prstGeom prst="roundRect">
            <a:avLst>
              <a:gd name="adj" fmla="val 13793"/>
            </a:avLst>
          </a:prstGeom>
          <a:solidFill>
            <a:srgbClr val="1E2235"/>
          </a:solidFill>
          <a:ln/>
          <a:effectLst>
            <a:outerShdw sx="100000" sy="100000" kx="0" ky="0" algn="bl" rotWithShape="0" blurRad="152400" dist="50800" dir="2700000">
              <a:srgbClr val="000000">
                <a:alpha val="35000"/>
              </a:srgbClr>
            </a:outerShdw>
          </a:effectLst>
        </p:spPr>
      </p:sp>
      <p:sp>
        <p:nvSpPr>
          <p:cNvPr id="21" name="Text 19"/>
          <p:cNvSpPr/>
          <p:nvPr/>
        </p:nvSpPr>
        <p:spPr>
          <a:xfrm>
            <a:off x="530352" y="3511296"/>
            <a:ext cx="640080" cy="219456"/>
          </a:xfrm>
          <a:prstGeom prst="rect">
            <a:avLst/>
          </a:prstGeom>
          <a:noFill/>
          <a:ln/>
        </p:spPr>
        <p:txBody>
          <a:bodyPr wrap="square" lIns="0" tIns="0" rIns="0" bIns="0" rtlCol="0" anchor="ctr"/>
          <a:lstStyle/>
          <a:p>
            <a:pPr indent="0" marL="0">
              <a:buNone/>
            </a:pPr>
            <a:r>
              <a:rPr lang="en-US" sz="900" b="1" dirty="0">
                <a:solidFill>
                  <a:srgbClr val="2EC4B6"/>
                </a:solidFill>
                <a:latin typeface="Calibri" pitchFamily="34" charset="0"/>
                <a:ea typeface="Calibri" pitchFamily="34" charset="-122"/>
                <a:cs typeface="Calibri" pitchFamily="34" charset="-120"/>
              </a:rPr>
              <a:t>RF-04</a:t>
            </a:r>
            <a:endParaRPr lang="en-US" sz="900" dirty="0"/>
          </a:p>
        </p:txBody>
      </p:sp>
      <p:sp>
        <p:nvSpPr>
          <p:cNvPr id="22" name="Text 20"/>
          <p:cNvSpPr/>
          <p:nvPr/>
        </p:nvSpPr>
        <p:spPr>
          <a:xfrm>
            <a:off x="1207008" y="3511296"/>
            <a:ext cx="2651760" cy="219456"/>
          </a:xfrm>
          <a:prstGeom prst="rect">
            <a:avLst/>
          </a:prstGeom>
          <a:noFill/>
          <a:ln/>
        </p:spPr>
        <p:txBody>
          <a:bodyPr wrap="square" lIns="0" tIns="0" rIns="0" bIns="0" rtlCol="0" anchor="ctr"/>
          <a:lstStyle/>
          <a:p>
            <a:pPr indent="0" marL="0">
              <a:buNone/>
            </a:pPr>
            <a:r>
              <a:rPr lang="en-US" sz="900" dirty="0">
                <a:solidFill>
                  <a:srgbClr val="F5ECD7"/>
                </a:solidFill>
                <a:latin typeface="Calibri" pitchFamily="34" charset="0"/>
                <a:ea typeface="Calibri" pitchFamily="34" charset="-122"/>
                <a:cs typeface="Calibri" pitchFamily="34" charset="-120"/>
              </a:rPr>
              <a:t>Registro de devoluciones y actualización automática de estado</a:t>
            </a:r>
            <a:endParaRPr lang="en-US" sz="900" dirty="0"/>
          </a:p>
        </p:txBody>
      </p:sp>
      <p:sp>
        <p:nvSpPr>
          <p:cNvPr id="23" name="Shape 21"/>
          <p:cNvSpPr/>
          <p:nvPr/>
        </p:nvSpPr>
        <p:spPr>
          <a:xfrm>
            <a:off x="4005072" y="3566160"/>
            <a:ext cx="320040" cy="201168"/>
          </a:xfrm>
          <a:prstGeom prst="roundRect">
            <a:avLst>
              <a:gd name="adj" fmla="val 22727"/>
            </a:avLst>
          </a:prstGeom>
          <a:solidFill>
            <a:srgbClr val="0D2A1A"/>
          </a:solidFill>
          <a:ln/>
        </p:spPr>
      </p:sp>
      <p:sp>
        <p:nvSpPr>
          <p:cNvPr id="24" name="Text 22"/>
          <p:cNvSpPr/>
          <p:nvPr/>
        </p:nvSpPr>
        <p:spPr>
          <a:xfrm>
            <a:off x="4005072" y="3575304"/>
            <a:ext cx="320040" cy="164592"/>
          </a:xfrm>
          <a:prstGeom prst="rect">
            <a:avLst/>
          </a:prstGeom>
          <a:noFill/>
          <a:ln/>
        </p:spPr>
        <p:txBody>
          <a:bodyPr wrap="square" lIns="0" tIns="0" rIns="0" bIns="0" rtlCol="0" anchor="ctr"/>
          <a:lstStyle/>
          <a:p>
            <a:pPr algn="ctr" indent="0" marL="0">
              <a:buNone/>
            </a:pPr>
            <a:r>
              <a:rPr lang="en-US" sz="800" dirty="0">
                <a:solidFill>
                  <a:srgbClr val="2EC4B6"/>
                </a:solidFill>
                <a:latin typeface="Calibri" pitchFamily="34" charset="0"/>
                <a:ea typeface="Calibri" pitchFamily="34" charset="-122"/>
                <a:cs typeface="Calibri" pitchFamily="34" charset="-120"/>
              </a:rPr>
              <a:t>●</a:t>
            </a:r>
            <a:endParaRPr lang="en-US" sz="800" dirty="0"/>
          </a:p>
        </p:txBody>
      </p:sp>
      <p:sp>
        <p:nvSpPr>
          <p:cNvPr id="25" name="Shape 23"/>
          <p:cNvSpPr/>
          <p:nvPr/>
        </p:nvSpPr>
        <p:spPr>
          <a:xfrm>
            <a:off x="411480" y="4069080"/>
            <a:ext cx="3977640" cy="530352"/>
          </a:xfrm>
          <a:prstGeom prst="roundRect">
            <a:avLst>
              <a:gd name="adj" fmla="val 13793"/>
            </a:avLst>
          </a:prstGeom>
          <a:solidFill>
            <a:srgbClr val="1E2235"/>
          </a:solidFill>
          <a:ln/>
          <a:effectLst>
            <a:outerShdw sx="100000" sy="100000" kx="0" ky="0" algn="bl" rotWithShape="0" blurRad="152400" dist="50800" dir="2700000">
              <a:srgbClr val="000000">
                <a:alpha val="35000"/>
              </a:srgbClr>
            </a:outerShdw>
          </a:effectLst>
        </p:spPr>
      </p:sp>
      <p:sp>
        <p:nvSpPr>
          <p:cNvPr id="26" name="Text 24"/>
          <p:cNvSpPr/>
          <p:nvPr/>
        </p:nvSpPr>
        <p:spPr>
          <a:xfrm>
            <a:off x="530352" y="4133088"/>
            <a:ext cx="640080" cy="219456"/>
          </a:xfrm>
          <a:prstGeom prst="rect">
            <a:avLst/>
          </a:prstGeom>
          <a:noFill/>
          <a:ln/>
        </p:spPr>
        <p:txBody>
          <a:bodyPr wrap="square" lIns="0" tIns="0" rIns="0" bIns="0" rtlCol="0" anchor="ctr"/>
          <a:lstStyle/>
          <a:p>
            <a:pPr indent="0" marL="0">
              <a:buNone/>
            </a:pPr>
            <a:r>
              <a:rPr lang="en-US" sz="900" b="1" dirty="0">
                <a:solidFill>
                  <a:srgbClr val="2EC4B6"/>
                </a:solidFill>
                <a:latin typeface="Calibri" pitchFamily="34" charset="0"/>
                <a:ea typeface="Calibri" pitchFamily="34" charset="-122"/>
                <a:cs typeface="Calibri" pitchFamily="34" charset="-120"/>
              </a:rPr>
              <a:t>RF-05</a:t>
            </a:r>
            <a:endParaRPr lang="en-US" sz="900" dirty="0"/>
          </a:p>
        </p:txBody>
      </p:sp>
      <p:sp>
        <p:nvSpPr>
          <p:cNvPr id="27" name="Text 25"/>
          <p:cNvSpPr/>
          <p:nvPr/>
        </p:nvSpPr>
        <p:spPr>
          <a:xfrm>
            <a:off x="1207008" y="4133088"/>
            <a:ext cx="2651760" cy="219456"/>
          </a:xfrm>
          <a:prstGeom prst="rect">
            <a:avLst/>
          </a:prstGeom>
          <a:noFill/>
          <a:ln/>
        </p:spPr>
        <p:txBody>
          <a:bodyPr wrap="square" lIns="0" tIns="0" rIns="0" bIns="0" rtlCol="0" anchor="ctr"/>
          <a:lstStyle/>
          <a:p>
            <a:pPr indent="0" marL="0">
              <a:buNone/>
            </a:pPr>
            <a:r>
              <a:rPr lang="en-US" sz="900" dirty="0">
                <a:solidFill>
                  <a:srgbClr val="F5ECD7"/>
                </a:solidFill>
                <a:latin typeface="Calibri" pitchFamily="34" charset="0"/>
                <a:ea typeface="Calibri" pitchFamily="34" charset="-122"/>
                <a:cs typeface="Calibri" pitchFamily="34" charset="-120"/>
              </a:rPr>
              <a:t>Gestión del inventario de libros (CRUD)</a:t>
            </a:r>
            <a:endParaRPr lang="en-US" sz="900" dirty="0"/>
          </a:p>
        </p:txBody>
      </p:sp>
      <p:sp>
        <p:nvSpPr>
          <p:cNvPr id="28" name="Shape 26"/>
          <p:cNvSpPr/>
          <p:nvPr/>
        </p:nvSpPr>
        <p:spPr>
          <a:xfrm>
            <a:off x="4005072" y="4187952"/>
            <a:ext cx="320040" cy="201168"/>
          </a:xfrm>
          <a:prstGeom prst="roundRect">
            <a:avLst>
              <a:gd name="adj" fmla="val 22727"/>
            </a:avLst>
          </a:prstGeom>
          <a:solidFill>
            <a:srgbClr val="0D2A1A"/>
          </a:solidFill>
          <a:ln/>
        </p:spPr>
      </p:sp>
      <p:sp>
        <p:nvSpPr>
          <p:cNvPr id="29" name="Text 27"/>
          <p:cNvSpPr/>
          <p:nvPr/>
        </p:nvSpPr>
        <p:spPr>
          <a:xfrm>
            <a:off x="4005072" y="4197096"/>
            <a:ext cx="320040" cy="164592"/>
          </a:xfrm>
          <a:prstGeom prst="rect">
            <a:avLst/>
          </a:prstGeom>
          <a:noFill/>
          <a:ln/>
        </p:spPr>
        <p:txBody>
          <a:bodyPr wrap="square" lIns="0" tIns="0" rIns="0" bIns="0" rtlCol="0" anchor="ctr"/>
          <a:lstStyle/>
          <a:p>
            <a:pPr algn="ctr" indent="0" marL="0">
              <a:buNone/>
            </a:pPr>
            <a:r>
              <a:rPr lang="en-US" sz="800" dirty="0">
                <a:solidFill>
                  <a:srgbClr val="2EC4B6"/>
                </a:solidFill>
                <a:latin typeface="Calibri" pitchFamily="34" charset="0"/>
                <a:ea typeface="Calibri" pitchFamily="34" charset="-122"/>
                <a:cs typeface="Calibri" pitchFamily="34" charset="-120"/>
              </a:rPr>
              <a:t>●</a:t>
            </a:r>
            <a:endParaRPr lang="en-US" sz="800" dirty="0"/>
          </a:p>
        </p:txBody>
      </p:sp>
      <p:sp>
        <p:nvSpPr>
          <p:cNvPr id="30" name="Text 28"/>
          <p:cNvSpPr/>
          <p:nvPr/>
        </p:nvSpPr>
        <p:spPr>
          <a:xfrm>
            <a:off x="4754880" y="1188720"/>
            <a:ext cx="3931920" cy="320040"/>
          </a:xfrm>
          <a:prstGeom prst="rect">
            <a:avLst/>
          </a:prstGeom>
          <a:noFill/>
          <a:ln/>
        </p:spPr>
        <p:txBody>
          <a:bodyPr wrap="square" lIns="0" tIns="0" rIns="0" bIns="0" rtlCol="0" anchor="ctr"/>
          <a:lstStyle/>
          <a:p>
            <a:pPr indent="0" marL="0">
              <a:buNone/>
            </a:pPr>
            <a:r>
              <a:rPr lang="en-US" sz="1300" b="1" dirty="0">
                <a:solidFill>
                  <a:srgbClr val="C9A96E"/>
                </a:solidFill>
                <a:latin typeface="Calibri" pitchFamily="34" charset="0"/>
                <a:ea typeface="Calibri" pitchFamily="34" charset="-122"/>
                <a:cs typeface="Calibri" pitchFamily="34" charset="-120"/>
              </a:rPr>
              <a:t>Requerimientos No Funcionales</a:t>
            </a:r>
            <a:endParaRPr lang="en-US" sz="1300" dirty="0"/>
          </a:p>
        </p:txBody>
      </p:sp>
      <p:sp>
        <p:nvSpPr>
          <p:cNvPr id="31" name="Shape 29"/>
          <p:cNvSpPr/>
          <p:nvPr/>
        </p:nvSpPr>
        <p:spPr>
          <a:xfrm>
            <a:off x="4754880" y="1581912"/>
            <a:ext cx="3931920" cy="530352"/>
          </a:xfrm>
          <a:prstGeom prst="roundRect">
            <a:avLst>
              <a:gd name="adj" fmla="val 13793"/>
            </a:avLst>
          </a:prstGeom>
          <a:solidFill>
            <a:srgbClr val="1E2235"/>
          </a:solidFill>
          <a:ln/>
          <a:effectLst>
            <a:outerShdw sx="100000" sy="100000" kx="0" ky="0" algn="bl" rotWithShape="0" blurRad="152400" dist="50800" dir="2700000">
              <a:srgbClr val="000000">
                <a:alpha val="35000"/>
              </a:srgbClr>
            </a:outerShdw>
          </a:effectLst>
        </p:spPr>
      </p:sp>
      <p:sp>
        <p:nvSpPr>
          <p:cNvPr id="32" name="Text 30"/>
          <p:cNvSpPr/>
          <p:nvPr/>
        </p:nvSpPr>
        <p:spPr>
          <a:xfrm>
            <a:off x="4873752" y="1645920"/>
            <a:ext cx="822960" cy="219456"/>
          </a:xfrm>
          <a:prstGeom prst="rect">
            <a:avLst/>
          </a:prstGeom>
          <a:noFill/>
          <a:ln/>
        </p:spPr>
        <p:txBody>
          <a:bodyPr wrap="square" lIns="0" tIns="0" rIns="0" bIns="0" rtlCol="0" anchor="ctr"/>
          <a:lstStyle/>
          <a:p>
            <a:pPr indent="0" marL="0">
              <a:buNone/>
            </a:pPr>
            <a:r>
              <a:rPr lang="en-US" sz="900" b="1" dirty="0">
                <a:solidFill>
                  <a:srgbClr val="C9A96E"/>
                </a:solidFill>
                <a:latin typeface="Calibri" pitchFamily="34" charset="0"/>
                <a:ea typeface="Calibri" pitchFamily="34" charset="-122"/>
                <a:cs typeface="Calibri" pitchFamily="34" charset="-120"/>
              </a:rPr>
              <a:t>RNF-01</a:t>
            </a:r>
            <a:endParaRPr lang="en-US" sz="900" dirty="0"/>
          </a:p>
        </p:txBody>
      </p:sp>
      <p:sp>
        <p:nvSpPr>
          <p:cNvPr id="33" name="Text 31"/>
          <p:cNvSpPr/>
          <p:nvPr/>
        </p:nvSpPr>
        <p:spPr>
          <a:xfrm>
            <a:off x="5742432" y="1645920"/>
            <a:ext cx="2743200" cy="384048"/>
          </a:xfrm>
          <a:prstGeom prst="rect">
            <a:avLst/>
          </a:prstGeom>
          <a:noFill/>
          <a:ln/>
        </p:spPr>
        <p:txBody>
          <a:bodyPr wrap="square" lIns="0" tIns="0" rIns="0" bIns="0" rtlCol="0" anchor="ctr"/>
          <a:lstStyle/>
          <a:p>
            <a:pPr indent="0" marL="0">
              <a:buNone/>
            </a:pPr>
            <a:r>
              <a:rPr lang="en-US" sz="900" dirty="0">
                <a:solidFill>
                  <a:srgbClr val="F5ECD7"/>
                </a:solidFill>
                <a:latin typeface="Calibri" pitchFamily="34" charset="0"/>
                <a:ea typeface="Calibri" pitchFamily="34" charset="-122"/>
                <a:cs typeface="Calibri" pitchFamily="34" charset="-120"/>
              </a:rPr>
              <a:t>Respuesta &lt; 2s en secciones principales</a:t>
            </a:r>
            <a:endParaRPr lang="en-US" sz="900" dirty="0"/>
          </a:p>
        </p:txBody>
      </p:sp>
      <p:sp>
        <p:nvSpPr>
          <p:cNvPr id="34" name="Shape 32"/>
          <p:cNvSpPr/>
          <p:nvPr/>
        </p:nvSpPr>
        <p:spPr>
          <a:xfrm>
            <a:off x="4754880" y="2203704"/>
            <a:ext cx="3931920" cy="530352"/>
          </a:xfrm>
          <a:prstGeom prst="roundRect">
            <a:avLst>
              <a:gd name="adj" fmla="val 13793"/>
            </a:avLst>
          </a:prstGeom>
          <a:solidFill>
            <a:srgbClr val="1E2235"/>
          </a:solidFill>
          <a:ln/>
          <a:effectLst>
            <a:outerShdw sx="100000" sy="100000" kx="0" ky="0" algn="bl" rotWithShape="0" blurRad="152400" dist="50800" dir="2700000">
              <a:srgbClr val="000000">
                <a:alpha val="35000"/>
              </a:srgbClr>
            </a:outerShdw>
          </a:effectLst>
        </p:spPr>
      </p:sp>
      <p:sp>
        <p:nvSpPr>
          <p:cNvPr id="35" name="Text 33"/>
          <p:cNvSpPr/>
          <p:nvPr/>
        </p:nvSpPr>
        <p:spPr>
          <a:xfrm>
            <a:off x="4873752" y="2267712"/>
            <a:ext cx="822960" cy="219456"/>
          </a:xfrm>
          <a:prstGeom prst="rect">
            <a:avLst/>
          </a:prstGeom>
          <a:noFill/>
          <a:ln/>
        </p:spPr>
        <p:txBody>
          <a:bodyPr wrap="square" lIns="0" tIns="0" rIns="0" bIns="0" rtlCol="0" anchor="ctr"/>
          <a:lstStyle/>
          <a:p>
            <a:pPr indent="0" marL="0">
              <a:buNone/>
            </a:pPr>
            <a:r>
              <a:rPr lang="en-US" sz="900" b="1" dirty="0">
                <a:solidFill>
                  <a:srgbClr val="C9A96E"/>
                </a:solidFill>
                <a:latin typeface="Calibri" pitchFamily="34" charset="0"/>
                <a:ea typeface="Calibri" pitchFamily="34" charset="-122"/>
                <a:cs typeface="Calibri" pitchFamily="34" charset="-120"/>
              </a:rPr>
              <a:t>RNF-02</a:t>
            </a:r>
            <a:endParaRPr lang="en-US" sz="900" dirty="0"/>
          </a:p>
        </p:txBody>
      </p:sp>
      <p:sp>
        <p:nvSpPr>
          <p:cNvPr id="36" name="Text 34"/>
          <p:cNvSpPr/>
          <p:nvPr/>
        </p:nvSpPr>
        <p:spPr>
          <a:xfrm>
            <a:off x="5742432" y="2267712"/>
            <a:ext cx="2743200" cy="384048"/>
          </a:xfrm>
          <a:prstGeom prst="rect">
            <a:avLst/>
          </a:prstGeom>
          <a:noFill/>
          <a:ln/>
        </p:spPr>
        <p:txBody>
          <a:bodyPr wrap="square" lIns="0" tIns="0" rIns="0" bIns="0" rtlCol="0" anchor="ctr"/>
          <a:lstStyle/>
          <a:p>
            <a:pPr indent="0" marL="0">
              <a:buNone/>
            </a:pPr>
            <a:r>
              <a:rPr lang="en-US" sz="900" dirty="0">
                <a:solidFill>
                  <a:srgbClr val="F5ECD7"/>
                </a:solidFill>
                <a:latin typeface="Calibri" pitchFamily="34" charset="0"/>
                <a:ea typeface="Calibri" pitchFamily="34" charset="-122"/>
                <a:cs typeface="Calibri" pitchFamily="34" charset="-120"/>
              </a:rPr>
              <a:t>Comunicación cifrada + autenticación segura</a:t>
            </a:r>
            <a:endParaRPr lang="en-US" sz="900" dirty="0"/>
          </a:p>
        </p:txBody>
      </p:sp>
      <p:sp>
        <p:nvSpPr>
          <p:cNvPr id="37" name="Shape 35"/>
          <p:cNvSpPr/>
          <p:nvPr/>
        </p:nvSpPr>
        <p:spPr>
          <a:xfrm>
            <a:off x="4754880" y="2825496"/>
            <a:ext cx="3931920" cy="530352"/>
          </a:xfrm>
          <a:prstGeom prst="roundRect">
            <a:avLst>
              <a:gd name="adj" fmla="val 13793"/>
            </a:avLst>
          </a:prstGeom>
          <a:solidFill>
            <a:srgbClr val="1E2235"/>
          </a:solidFill>
          <a:ln/>
          <a:effectLst>
            <a:outerShdw sx="100000" sy="100000" kx="0" ky="0" algn="bl" rotWithShape="0" blurRad="152400" dist="50800" dir="2700000">
              <a:srgbClr val="000000">
                <a:alpha val="35000"/>
              </a:srgbClr>
            </a:outerShdw>
          </a:effectLst>
        </p:spPr>
      </p:sp>
      <p:sp>
        <p:nvSpPr>
          <p:cNvPr id="38" name="Text 36"/>
          <p:cNvSpPr/>
          <p:nvPr/>
        </p:nvSpPr>
        <p:spPr>
          <a:xfrm>
            <a:off x="4873752" y="2889504"/>
            <a:ext cx="822960" cy="219456"/>
          </a:xfrm>
          <a:prstGeom prst="rect">
            <a:avLst/>
          </a:prstGeom>
          <a:noFill/>
          <a:ln/>
        </p:spPr>
        <p:txBody>
          <a:bodyPr wrap="square" lIns="0" tIns="0" rIns="0" bIns="0" rtlCol="0" anchor="ctr"/>
          <a:lstStyle/>
          <a:p>
            <a:pPr indent="0" marL="0">
              <a:buNone/>
            </a:pPr>
            <a:r>
              <a:rPr lang="en-US" sz="900" b="1" dirty="0">
                <a:solidFill>
                  <a:srgbClr val="C9A96E"/>
                </a:solidFill>
                <a:latin typeface="Calibri" pitchFamily="34" charset="0"/>
                <a:ea typeface="Calibri" pitchFamily="34" charset="-122"/>
                <a:cs typeface="Calibri" pitchFamily="34" charset="-120"/>
              </a:rPr>
              <a:t>RNF-03</a:t>
            </a:r>
            <a:endParaRPr lang="en-US" sz="900" dirty="0"/>
          </a:p>
        </p:txBody>
      </p:sp>
      <p:sp>
        <p:nvSpPr>
          <p:cNvPr id="39" name="Text 37"/>
          <p:cNvSpPr/>
          <p:nvPr/>
        </p:nvSpPr>
        <p:spPr>
          <a:xfrm>
            <a:off x="5742432" y="2889504"/>
            <a:ext cx="2743200" cy="384048"/>
          </a:xfrm>
          <a:prstGeom prst="rect">
            <a:avLst/>
          </a:prstGeom>
          <a:noFill/>
          <a:ln/>
        </p:spPr>
        <p:txBody>
          <a:bodyPr wrap="square" lIns="0" tIns="0" rIns="0" bIns="0" rtlCol="0" anchor="ctr"/>
          <a:lstStyle/>
          <a:p>
            <a:pPr indent="0" marL="0">
              <a:buNone/>
            </a:pPr>
            <a:r>
              <a:rPr lang="en-US" sz="900" dirty="0">
                <a:solidFill>
                  <a:srgbClr val="F5ECD7"/>
                </a:solidFill>
                <a:latin typeface="Calibri" pitchFamily="34" charset="0"/>
                <a:ea typeface="Calibri" pitchFamily="34" charset="-122"/>
                <a:cs typeface="Calibri" pitchFamily="34" charset="-120"/>
              </a:rPr>
              <a:t>Interfaz intuitiva para todos los niveles</a:t>
            </a:r>
            <a:endParaRPr lang="en-US" sz="900" dirty="0"/>
          </a:p>
        </p:txBody>
      </p:sp>
      <p:sp>
        <p:nvSpPr>
          <p:cNvPr id="40" name="Shape 38"/>
          <p:cNvSpPr/>
          <p:nvPr/>
        </p:nvSpPr>
        <p:spPr>
          <a:xfrm>
            <a:off x="4754880" y="3447288"/>
            <a:ext cx="3931920" cy="530352"/>
          </a:xfrm>
          <a:prstGeom prst="roundRect">
            <a:avLst>
              <a:gd name="adj" fmla="val 13793"/>
            </a:avLst>
          </a:prstGeom>
          <a:solidFill>
            <a:srgbClr val="1E2235"/>
          </a:solidFill>
          <a:ln/>
          <a:effectLst>
            <a:outerShdw sx="100000" sy="100000" kx="0" ky="0" algn="bl" rotWithShape="0" blurRad="152400" dist="50800" dir="2700000">
              <a:srgbClr val="000000">
                <a:alpha val="35000"/>
              </a:srgbClr>
            </a:outerShdw>
          </a:effectLst>
        </p:spPr>
      </p:sp>
      <p:sp>
        <p:nvSpPr>
          <p:cNvPr id="41" name="Text 39"/>
          <p:cNvSpPr/>
          <p:nvPr/>
        </p:nvSpPr>
        <p:spPr>
          <a:xfrm>
            <a:off x="4873752" y="3511296"/>
            <a:ext cx="822960" cy="219456"/>
          </a:xfrm>
          <a:prstGeom prst="rect">
            <a:avLst/>
          </a:prstGeom>
          <a:noFill/>
          <a:ln/>
        </p:spPr>
        <p:txBody>
          <a:bodyPr wrap="square" lIns="0" tIns="0" rIns="0" bIns="0" rtlCol="0" anchor="ctr"/>
          <a:lstStyle/>
          <a:p>
            <a:pPr indent="0" marL="0">
              <a:buNone/>
            </a:pPr>
            <a:r>
              <a:rPr lang="en-US" sz="900" b="1" dirty="0">
                <a:solidFill>
                  <a:srgbClr val="C9A96E"/>
                </a:solidFill>
                <a:latin typeface="Calibri" pitchFamily="34" charset="0"/>
                <a:ea typeface="Calibri" pitchFamily="34" charset="-122"/>
                <a:cs typeface="Calibri" pitchFamily="34" charset="-120"/>
              </a:rPr>
              <a:t>RNF-04</a:t>
            </a:r>
            <a:endParaRPr lang="en-US" sz="900" dirty="0"/>
          </a:p>
        </p:txBody>
      </p:sp>
      <p:sp>
        <p:nvSpPr>
          <p:cNvPr id="42" name="Text 40"/>
          <p:cNvSpPr/>
          <p:nvPr/>
        </p:nvSpPr>
        <p:spPr>
          <a:xfrm>
            <a:off x="5742432" y="3511296"/>
            <a:ext cx="2743200" cy="384048"/>
          </a:xfrm>
          <a:prstGeom prst="rect">
            <a:avLst/>
          </a:prstGeom>
          <a:noFill/>
          <a:ln/>
        </p:spPr>
        <p:txBody>
          <a:bodyPr wrap="square" lIns="0" tIns="0" rIns="0" bIns="0" rtlCol="0" anchor="ctr"/>
          <a:lstStyle/>
          <a:p>
            <a:pPr indent="0" marL="0">
              <a:buNone/>
            </a:pPr>
            <a:r>
              <a:rPr lang="en-US" sz="900" dirty="0">
                <a:solidFill>
                  <a:srgbClr val="F5ECD7"/>
                </a:solidFill>
                <a:latin typeface="Calibri" pitchFamily="34" charset="0"/>
                <a:ea typeface="Calibri" pitchFamily="34" charset="-122"/>
                <a:cs typeface="Calibri" pitchFamily="34" charset="-120"/>
              </a:rPr>
              <a:t>Compatible con navegadores principales</a:t>
            </a:r>
            <a:endParaRPr lang="en-US" sz="900" dirty="0"/>
          </a:p>
        </p:txBody>
      </p:sp>
      <p:sp>
        <p:nvSpPr>
          <p:cNvPr id="43" name="Shape 41"/>
          <p:cNvSpPr/>
          <p:nvPr/>
        </p:nvSpPr>
        <p:spPr>
          <a:xfrm>
            <a:off x="4754880" y="4069080"/>
            <a:ext cx="3931920" cy="530352"/>
          </a:xfrm>
          <a:prstGeom prst="roundRect">
            <a:avLst>
              <a:gd name="adj" fmla="val 13793"/>
            </a:avLst>
          </a:prstGeom>
          <a:solidFill>
            <a:srgbClr val="1E2235"/>
          </a:solidFill>
          <a:ln/>
          <a:effectLst>
            <a:outerShdw sx="100000" sy="100000" kx="0" ky="0" algn="bl" rotWithShape="0" blurRad="152400" dist="50800" dir="2700000">
              <a:srgbClr val="000000">
                <a:alpha val="35000"/>
              </a:srgbClr>
            </a:outerShdw>
          </a:effectLst>
        </p:spPr>
      </p:sp>
      <p:sp>
        <p:nvSpPr>
          <p:cNvPr id="44" name="Text 42"/>
          <p:cNvSpPr/>
          <p:nvPr/>
        </p:nvSpPr>
        <p:spPr>
          <a:xfrm>
            <a:off x="4873752" y="4133088"/>
            <a:ext cx="822960" cy="219456"/>
          </a:xfrm>
          <a:prstGeom prst="rect">
            <a:avLst/>
          </a:prstGeom>
          <a:noFill/>
          <a:ln/>
        </p:spPr>
        <p:txBody>
          <a:bodyPr wrap="square" lIns="0" tIns="0" rIns="0" bIns="0" rtlCol="0" anchor="ctr"/>
          <a:lstStyle/>
          <a:p>
            <a:pPr indent="0" marL="0">
              <a:buNone/>
            </a:pPr>
            <a:r>
              <a:rPr lang="en-US" sz="900" b="1" dirty="0">
                <a:solidFill>
                  <a:srgbClr val="C9A96E"/>
                </a:solidFill>
                <a:latin typeface="Calibri" pitchFamily="34" charset="0"/>
                <a:ea typeface="Calibri" pitchFamily="34" charset="-122"/>
                <a:cs typeface="Calibri" pitchFamily="34" charset="-120"/>
              </a:rPr>
              <a:t>RNF-05</a:t>
            </a:r>
            <a:endParaRPr lang="en-US" sz="900" dirty="0"/>
          </a:p>
        </p:txBody>
      </p:sp>
      <p:sp>
        <p:nvSpPr>
          <p:cNvPr id="45" name="Text 43"/>
          <p:cNvSpPr/>
          <p:nvPr/>
        </p:nvSpPr>
        <p:spPr>
          <a:xfrm>
            <a:off x="5742432" y="4133088"/>
            <a:ext cx="2743200" cy="384048"/>
          </a:xfrm>
          <a:prstGeom prst="rect">
            <a:avLst/>
          </a:prstGeom>
          <a:noFill/>
          <a:ln/>
        </p:spPr>
        <p:txBody>
          <a:bodyPr wrap="square" lIns="0" tIns="0" rIns="0" bIns="0" rtlCol="0" anchor="ctr"/>
          <a:lstStyle/>
          <a:p>
            <a:pPr indent="0" marL="0">
              <a:buNone/>
            </a:pPr>
            <a:r>
              <a:rPr lang="en-US" sz="900" dirty="0">
                <a:solidFill>
                  <a:srgbClr val="F5ECD7"/>
                </a:solidFill>
                <a:latin typeface="Calibri" pitchFamily="34" charset="0"/>
                <a:ea typeface="Calibri" pitchFamily="34" charset="-122"/>
                <a:cs typeface="Calibri" pitchFamily="34" charset="-120"/>
              </a:rPr>
              <a:t>Copias de seguridad periódicas</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1D2E"/>
        </a:solidFill>
      </p:bgPr>
    </p:bg>
    <p:spTree>
      <p:nvGrpSpPr>
        <p:cNvPr id="1" name=""/>
        <p:cNvGrpSpPr/>
        <p:nvPr/>
      </p:nvGrpSpPr>
      <p:grpSpPr>
        <a:xfrm>
          <a:off x="0" y="0"/>
          <a:ext cx="0" cy="0"/>
          <a:chOff x="0" y="0"/>
          <a:chExt cx="0" cy="0"/>
        </a:xfrm>
      </p:grpSpPr>
      <p:sp>
        <p:nvSpPr>
          <p:cNvPr id="2" name="Text 0"/>
          <p:cNvSpPr/>
          <p:nvPr/>
        </p:nvSpPr>
        <p:spPr>
          <a:xfrm>
            <a:off x="457200" y="256032"/>
            <a:ext cx="8229600" cy="292608"/>
          </a:xfrm>
          <a:prstGeom prst="rect">
            <a:avLst/>
          </a:prstGeom>
          <a:noFill/>
          <a:ln/>
        </p:spPr>
        <p:txBody>
          <a:bodyPr wrap="square" lIns="0" tIns="0" rIns="0" bIns="0" rtlCol="0" anchor="ctr"/>
          <a:lstStyle/>
          <a:p>
            <a:pPr indent="0" marL="0">
              <a:buNone/>
            </a:pPr>
            <a:r>
              <a:rPr lang="en-US" sz="1000" spc="400" kern="0" dirty="0">
                <a:solidFill>
                  <a:srgbClr val="2EC4B6"/>
                </a:solidFill>
                <a:latin typeface="Calibri" pitchFamily="34" charset="0"/>
                <a:ea typeface="Calibri" pitchFamily="34" charset="-122"/>
                <a:cs typeface="Calibri" pitchFamily="34" charset="-120"/>
              </a:rPr>
              <a:t>CRONOGRAMA</a:t>
            </a:r>
            <a:endParaRPr lang="en-US" sz="1000" dirty="0"/>
          </a:p>
        </p:txBody>
      </p:sp>
      <p:sp>
        <p:nvSpPr>
          <p:cNvPr id="3" name="Text 1"/>
          <p:cNvSpPr/>
          <p:nvPr/>
        </p:nvSpPr>
        <p:spPr>
          <a:xfrm>
            <a:off x="457200" y="530352"/>
            <a:ext cx="8229600" cy="530352"/>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10 semanas, 4 fases, 1 objetivo</a:t>
            </a:r>
            <a:endParaRPr lang="en-US" sz="2200" dirty="0"/>
          </a:p>
        </p:txBody>
      </p:sp>
      <p:sp>
        <p:nvSpPr>
          <p:cNvPr id="4" name="Shape 2"/>
          <p:cNvSpPr/>
          <p:nvPr/>
        </p:nvSpPr>
        <p:spPr>
          <a:xfrm>
            <a:off x="822960" y="2578608"/>
            <a:ext cx="7498080" cy="0"/>
          </a:xfrm>
          <a:prstGeom prst="line">
            <a:avLst/>
          </a:prstGeom>
          <a:noFill/>
          <a:ln w="31750">
            <a:solidFill>
              <a:srgbClr val="C9A96E"/>
            </a:solidFill>
            <a:prstDash val="solid"/>
          </a:ln>
        </p:spPr>
      </p:sp>
      <p:sp>
        <p:nvSpPr>
          <p:cNvPr id="5" name="Shape 3"/>
          <p:cNvSpPr/>
          <p:nvPr/>
        </p:nvSpPr>
        <p:spPr>
          <a:xfrm>
            <a:off x="1280160" y="2377440"/>
            <a:ext cx="411480" cy="411480"/>
          </a:xfrm>
          <a:prstGeom prst="ellipse">
            <a:avLst/>
          </a:prstGeom>
          <a:solidFill>
            <a:srgbClr val="C9A96E"/>
          </a:solidFill>
          <a:ln w="25400">
            <a:solidFill>
              <a:srgbClr val="0F1117"/>
            </a:solidFill>
            <a:prstDash val="solid"/>
          </a:ln>
        </p:spPr>
      </p:sp>
      <p:sp>
        <p:nvSpPr>
          <p:cNvPr id="6" name="Shape 4"/>
          <p:cNvSpPr/>
          <p:nvPr/>
        </p:nvSpPr>
        <p:spPr>
          <a:xfrm>
            <a:off x="548640" y="1005840"/>
            <a:ext cx="2011680" cy="1188720"/>
          </a:xfrm>
          <a:prstGeom prst="roundRect">
            <a:avLst>
              <a:gd name="adj" fmla="val 9231"/>
            </a:avLst>
          </a:prstGeom>
          <a:solidFill>
            <a:srgbClr val="1E2235"/>
          </a:solidFill>
          <a:ln/>
          <a:effectLst>
            <a:outerShdw sx="100000" sy="100000" kx="0" ky="0" algn="bl" rotWithShape="0" blurRad="152400" dist="50800" dir="2700000">
              <a:srgbClr val="000000">
                <a:alpha val="35000"/>
              </a:srgbClr>
            </a:outerShdw>
          </a:effectLst>
        </p:spPr>
      </p:sp>
      <p:pic>
        <p:nvPicPr>
          <p:cNvPr id="7" name="Image 0" descr="preencoded.png">    </p:cNvPr>
          <p:cNvPicPr>
            <a:picLocks noChangeAspect="1"/>
          </p:cNvPicPr>
          <p:nvPr/>
        </p:nvPicPr>
        <p:blipFill>
          <a:blip r:embed="rId1"/>
          <a:stretch>
            <a:fillRect/>
          </a:stretch>
        </p:blipFill>
        <p:spPr>
          <a:xfrm>
            <a:off x="640080" y="1097280"/>
            <a:ext cx="347472" cy="347472"/>
          </a:xfrm>
          <a:prstGeom prst="rect">
            <a:avLst/>
          </a:prstGeom>
        </p:spPr>
      </p:pic>
      <p:sp>
        <p:nvSpPr>
          <p:cNvPr id="8" name="Text 5"/>
          <p:cNvSpPr/>
          <p:nvPr/>
        </p:nvSpPr>
        <p:spPr>
          <a:xfrm>
            <a:off x="1051560" y="1097280"/>
            <a:ext cx="1417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Análisis</a:t>
            </a:r>
            <a:endParaRPr lang="en-US" sz="1100" dirty="0"/>
          </a:p>
        </p:txBody>
      </p:sp>
      <p:sp>
        <p:nvSpPr>
          <p:cNvPr id="9" name="Text 6"/>
          <p:cNvSpPr/>
          <p:nvPr/>
        </p:nvSpPr>
        <p:spPr>
          <a:xfrm>
            <a:off x="1051560" y="1389888"/>
            <a:ext cx="1417320" cy="201168"/>
          </a:xfrm>
          <a:prstGeom prst="rect">
            <a:avLst/>
          </a:prstGeom>
          <a:noFill/>
          <a:ln/>
        </p:spPr>
        <p:txBody>
          <a:bodyPr wrap="square" lIns="0" tIns="0" rIns="0" bIns="0" rtlCol="0" anchor="ctr"/>
          <a:lstStyle/>
          <a:p>
            <a:pPr indent="0" marL="0">
              <a:buNone/>
            </a:pPr>
            <a:r>
              <a:rPr lang="en-US" sz="900" dirty="0">
                <a:solidFill>
                  <a:srgbClr val="C9A96E"/>
                </a:solidFill>
                <a:latin typeface="Calibri" pitchFamily="34" charset="0"/>
                <a:ea typeface="Calibri" pitchFamily="34" charset="-122"/>
                <a:cs typeface="Calibri" pitchFamily="34" charset="-120"/>
              </a:rPr>
              <a:t>1 semana</a:t>
            </a:r>
            <a:endParaRPr lang="en-US" sz="900" dirty="0"/>
          </a:p>
        </p:txBody>
      </p:sp>
      <p:sp>
        <p:nvSpPr>
          <p:cNvPr id="10" name="Text 7"/>
          <p:cNvSpPr/>
          <p:nvPr/>
        </p:nvSpPr>
        <p:spPr>
          <a:xfrm>
            <a:off x="640080" y="1645920"/>
            <a:ext cx="1828800"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21/04 – 26/04</a:t>
            </a:r>
            <a:endParaRPr lang="en-US" sz="800" dirty="0"/>
          </a:p>
        </p:txBody>
      </p:sp>
      <p:sp>
        <p:nvSpPr>
          <p:cNvPr id="11" name="Shape 8"/>
          <p:cNvSpPr/>
          <p:nvPr/>
        </p:nvSpPr>
        <p:spPr>
          <a:xfrm>
            <a:off x="3429000" y="2377440"/>
            <a:ext cx="411480" cy="411480"/>
          </a:xfrm>
          <a:prstGeom prst="ellipse">
            <a:avLst/>
          </a:prstGeom>
          <a:solidFill>
            <a:srgbClr val="C9A96E"/>
          </a:solidFill>
          <a:ln w="25400">
            <a:solidFill>
              <a:srgbClr val="0F1117"/>
            </a:solidFill>
            <a:prstDash val="solid"/>
          </a:ln>
        </p:spPr>
      </p:sp>
      <p:sp>
        <p:nvSpPr>
          <p:cNvPr id="12" name="Shape 9"/>
          <p:cNvSpPr/>
          <p:nvPr/>
        </p:nvSpPr>
        <p:spPr>
          <a:xfrm>
            <a:off x="2697480" y="3200400"/>
            <a:ext cx="2011680" cy="1554480"/>
          </a:xfrm>
          <a:prstGeom prst="roundRect">
            <a:avLst>
              <a:gd name="adj" fmla="val 7059"/>
            </a:avLst>
          </a:prstGeom>
          <a:solidFill>
            <a:srgbClr val="1E2235"/>
          </a:solidFill>
          <a:ln/>
          <a:effectLst>
            <a:outerShdw sx="100000" sy="100000" kx="0" ky="0" algn="bl" rotWithShape="0" blurRad="152400" dist="50800" dir="2700000">
              <a:srgbClr val="000000">
                <a:alpha val="35000"/>
              </a:srgbClr>
            </a:outerShdw>
          </a:effectLst>
        </p:spPr>
      </p:sp>
      <p:pic>
        <p:nvPicPr>
          <p:cNvPr id="13" name="Image 1" descr="preencoded.png">    </p:cNvPr>
          <p:cNvPicPr>
            <a:picLocks noChangeAspect="1"/>
          </p:cNvPicPr>
          <p:nvPr/>
        </p:nvPicPr>
        <p:blipFill>
          <a:blip r:embed="rId2"/>
          <a:stretch>
            <a:fillRect/>
          </a:stretch>
        </p:blipFill>
        <p:spPr>
          <a:xfrm>
            <a:off x="2788920" y="3291840"/>
            <a:ext cx="347472" cy="347472"/>
          </a:xfrm>
          <a:prstGeom prst="rect">
            <a:avLst/>
          </a:prstGeom>
        </p:spPr>
      </p:pic>
      <p:sp>
        <p:nvSpPr>
          <p:cNvPr id="14" name="Text 10"/>
          <p:cNvSpPr/>
          <p:nvPr/>
        </p:nvSpPr>
        <p:spPr>
          <a:xfrm>
            <a:off x="3200400" y="3291840"/>
            <a:ext cx="1417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Diseño</a:t>
            </a:r>
            <a:endParaRPr lang="en-US" sz="1100" dirty="0"/>
          </a:p>
        </p:txBody>
      </p:sp>
      <p:sp>
        <p:nvSpPr>
          <p:cNvPr id="15" name="Text 11"/>
          <p:cNvSpPr/>
          <p:nvPr/>
        </p:nvSpPr>
        <p:spPr>
          <a:xfrm>
            <a:off x="3200400" y="3584448"/>
            <a:ext cx="1417320" cy="201168"/>
          </a:xfrm>
          <a:prstGeom prst="rect">
            <a:avLst/>
          </a:prstGeom>
          <a:noFill/>
          <a:ln/>
        </p:spPr>
        <p:txBody>
          <a:bodyPr wrap="square" lIns="0" tIns="0" rIns="0" bIns="0" rtlCol="0" anchor="ctr"/>
          <a:lstStyle/>
          <a:p>
            <a:pPr indent="0" marL="0">
              <a:buNone/>
            </a:pPr>
            <a:r>
              <a:rPr lang="en-US" sz="900" dirty="0">
                <a:solidFill>
                  <a:srgbClr val="C9A96E"/>
                </a:solidFill>
                <a:latin typeface="Calibri" pitchFamily="34" charset="0"/>
                <a:ea typeface="Calibri" pitchFamily="34" charset="-122"/>
                <a:cs typeface="Calibri" pitchFamily="34" charset="-120"/>
              </a:rPr>
              <a:t>2 semanas</a:t>
            </a:r>
            <a:endParaRPr lang="en-US" sz="900" dirty="0"/>
          </a:p>
        </p:txBody>
      </p:sp>
      <p:sp>
        <p:nvSpPr>
          <p:cNvPr id="16" name="Text 12"/>
          <p:cNvSpPr/>
          <p:nvPr/>
        </p:nvSpPr>
        <p:spPr>
          <a:xfrm>
            <a:off x="2788920" y="3840480"/>
            <a:ext cx="1828800"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27/04 – 10/05</a:t>
            </a:r>
            <a:endParaRPr lang="en-US" sz="800" dirty="0"/>
          </a:p>
        </p:txBody>
      </p:sp>
      <p:sp>
        <p:nvSpPr>
          <p:cNvPr id="17" name="Text 13"/>
          <p:cNvSpPr/>
          <p:nvPr/>
        </p:nvSpPr>
        <p:spPr>
          <a:xfrm>
            <a:off x="2788920" y="4133088"/>
            <a:ext cx="1828800" cy="502920"/>
          </a:xfrm>
          <a:prstGeom prst="rect">
            <a:avLst/>
          </a:prstGeom>
          <a:noFill/>
          <a:ln/>
        </p:spPr>
        <p:txBody>
          <a:bodyPr wrap="square" lIns="0" tIns="0" rIns="0" bIns="0" rtlCol="0" anchor="ctr"/>
          <a:lstStyle/>
          <a:p>
            <a:pPr indent="0" marL="0">
              <a:buNone/>
            </a:pPr>
            <a:r>
              <a:rPr lang="en-US" sz="800" i="1" dirty="0">
                <a:solidFill>
                  <a:srgbClr val="8A8FA8"/>
                </a:solidFill>
                <a:latin typeface="Calibri" pitchFamily="34" charset="0"/>
                <a:ea typeface="Calibri" pitchFamily="34" charset="-122"/>
                <a:cs typeface="Calibri" pitchFamily="34" charset="-120"/>
              </a:rPr>
              <a:t>Prototipo de interfaz, Mockups</a:t>
            </a:r>
            <a:endParaRPr lang="en-US" sz="800" dirty="0"/>
          </a:p>
        </p:txBody>
      </p:sp>
      <p:sp>
        <p:nvSpPr>
          <p:cNvPr id="18" name="Shape 14"/>
          <p:cNvSpPr/>
          <p:nvPr/>
        </p:nvSpPr>
        <p:spPr>
          <a:xfrm>
            <a:off x="5577840" y="2377440"/>
            <a:ext cx="411480" cy="411480"/>
          </a:xfrm>
          <a:prstGeom prst="ellipse">
            <a:avLst/>
          </a:prstGeom>
          <a:solidFill>
            <a:srgbClr val="C9A96E"/>
          </a:solidFill>
          <a:ln w="25400">
            <a:solidFill>
              <a:srgbClr val="0F1117"/>
            </a:solidFill>
            <a:prstDash val="solid"/>
          </a:ln>
        </p:spPr>
      </p:sp>
      <p:sp>
        <p:nvSpPr>
          <p:cNvPr id="19" name="Shape 15"/>
          <p:cNvSpPr/>
          <p:nvPr/>
        </p:nvSpPr>
        <p:spPr>
          <a:xfrm>
            <a:off x="4846320" y="1005840"/>
            <a:ext cx="2011680" cy="1188720"/>
          </a:xfrm>
          <a:prstGeom prst="roundRect">
            <a:avLst>
              <a:gd name="adj" fmla="val 9231"/>
            </a:avLst>
          </a:prstGeom>
          <a:solidFill>
            <a:srgbClr val="1E2235"/>
          </a:solidFill>
          <a:ln/>
          <a:effectLst>
            <a:outerShdw sx="100000" sy="100000" kx="0" ky="0" algn="bl" rotWithShape="0" blurRad="152400" dist="50800" dir="2700000">
              <a:srgbClr val="000000">
                <a:alpha val="35000"/>
              </a:srgbClr>
            </a:outerShdw>
          </a:effectLst>
        </p:spPr>
      </p:sp>
      <p:pic>
        <p:nvPicPr>
          <p:cNvPr id="20" name="Image 2" descr="preencoded.png">    </p:cNvPr>
          <p:cNvPicPr>
            <a:picLocks noChangeAspect="1"/>
          </p:cNvPicPr>
          <p:nvPr/>
        </p:nvPicPr>
        <p:blipFill>
          <a:blip r:embed="rId3"/>
          <a:stretch>
            <a:fillRect/>
          </a:stretch>
        </p:blipFill>
        <p:spPr>
          <a:xfrm>
            <a:off x="4937760" y="1097280"/>
            <a:ext cx="347472" cy="347472"/>
          </a:xfrm>
          <a:prstGeom prst="rect">
            <a:avLst/>
          </a:prstGeom>
        </p:spPr>
      </p:pic>
      <p:sp>
        <p:nvSpPr>
          <p:cNvPr id="21" name="Text 16"/>
          <p:cNvSpPr/>
          <p:nvPr/>
        </p:nvSpPr>
        <p:spPr>
          <a:xfrm>
            <a:off x="5349240" y="1097280"/>
            <a:ext cx="1417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Desarrollo</a:t>
            </a:r>
            <a:endParaRPr lang="en-US" sz="1100" dirty="0"/>
          </a:p>
        </p:txBody>
      </p:sp>
      <p:sp>
        <p:nvSpPr>
          <p:cNvPr id="22" name="Text 17"/>
          <p:cNvSpPr/>
          <p:nvPr/>
        </p:nvSpPr>
        <p:spPr>
          <a:xfrm>
            <a:off x="5349240" y="1389888"/>
            <a:ext cx="1417320" cy="201168"/>
          </a:xfrm>
          <a:prstGeom prst="rect">
            <a:avLst/>
          </a:prstGeom>
          <a:noFill/>
          <a:ln/>
        </p:spPr>
        <p:txBody>
          <a:bodyPr wrap="square" lIns="0" tIns="0" rIns="0" bIns="0" rtlCol="0" anchor="ctr"/>
          <a:lstStyle/>
          <a:p>
            <a:pPr indent="0" marL="0">
              <a:buNone/>
            </a:pPr>
            <a:r>
              <a:rPr lang="en-US" sz="900" dirty="0">
                <a:solidFill>
                  <a:srgbClr val="C9A96E"/>
                </a:solidFill>
                <a:latin typeface="Calibri" pitchFamily="34" charset="0"/>
                <a:ea typeface="Calibri" pitchFamily="34" charset="-122"/>
                <a:cs typeface="Calibri" pitchFamily="34" charset="-120"/>
              </a:rPr>
              <a:t>3 semanas</a:t>
            </a:r>
            <a:endParaRPr lang="en-US" sz="900" dirty="0"/>
          </a:p>
        </p:txBody>
      </p:sp>
      <p:sp>
        <p:nvSpPr>
          <p:cNvPr id="23" name="Text 18"/>
          <p:cNvSpPr/>
          <p:nvPr/>
        </p:nvSpPr>
        <p:spPr>
          <a:xfrm>
            <a:off x="4937760" y="1645920"/>
            <a:ext cx="1828800"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11/05 – 31/05</a:t>
            </a:r>
            <a:endParaRPr lang="en-US" sz="800" dirty="0"/>
          </a:p>
        </p:txBody>
      </p:sp>
      <p:sp>
        <p:nvSpPr>
          <p:cNvPr id="24" name="Shape 19"/>
          <p:cNvSpPr/>
          <p:nvPr/>
        </p:nvSpPr>
        <p:spPr>
          <a:xfrm>
            <a:off x="7726680" y="2377440"/>
            <a:ext cx="411480" cy="411480"/>
          </a:xfrm>
          <a:prstGeom prst="ellipse">
            <a:avLst/>
          </a:prstGeom>
          <a:solidFill>
            <a:srgbClr val="C9A96E"/>
          </a:solidFill>
          <a:ln w="25400">
            <a:solidFill>
              <a:srgbClr val="0F1117"/>
            </a:solidFill>
            <a:prstDash val="solid"/>
          </a:ln>
        </p:spPr>
      </p:sp>
      <p:sp>
        <p:nvSpPr>
          <p:cNvPr id="25" name="Shape 20"/>
          <p:cNvSpPr/>
          <p:nvPr/>
        </p:nvSpPr>
        <p:spPr>
          <a:xfrm>
            <a:off x="6995160" y="3200400"/>
            <a:ext cx="2011680" cy="1554480"/>
          </a:xfrm>
          <a:prstGeom prst="roundRect">
            <a:avLst>
              <a:gd name="adj" fmla="val 7059"/>
            </a:avLst>
          </a:prstGeom>
          <a:solidFill>
            <a:srgbClr val="1E2235"/>
          </a:solidFill>
          <a:ln/>
          <a:effectLst>
            <a:outerShdw sx="100000" sy="100000" kx="0" ky="0" algn="bl" rotWithShape="0" blurRad="152400" dist="50800" dir="2700000">
              <a:srgbClr val="000000">
                <a:alpha val="35000"/>
              </a:srgbClr>
            </a:outerShdw>
          </a:effectLst>
        </p:spPr>
      </p:sp>
      <p:pic>
        <p:nvPicPr>
          <p:cNvPr id="26" name="Image 3" descr="preencoded.png">    </p:cNvPr>
          <p:cNvPicPr>
            <a:picLocks noChangeAspect="1"/>
          </p:cNvPicPr>
          <p:nvPr/>
        </p:nvPicPr>
        <p:blipFill>
          <a:blip r:embed="rId4"/>
          <a:stretch>
            <a:fillRect/>
          </a:stretch>
        </p:blipFill>
        <p:spPr>
          <a:xfrm>
            <a:off x="7086600" y="3291840"/>
            <a:ext cx="347472" cy="347472"/>
          </a:xfrm>
          <a:prstGeom prst="rect">
            <a:avLst/>
          </a:prstGeom>
        </p:spPr>
      </p:pic>
      <p:sp>
        <p:nvSpPr>
          <p:cNvPr id="27" name="Text 21"/>
          <p:cNvSpPr/>
          <p:nvPr/>
        </p:nvSpPr>
        <p:spPr>
          <a:xfrm>
            <a:off x="7498080" y="3291840"/>
            <a:ext cx="14173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Pruebas &amp; Cierre</a:t>
            </a:r>
            <a:endParaRPr lang="en-US" sz="1100" dirty="0"/>
          </a:p>
        </p:txBody>
      </p:sp>
      <p:sp>
        <p:nvSpPr>
          <p:cNvPr id="28" name="Text 22"/>
          <p:cNvSpPr/>
          <p:nvPr/>
        </p:nvSpPr>
        <p:spPr>
          <a:xfrm>
            <a:off x="7498080" y="3584448"/>
            <a:ext cx="1417320" cy="201168"/>
          </a:xfrm>
          <a:prstGeom prst="rect">
            <a:avLst/>
          </a:prstGeom>
          <a:noFill/>
          <a:ln/>
        </p:spPr>
        <p:txBody>
          <a:bodyPr wrap="square" lIns="0" tIns="0" rIns="0" bIns="0" rtlCol="0" anchor="ctr"/>
          <a:lstStyle/>
          <a:p>
            <a:pPr indent="0" marL="0">
              <a:buNone/>
            </a:pPr>
            <a:r>
              <a:rPr lang="en-US" sz="900" dirty="0">
                <a:solidFill>
                  <a:srgbClr val="C9A96E"/>
                </a:solidFill>
                <a:latin typeface="Calibri" pitchFamily="34" charset="0"/>
                <a:ea typeface="Calibri" pitchFamily="34" charset="-122"/>
                <a:cs typeface="Calibri" pitchFamily="34" charset="-120"/>
              </a:rPr>
              <a:t>2 sem.</a:t>
            </a:r>
            <a:endParaRPr lang="en-US" sz="900" dirty="0"/>
          </a:p>
        </p:txBody>
      </p:sp>
      <p:sp>
        <p:nvSpPr>
          <p:cNvPr id="29" name="Text 23"/>
          <p:cNvSpPr/>
          <p:nvPr/>
        </p:nvSpPr>
        <p:spPr>
          <a:xfrm>
            <a:off x="7086600" y="3840480"/>
            <a:ext cx="1828800" cy="201168"/>
          </a:xfrm>
          <a:prstGeom prst="rect">
            <a:avLst/>
          </a:prstGeom>
          <a:noFill/>
          <a:ln/>
        </p:spPr>
        <p:txBody>
          <a:bodyPr wrap="square" lIns="0" tIns="0" rIns="0" bIns="0" rtlCol="0" anchor="ctr"/>
          <a:lstStyle/>
          <a:p>
            <a:pPr indent="0" marL="0">
              <a:buNone/>
            </a:pPr>
            <a:r>
              <a:rPr lang="en-US" sz="800" dirty="0">
                <a:solidFill>
                  <a:srgbClr val="8A8FA8"/>
                </a:solidFill>
                <a:latin typeface="Calibri" pitchFamily="34" charset="0"/>
                <a:ea typeface="Calibri" pitchFamily="34" charset="-122"/>
                <a:cs typeface="Calibri" pitchFamily="34" charset="-120"/>
              </a:rPr>
              <a:t>01/06 – 14/06</a:t>
            </a:r>
            <a:endParaRPr lang="en-US" sz="800" dirty="0"/>
          </a:p>
        </p:txBody>
      </p:sp>
      <p:sp>
        <p:nvSpPr>
          <p:cNvPr id="30" name="Text 24"/>
          <p:cNvSpPr/>
          <p:nvPr/>
        </p:nvSpPr>
        <p:spPr>
          <a:xfrm>
            <a:off x="7086600" y="4133088"/>
            <a:ext cx="1828800" cy="502920"/>
          </a:xfrm>
          <a:prstGeom prst="rect">
            <a:avLst/>
          </a:prstGeom>
          <a:noFill/>
          <a:ln/>
        </p:spPr>
        <p:txBody>
          <a:bodyPr wrap="square" lIns="0" tIns="0" rIns="0" bIns="0" rtlCol="0" anchor="ctr"/>
          <a:lstStyle/>
          <a:p>
            <a:pPr indent="0" marL="0">
              <a:buNone/>
            </a:pPr>
            <a:r>
              <a:rPr lang="en-US" sz="800" i="1" dirty="0">
                <a:solidFill>
                  <a:srgbClr val="8A8FA8"/>
                </a:solidFill>
                <a:latin typeface="Calibri" pitchFamily="34" charset="0"/>
                <a:ea typeface="Calibri" pitchFamily="34" charset="-122"/>
                <a:cs typeface="Calibri" pitchFamily="34" charset="-120"/>
              </a:rPr>
              <a:t>Manuales, Documentación final</a:t>
            </a:r>
            <a:endParaRPr lang="en-US" sz="800" dirty="0"/>
          </a:p>
        </p:txBody>
      </p:sp>
      <p:sp>
        <p:nvSpPr>
          <p:cNvPr id="31" name="Text 25"/>
          <p:cNvSpPr/>
          <p:nvPr/>
        </p:nvSpPr>
        <p:spPr>
          <a:xfrm>
            <a:off x="457200" y="4681728"/>
            <a:ext cx="8229600" cy="320040"/>
          </a:xfrm>
          <a:prstGeom prst="rect">
            <a:avLst/>
          </a:prstGeom>
          <a:noFill/>
          <a:ln/>
        </p:spPr>
        <p:txBody>
          <a:bodyPr wrap="square" lIns="0" tIns="0" rIns="0" bIns="0" rtlCol="0" anchor="ctr"/>
          <a:lstStyle/>
          <a:p>
            <a:pPr algn="ctr" indent="0" marL="0">
              <a:buNone/>
            </a:pPr>
            <a:r>
              <a:rPr lang="en-US" sz="1100" dirty="0">
                <a:solidFill>
                  <a:srgbClr val="8A8FA8"/>
                </a:solidFill>
                <a:latin typeface="Calibri" pitchFamily="34" charset="0"/>
                <a:ea typeface="Calibri" pitchFamily="34" charset="-122"/>
                <a:cs typeface="Calibri" pitchFamily="34" charset="-120"/>
              </a:rPr>
              <a:t>Total: 10 semanas  ·  25 horas  ·  4 entregables principales</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117"/>
        </a:solidFill>
      </p:bgPr>
    </p:bg>
    <p:spTree>
      <p:nvGrpSpPr>
        <p:cNvPr id="1" name=""/>
        <p:cNvGrpSpPr/>
        <p:nvPr/>
      </p:nvGrpSpPr>
      <p:grpSpPr>
        <a:xfrm>
          <a:off x="0" y="0"/>
          <a:ext cx="0" cy="0"/>
          <a:chOff x="0" y="0"/>
          <a:chExt cx="0" cy="0"/>
        </a:xfrm>
      </p:grpSpPr>
      <p:sp>
        <p:nvSpPr>
          <p:cNvPr id="2" name="Shape 0"/>
          <p:cNvSpPr/>
          <p:nvPr/>
        </p:nvSpPr>
        <p:spPr>
          <a:xfrm>
            <a:off x="5943600" y="-1097280"/>
            <a:ext cx="5486400" cy="5486400"/>
          </a:xfrm>
          <a:prstGeom prst="ellipse">
            <a:avLst/>
          </a:prstGeom>
          <a:solidFill>
            <a:srgbClr val="C9A96E">
              <a:alpha val="10000"/>
            </a:srgbClr>
          </a:solidFill>
          <a:ln/>
        </p:spPr>
      </p:sp>
      <p:sp>
        <p:nvSpPr>
          <p:cNvPr id="3" name="Shape 1"/>
          <p:cNvSpPr/>
          <p:nvPr/>
        </p:nvSpPr>
        <p:spPr>
          <a:xfrm>
            <a:off x="-1828800" y="914400"/>
            <a:ext cx="4114800" cy="4114800"/>
          </a:xfrm>
          <a:prstGeom prst="ellipse">
            <a:avLst/>
          </a:prstGeom>
          <a:solidFill>
            <a:srgbClr val="2EC4B6">
              <a:alpha val="8000"/>
            </a:srgbClr>
          </a:solidFill>
          <a:ln/>
        </p:spPr>
      </p:sp>
      <p:pic>
        <p:nvPicPr>
          <p:cNvPr id="4" name="Image 0" descr="preencoded.png">    </p:cNvPr>
          <p:cNvPicPr>
            <a:picLocks noChangeAspect="1"/>
          </p:cNvPicPr>
          <p:nvPr/>
        </p:nvPicPr>
        <p:blipFill>
          <a:blip r:embed="rId1"/>
          <a:stretch>
            <a:fillRect/>
          </a:stretch>
        </p:blipFill>
        <p:spPr>
          <a:xfrm>
            <a:off x="3931920" y="457200"/>
            <a:ext cx="1280160" cy="1280160"/>
          </a:xfrm>
          <a:prstGeom prst="rect">
            <a:avLst/>
          </a:prstGeom>
        </p:spPr>
      </p:pic>
      <p:sp>
        <p:nvSpPr>
          <p:cNvPr id="5" name="Text 2"/>
          <p:cNvSpPr/>
          <p:nvPr/>
        </p:nvSpPr>
        <p:spPr>
          <a:xfrm>
            <a:off x="457200" y="1828800"/>
            <a:ext cx="8229600" cy="1005840"/>
          </a:xfrm>
          <a:prstGeom prst="rect">
            <a:avLst/>
          </a:prstGeom>
          <a:noFill/>
          <a:ln/>
        </p:spPr>
        <p:txBody>
          <a:bodyPr wrap="square" lIns="0" tIns="0" rIns="0" bIns="0" rtlCol="0" anchor="ctr"/>
          <a:lstStyle/>
          <a:p>
            <a:pPr algn="ctr" indent="0" marL="0">
              <a:buNone/>
            </a:pPr>
            <a:r>
              <a:rPr lang="en-US" sz="5800" b="1" spc="1000" kern="0" dirty="0">
                <a:solidFill>
                  <a:srgbClr val="C9A96E"/>
                </a:solidFill>
                <a:latin typeface="Cambria" pitchFamily="34" charset="0"/>
                <a:ea typeface="Cambria" pitchFamily="34" charset="-122"/>
                <a:cs typeface="Cambria" pitchFamily="34" charset="-120"/>
              </a:rPr>
              <a:t>BOOKER</a:t>
            </a:r>
            <a:endParaRPr lang="en-US" sz="5800" dirty="0"/>
          </a:p>
        </p:txBody>
      </p:sp>
      <p:sp>
        <p:nvSpPr>
          <p:cNvPr id="6" name="Text 3"/>
          <p:cNvSpPr/>
          <p:nvPr/>
        </p:nvSpPr>
        <p:spPr>
          <a:xfrm>
            <a:off x="457200" y="2788920"/>
            <a:ext cx="8229600" cy="457200"/>
          </a:xfrm>
          <a:prstGeom prst="rect">
            <a:avLst/>
          </a:prstGeom>
          <a:noFill/>
          <a:ln/>
        </p:spPr>
        <p:txBody>
          <a:bodyPr wrap="square" lIns="0" tIns="0" rIns="0" bIns="0" rtlCol="0" anchor="ctr"/>
          <a:lstStyle/>
          <a:p>
            <a:pPr algn="ctr" indent="0" marL="0">
              <a:buNone/>
            </a:pPr>
            <a:r>
              <a:rPr lang="en-US" sz="1600" i="1" dirty="0">
                <a:solidFill>
                  <a:srgbClr val="F5ECD7"/>
                </a:solidFill>
                <a:latin typeface="Calibri" pitchFamily="34" charset="0"/>
                <a:ea typeface="Calibri" pitchFamily="34" charset="-122"/>
                <a:cs typeface="Calibri" pitchFamily="34" charset="-120"/>
              </a:rPr>
              <a:t>De la desorganización al control total.</a:t>
            </a:r>
            <a:endParaRPr lang="en-US" sz="1600" dirty="0"/>
          </a:p>
        </p:txBody>
      </p:sp>
      <p:sp>
        <p:nvSpPr>
          <p:cNvPr id="7" name="Shape 4"/>
          <p:cNvSpPr/>
          <p:nvPr/>
        </p:nvSpPr>
        <p:spPr>
          <a:xfrm>
            <a:off x="2560320" y="3383280"/>
            <a:ext cx="4023360" cy="594360"/>
          </a:xfrm>
          <a:prstGeom prst="roundRect">
            <a:avLst>
              <a:gd name="adj" fmla="val 49231"/>
            </a:avLst>
          </a:prstGeom>
          <a:solidFill>
            <a:srgbClr val="C9A96E"/>
          </a:solidFill>
          <a:ln/>
          <a:effectLst>
            <a:outerShdw sx="100000" sy="100000" kx="0" ky="0" algn="bl" rotWithShape="0" blurRad="152400" dist="50800" dir="2700000">
              <a:srgbClr val="000000">
                <a:alpha val="35000"/>
              </a:srgbClr>
            </a:outerShdw>
          </a:effectLst>
        </p:spPr>
      </p:sp>
      <p:sp>
        <p:nvSpPr>
          <p:cNvPr id="8" name="Text 5"/>
          <p:cNvSpPr/>
          <p:nvPr/>
        </p:nvSpPr>
        <p:spPr>
          <a:xfrm>
            <a:off x="2560320" y="3401568"/>
            <a:ext cx="4023360" cy="548640"/>
          </a:xfrm>
          <a:prstGeom prst="rect">
            <a:avLst/>
          </a:prstGeom>
          <a:noFill/>
          <a:ln/>
        </p:spPr>
        <p:txBody>
          <a:bodyPr wrap="square" lIns="0" tIns="0" rIns="0" bIns="0" rtlCol="0" anchor="ctr"/>
          <a:lstStyle/>
          <a:p>
            <a:pPr algn="ctr" indent="0" marL="0">
              <a:buNone/>
            </a:pPr>
            <a:r>
              <a:rPr lang="en-US" sz="1800" b="1" dirty="0">
                <a:solidFill>
                  <a:srgbClr val="0F1117"/>
                </a:solidFill>
                <a:latin typeface="Cambria" pitchFamily="34" charset="0"/>
                <a:ea typeface="Cambria" pitchFamily="34" charset="-122"/>
                <a:cs typeface="Cambria" pitchFamily="34" charset="-120"/>
              </a:rPr>
              <a:t>¿Preguntas?</a:t>
            </a:r>
            <a:endParaRPr lang="en-US" sz="1800" dirty="0"/>
          </a:p>
        </p:txBody>
      </p:sp>
      <p:sp>
        <p:nvSpPr>
          <p:cNvPr id="9" name="Text 6"/>
          <p:cNvSpPr/>
          <p:nvPr/>
        </p:nvSpPr>
        <p:spPr>
          <a:xfrm>
            <a:off x="457200" y="4480560"/>
            <a:ext cx="8229600" cy="320040"/>
          </a:xfrm>
          <a:prstGeom prst="rect">
            <a:avLst/>
          </a:prstGeom>
          <a:noFill/>
          <a:ln/>
        </p:spPr>
        <p:txBody>
          <a:bodyPr wrap="square" lIns="0" tIns="0" rIns="0" bIns="0" rtlCol="0" anchor="ctr"/>
          <a:lstStyle/>
          <a:p>
            <a:pPr algn="ctr" indent="0" marL="0">
              <a:buNone/>
            </a:pPr>
            <a:r>
              <a:rPr lang="en-US" sz="1000" dirty="0">
                <a:solidFill>
                  <a:srgbClr val="8A8FA8"/>
                </a:solidFill>
                <a:latin typeface="Calibri" pitchFamily="34" charset="0"/>
                <a:ea typeface="Calibri" pitchFamily="34" charset="-122"/>
                <a:cs typeface="Calibri" pitchFamily="34" charset="-120"/>
              </a:rPr>
              <a:t>SENA · ADSO 3412760  ·  Bruno Parra Quintero, Instructor  ·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BOOKER — Biblioteca Web</dc:title>
  <dc:subject>PptxGenJS Presentation</dc:subject>
  <dc:creator>PptxGenJS</dc:creator>
  <cp:lastModifiedBy>PptxGenJS</cp:lastModifiedBy>
  <cp:revision>1</cp:revision>
  <dcterms:created xsi:type="dcterms:W3CDTF">2026-06-22T11:31:11Z</dcterms:created>
  <dcterms:modified xsi:type="dcterms:W3CDTF">2026-06-22T11:31:11Z</dcterms:modified>
</cp:coreProperties>
</file>